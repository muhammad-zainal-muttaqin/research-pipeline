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70b213e9744577" /><Relationship Type="http://schemas.openxmlformats.org/officeDocument/2006/relationships/extended-properties" Target="/docProps/app.xml" Id="R196d594f23634779" /><Relationship Type="http://schemas.openxmlformats.org/officeDocument/2006/relationships/officeDocument" Target="/ppt/presentation.xml" Id="Rb62bde80fece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b8d845f8004231"/>
  </p:sldMasterIdLst>
  <p:notesMasterIdLst>
    <p:notesMasterId xmlns:r="http://schemas.openxmlformats.org/officeDocument/2006/relationships" r:id="R30cd8ebb56b04a2d"/>
  </p:notesMasterIdLst>
  <p:sldIdLst>
    <p:sldId xmlns:r="http://schemas.openxmlformats.org/officeDocument/2006/relationships" id="256" r:id="R606a2db116384e84"/>
    <p:sldId xmlns:r="http://schemas.openxmlformats.org/officeDocument/2006/relationships" id="257" r:id="Rda19532919e24899"/>
    <p:sldId xmlns:r="http://schemas.openxmlformats.org/officeDocument/2006/relationships" id="258" r:id="Rb3a0d3634a1e467a"/>
    <p:sldId xmlns:r="http://schemas.openxmlformats.org/officeDocument/2006/relationships" id="259" r:id="Rec4cd17481fd4304"/>
    <p:sldId xmlns:r="http://schemas.openxmlformats.org/officeDocument/2006/relationships" id="260" r:id="Rc536cea68a1b4273"/>
    <p:sldId xmlns:r="http://schemas.openxmlformats.org/officeDocument/2006/relationships" id="261" r:id="R838e80c7d8e44ff8"/>
    <p:sldId xmlns:r="http://schemas.openxmlformats.org/officeDocument/2006/relationships" id="262" r:id="Re689f81f59d54fb6"/>
    <p:sldId xmlns:r="http://schemas.openxmlformats.org/officeDocument/2006/relationships" id="263" r:id="Rb7c7418acb7e4cb6"/>
    <p:sldId xmlns:r="http://schemas.openxmlformats.org/officeDocument/2006/relationships" id="264" r:id="Rd807ec0e1eff46a0"/>
    <p:sldId xmlns:r="http://schemas.openxmlformats.org/officeDocument/2006/relationships" id="265" r:id="R4721e98837864ec6"/>
    <p:sldId xmlns:r="http://schemas.openxmlformats.org/officeDocument/2006/relationships" id="266" r:id="Rd95d8e58df9d4405"/>
    <p:sldId xmlns:r="http://schemas.openxmlformats.org/officeDocument/2006/relationships" id="267" r:id="R00e2abb8205f4dd1"/>
    <p:sldId xmlns:r="http://schemas.openxmlformats.org/officeDocument/2006/relationships" id="268" r:id="Rc44ccf41af3b4c27"/>
    <p:sldId xmlns:r="http://schemas.openxmlformats.org/officeDocument/2006/relationships" id="269" r:id="Rb917f83577d344e6"/>
    <p:sldId xmlns:r="http://schemas.openxmlformats.org/officeDocument/2006/relationships" id="270" r:id="R87c7949342b54270"/>
    <p:sldId xmlns:r="http://schemas.openxmlformats.org/officeDocument/2006/relationships" id="271" r:id="R1500559dfd504c32"/>
    <p:sldId xmlns:r="http://schemas.openxmlformats.org/officeDocument/2006/relationships" id="272" r:id="Rd9c69ff465e04a2f"/>
    <p:sldId xmlns:r="http://schemas.openxmlformats.org/officeDocument/2006/relationships" id="273" r:id="R0391e3b2b8c44932"/>
    <p:sldId xmlns:r="http://schemas.openxmlformats.org/officeDocument/2006/relationships" id="274" r:id="Rb76f36fdb5064633"/>
    <p:sldId xmlns:r="http://schemas.openxmlformats.org/officeDocument/2006/relationships" id="275" r:id="Re1ce2154ba5e4c2b"/>
    <p:sldId xmlns:r="http://schemas.openxmlformats.org/officeDocument/2006/relationships" id="276" r:id="R888b9bfefd0c4927"/>
    <p:sldId xmlns:r="http://schemas.openxmlformats.org/officeDocument/2006/relationships" id="277" r:id="R168d3d16e33944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613ef342974942" /><Relationship Type="http://schemas.openxmlformats.org/officeDocument/2006/relationships/slideMaster" Target="/ppt/slideMasters/slideMaster1.xml" Id="R99b8d845f8004231" /><Relationship Type="http://schemas.openxmlformats.org/officeDocument/2006/relationships/notesMaster" Target="/ppt/notesMasters/notesMaster1.xml" Id="R30cd8ebb56b04a2d" /><Relationship Type="http://schemas.openxmlformats.org/officeDocument/2006/relationships/presProps" Target="/ppt/presProps.xml" Id="R2da83f939e3e4038" /><Relationship Type="http://schemas.openxmlformats.org/officeDocument/2006/relationships/tableStyles" Target="/ppt/tableStyles.xml" Id="R0ccc39c1bec140e1" /><Relationship Type="http://schemas.openxmlformats.org/officeDocument/2006/relationships/slide" Target="/ppt/slides/slide1.xml" Id="R606a2db116384e84" /><Relationship Type="http://schemas.openxmlformats.org/officeDocument/2006/relationships/slide" Target="/ppt/slides/slide2.xml" Id="Rda19532919e24899" /><Relationship Type="http://schemas.openxmlformats.org/officeDocument/2006/relationships/slide" Target="/ppt/slides/slide3.xml" Id="Rb3a0d3634a1e467a" /><Relationship Type="http://schemas.openxmlformats.org/officeDocument/2006/relationships/slide" Target="/ppt/slides/slide4.xml" Id="Rec4cd17481fd4304" /><Relationship Type="http://schemas.openxmlformats.org/officeDocument/2006/relationships/slide" Target="/ppt/slides/slide5.xml" Id="Rc536cea68a1b4273" /><Relationship Type="http://schemas.openxmlformats.org/officeDocument/2006/relationships/slide" Target="/ppt/slides/slide6.xml" Id="R838e80c7d8e44ff8" /><Relationship Type="http://schemas.openxmlformats.org/officeDocument/2006/relationships/slide" Target="/ppt/slides/slide7.xml" Id="Re689f81f59d54fb6" /><Relationship Type="http://schemas.openxmlformats.org/officeDocument/2006/relationships/slide" Target="/ppt/slides/slide8.xml" Id="Rb7c7418acb7e4cb6" /><Relationship Type="http://schemas.openxmlformats.org/officeDocument/2006/relationships/slide" Target="/ppt/slides/slide9.xml" Id="Rd807ec0e1eff46a0" /><Relationship Type="http://schemas.openxmlformats.org/officeDocument/2006/relationships/slide" Target="/ppt/slides/slide10.xml" Id="R4721e98837864ec6" /><Relationship Type="http://schemas.openxmlformats.org/officeDocument/2006/relationships/slide" Target="/ppt/slides/slide11.xml" Id="Rd95d8e58df9d4405" /><Relationship Type="http://schemas.openxmlformats.org/officeDocument/2006/relationships/slide" Target="/ppt/slides/slide12.xml" Id="R00e2abb8205f4dd1" /><Relationship Type="http://schemas.openxmlformats.org/officeDocument/2006/relationships/slide" Target="/ppt/slides/slide13.xml" Id="Rc44ccf41af3b4c27" /><Relationship Type="http://schemas.openxmlformats.org/officeDocument/2006/relationships/slide" Target="/ppt/slides/slide14.xml" Id="Rb917f83577d344e6" /><Relationship Type="http://schemas.openxmlformats.org/officeDocument/2006/relationships/slide" Target="/ppt/slides/slide15.xml" Id="R87c7949342b54270" /><Relationship Type="http://schemas.openxmlformats.org/officeDocument/2006/relationships/slide" Target="/ppt/slides/slide16.xml" Id="R1500559dfd504c32" /><Relationship Type="http://schemas.openxmlformats.org/officeDocument/2006/relationships/slide" Target="/ppt/slides/slide17.xml" Id="Rd9c69ff465e04a2f" /><Relationship Type="http://schemas.openxmlformats.org/officeDocument/2006/relationships/slide" Target="/ppt/slides/slide18.xml" Id="R0391e3b2b8c44932" /><Relationship Type="http://schemas.openxmlformats.org/officeDocument/2006/relationships/slide" Target="/ppt/slides/slide19.xml" Id="Rb76f36fdb5064633" /><Relationship Type="http://schemas.openxmlformats.org/officeDocument/2006/relationships/slide" Target="/ppt/slides/slide20.xml" Id="Re1ce2154ba5e4c2b" /><Relationship Type="http://schemas.openxmlformats.org/officeDocument/2006/relationships/slide" Target="/ppt/slides/slide21.xml" Id="R888b9bfefd0c4927" /><Relationship Type="http://schemas.openxmlformats.org/officeDocument/2006/relationships/slide" Target="/ppt/slides/slide22.xml" Id="R168d3d16e339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4203c4a04a47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a9a027a4554f9b" /><Relationship Type="http://schemas.openxmlformats.org/officeDocument/2006/relationships/notesMaster" Target="/ppt/notesMasters/notesMaster1.xml" Id="R1b5229e72fc044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2f891f3e8d4729" /><Relationship Type="http://schemas.openxmlformats.org/officeDocument/2006/relationships/notesMaster" Target="/ppt/notesMasters/notesMaster1.xml" Id="R9fa5e55e864c46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2186cf749a421d" /><Relationship Type="http://schemas.openxmlformats.org/officeDocument/2006/relationships/notesMaster" Target="/ppt/notesMasters/notesMaster1.xml" Id="R4a16f959cf7b4a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38764638b45ed" /><Relationship Type="http://schemas.openxmlformats.org/officeDocument/2006/relationships/notesMaster" Target="/ppt/notesMasters/notesMaster1.xml" Id="R4216987b80084b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3173701a4c487a" /><Relationship Type="http://schemas.openxmlformats.org/officeDocument/2006/relationships/notesMaster" Target="/ppt/notesMasters/notesMaster1.xml" Id="Rc0f446e243f343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dcc5a84ad0407f" /><Relationship Type="http://schemas.openxmlformats.org/officeDocument/2006/relationships/notesMaster" Target="/ppt/notesMasters/notesMaster1.xml" Id="R0409f02af70647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73d44192b84bcd" /><Relationship Type="http://schemas.openxmlformats.org/officeDocument/2006/relationships/notesMaster" Target="/ppt/notesMasters/notesMaster1.xml" Id="R95576419493f4f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aca453a4784eac" /><Relationship Type="http://schemas.openxmlformats.org/officeDocument/2006/relationships/notesMaster" Target="/ppt/notesMasters/notesMaster1.xml" Id="R293ad91287ac46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087f1a63c044b8" /><Relationship Type="http://schemas.openxmlformats.org/officeDocument/2006/relationships/notesMaster" Target="/ppt/notesMasters/notesMaster1.xml" Id="R1e4c7e7988ed4a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4178f4f373415f" /><Relationship Type="http://schemas.openxmlformats.org/officeDocument/2006/relationships/notesMaster" Target="/ppt/notesMasters/notesMaster1.xml" Id="R0b3cf4068b2742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a65c6c533244ef" /><Relationship Type="http://schemas.openxmlformats.org/officeDocument/2006/relationships/notesMaster" Target="/ppt/notesMasters/notesMaster1.xml" Id="R002c5676cc1e44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f2cd3ed94243ea" /><Relationship Type="http://schemas.openxmlformats.org/officeDocument/2006/relationships/notesMaster" Target="/ppt/notesMasters/notesMaster1.xml" Id="Re8b8d3c23e7d45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55d4871dfe4ffc" /><Relationship Type="http://schemas.openxmlformats.org/officeDocument/2006/relationships/notesMaster" Target="/ppt/notesMasters/notesMaster1.xml" Id="Rcd5e3dea0f7744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375d3dfb374fec" /><Relationship Type="http://schemas.openxmlformats.org/officeDocument/2006/relationships/notesMaster" Target="/ppt/notesMasters/notesMaster1.xml" Id="Rfd16b749789d44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7638d4c2c849c7" /><Relationship Type="http://schemas.openxmlformats.org/officeDocument/2006/relationships/notesMaster" Target="/ppt/notesMasters/notesMaster1.xml" Id="R5f775bbf2c4844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fd7e15208841b7" /><Relationship Type="http://schemas.openxmlformats.org/officeDocument/2006/relationships/notesMaster" Target="/ppt/notesMasters/notesMaster1.xml" Id="R134d4ea906d542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f58229f3cc4e67" /><Relationship Type="http://schemas.openxmlformats.org/officeDocument/2006/relationships/notesMaster" Target="/ppt/notesMasters/notesMaster1.xml" Id="R3ced0227f1d44c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45ab37d99f4f8c" /><Relationship Type="http://schemas.openxmlformats.org/officeDocument/2006/relationships/notesMaster" Target="/ppt/notesMasters/notesMaster1.xml" Id="R3fb198d5517144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53dfca404248a9" /><Relationship Type="http://schemas.openxmlformats.org/officeDocument/2006/relationships/notesMaster" Target="/ppt/notesMasters/notesMaster1.xml" Id="Ra4cfadd989bc45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cbc4e610754b1f" /><Relationship Type="http://schemas.openxmlformats.org/officeDocument/2006/relationships/notesMaster" Target="/ppt/notesMasters/notesMaster1.xml" Id="Ra85fd55e8fb24b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6633e97ad84abf" /><Relationship Type="http://schemas.openxmlformats.org/officeDocument/2006/relationships/notesMaster" Target="/ppt/notesMasters/notesMaster1.xml" Id="R2fb01a82f0774d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ae33e87fb94f88" /><Relationship Type="http://schemas.openxmlformats.org/officeDocument/2006/relationships/notesMaster" Target="/ppt/notesMasters/notesMaster1.xml" Id="Rda2958d239a440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Title and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Introduction; Figure F08.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2.2, pp. 6-7; pilot framing in Section 14, p. 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Review protocol and verified corpus; Figures corpus-year and corpus-theme.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RGB detection foundations; Figure F03.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3.3, pp. 13-16; Figure F02.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Detector comparison table in RGB detection foundations.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Monocular depth and RGB-D fusion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RGB-D fusion sections; Figure F04.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Sections 7-8, pp. 26-31.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Benchmark datasets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12, pp. 37-38; apple-inventory F1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Sections 7, 9, and 10, pp. 26-35.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14, p. 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14, pp. 47-48; Table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14, pp. 49-51; Table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13, pp. 38-40; Figure F07.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Table 3, p.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13, pp. 40-42; Figure F08.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13, pp. 40-42; Section 14, p. 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 15, pp. 51-52.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artifacts/papers/main-elsarticle.pdf, 77-page evidence-mapping review.</a:t>
            </a:r>
          </a:p>
          <a:p xmlns:a="http://schemas.openxmlformats.org/drawingml/2006/main">
            <a:r>
              <a:t>- PDF Sections 14-16, pp. 46-53.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dc03ee6d649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7a45ec95af4a2f" /><Relationship Type="http://schemas.openxmlformats.org/officeDocument/2006/relationships/slideLayout" Target="/ppt/slideLayouts/slideLayout1.xml" Id="R8a70689638da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70689638da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31493cac64ad0" /><Relationship Type="http://schemas.openxmlformats.org/officeDocument/2006/relationships/image" Target="/ppt/media/image.jpeg" Id="Re7b2b691bf364162" /><Relationship Type="http://schemas.openxmlformats.org/officeDocument/2006/relationships/notesSlide" Target="/ppt/notesSlides/notesSlide1.xml" Id="R1973b26567f741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aa76aad3143a5" /><Relationship Type="http://schemas.openxmlformats.org/officeDocument/2006/relationships/image" Target="/ppt/media/image2.jpeg" Id="R83aa91fdfdcc4d39" /><Relationship Type="http://schemas.openxmlformats.org/officeDocument/2006/relationships/notesSlide" Target="/ppt/notesSlides/notesSlide2.xml" Id="Rbcab8b7c54ac48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9513190c74aa6" /><Relationship Type="http://schemas.openxmlformats.org/officeDocument/2006/relationships/notesSlide" Target="/ppt/notesSlides/notesSlide3.xml" Id="R19e0c23739fe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d56721e1d469e" /><Relationship Type="http://schemas.openxmlformats.org/officeDocument/2006/relationships/image" Target="/ppt/media/image.png" Id="Rfccb55046b76445e" /><Relationship Type="http://schemas.openxmlformats.org/officeDocument/2006/relationships/image" Target="/ppt/media/image2.png" Id="Rb1da146538934cbb" /><Relationship Type="http://schemas.openxmlformats.org/officeDocument/2006/relationships/notesSlide" Target="/ppt/notesSlides/notesSlide4.xml" Id="R43c01d6eab37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243accecf4636" /><Relationship Type="http://schemas.openxmlformats.org/officeDocument/2006/relationships/image" Target="/ppt/media/image3.jpeg" Id="R020b47d93632434c" /><Relationship Type="http://schemas.openxmlformats.org/officeDocument/2006/relationships/notesSlide" Target="/ppt/notesSlides/notesSlide5.xml" Id="R22d30f0164c247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443dc2ca84e12" /><Relationship Type="http://schemas.openxmlformats.org/officeDocument/2006/relationships/image" Target="/ppt/media/image4.jpeg" Id="Rb694a7fab1d94cf2" /><Relationship Type="http://schemas.openxmlformats.org/officeDocument/2006/relationships/notesSlide" Target="/ppt/notesSlides/notesSlide6.xml" Id="R19b7fbf1ff4e4e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7016798fa40fa" /><Relationship Type="http://schemas.openxmlformats.org/officeDocument/2006/relationships/notesSlide" Target="/ppt/notesSlides/notesSlide7.xml" Id="R5240880102c844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8c414925e4b0d" /><Relationship Type="http://schemas.openxmlformats.org/officeDocument/2006/relationships/notesSlide" Target="/ppt/notesSlides/notesSlide8.xml" Id="Re662a0df6b1743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7f2b6bc4f42bc" /><Relationship Type="http://schemas.openxmlformats.org/officeDocument/2006/relationships/image" Target="/ppt/media/image5.jpeg" Id="R9be2de2644774fdb" /><Relationship Type="http://schemas.openxmlformats.org/officeDocument/2006/relationships/notesSlide" Target="/ppt/notesSlides/notesSlide9.xml" Id="R3ea7f59361484f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457578a443f2" /><Relationship Type="http://schemas.openxmlformats.org/officeDocument/2006/relationships/notesSlide" Target="/ppt/notesSlides/notesSlide10.xml" Id="R842392661fe649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4acf7d1824c36" /><Relationship Type="http://schemas.openxmlformats.org/officeDocument/2006/relationships/notesSlide" Target="/ppt/notesSlides/notesSlide11.xml" Id="R83d3c5a836bd4b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625bc28924f6b" /><Relationship Type="http://schemas.openxmlformats.org/officeDocument/2006/relationships/notesSlide" Target="/ppt/notesSlides/notesSlide12.xml" Id="R15498694e82741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3fb5d22574e8f" /><Relationship Type="http://schemas.openxmlformats.org/officeDocument/2006/relationships/notesSlide" Target="/ppt/notesSlides/notesSlide13.xml" Id="Rc8af2216e0cb49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6519d90d44d88" /><Relationship Type="http://schemas.openxmlformats.org/officeDocument/2006/relationships/notesSlide" Target="/ppt/notesSlides/notesSlide14.xml" Id="R3de61203b4924e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e31d8de064c38" /><Relationship Type="http://schemas.openxmlformats.org/officeDocument/2006/relationships/notesSlide" Target="/ppt/notesSlides/notesSlide15.xml" Id="Rfe00ad1e573547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bdbec57c4aef" /><Relationship Type="http://schemas.openxmlformats.org/officeDocument/2006/relationships/notesSlide" Target="/ppt/notesSlides/notesSlide16.xml" Id="R67adb471502d4e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746a3380b4015" /><Relationship Type="http://schemas.openxmlformats.org/officeDocument/2006/relationships/image" Target="/ppt/media/image6.jpeg" Id="Ra995a908c434465f" /><Relationship Type="http://schemas.openxmlformats.org/officeDocument/2006/relationships/notesSlide" Target="/ppt/notesSlides/notesSlide17.xml" Id="R95498db674764f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b181041ae487a" /><Relationship Type="http://schemas.openxmlformats.org/officeDocument/2006/relationships/notesSlide" Target="/ppt/notesSlides/notesSlide18.xml" Id="R1810e578bb6f43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3dff24c0d4fba" /><Relationship Type="http://schemas.openxmlformats.org/officeDocument/2006/relationships/image" Target="/ppt/media/image7.jpeg" Id="R59cd0dc501ff496d" /><Relationship Type="http://schemas.openxmlformats.org/officeDocument/2006/relationships/notesSlide" Target="/ppt/notesSlides/notesSlide19.xml" Id="R852b93edd3b349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df67c0b6b469e" /><Relationship Type="http://schemas.openxmlformats.org/officeDocument/2006/relationships/notesSlide" Target="/ppt/notesSlides/notesSlide20.xml" Id="R9432e6f96a2546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28dd331e54153" /><Relationship Type="http://schemas.openxmlformats.org/officeDocument/2006/relationships/notesSlide" Target="/ppt/notesSlides/notesSlide21.xml" Id="R6926e442ef2341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c7067263a4986" /><Relationship Type="http://schemas.openxmlformats.org/officeDocument/2006/relationships/image" Target="/ppt/media/image8.jpeg" Id="Raf85c5d61dd848b7" /><Relationship Type="http://schemas.openxmlformats.org/officeDocument/2006/relationships/notesSlide" Target="/ppt/notesSlides/notesSlide22.xml" Id="Rd04cdd65f2824f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67A94-D724-4E53-B6C6-62F287F3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STRUCTURED EVIDENCE-MAPPING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6FAE8-4283-427D-9697-25C67AE4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38C03-E5AF-4602-96C5-A212EA59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C88649-6093-46FE-A441-F9E0F205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762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2033"/>
                </a:solidFill>
              </a:defRPr>
            </a:pPr>
            <a:r>
              <a:rPr sz="3675" b="1">
                <a:solidFill>
                  <a:srgbClr val="112033"/>
                </a:solidFill>
              </a:rPr>
              <a:t>YOLO and RGB-D Fusion for Oil-Palm FFB Counting and Maturity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4C904-33FB-4083-AEBE-619E2772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8B5"/>
                </a:solidFill>
              </a:defRPr>
            </a:pPr>
            <a:r>
              <a:rPr sz="1800" b="1">
                <a:solidFill>
                  <a:srgbClr val="2878B5"/>
                </a:solidFill>
              </a:rPr>
              <a:t>A structured evidence-mapping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0BC83-5100-4480-BD94-C68ED91E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182 verified primary sources | 2012-2026 | English presentation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2b691bf364162"/>
          <a:stretch xmlns:a="http://schemas.openxmlformats.org/drawingml/2006/main"/>
        </p:blipFill>
        <p:spPr>
          <a:xfrm xmlns:a="http://schemas.openxmlformats.org/drawingml/2006/main">
            <a:off x="7810500" y="1932980"/>
            <a:ext cx="3524250" cy="19823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94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39181-67D2-4A4C-8610-8BF0ECF1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THE FIELD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5B4F8-11A9-4F48-B43B-8D82B05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1D235-D3CC-4172-BCB2-00A0E0A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0F2A06-7631-4D6B-8FC7-01110636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987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operational target is a sequence-level inventory, not a per-image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4B728-5CA0-4E1F-A58E-7F76A0CC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55AA9-7E9E-49D9-89CE-B4F236D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033"/>
                </a:solidFill>
              </a:defRPr>
            </a:pPr>
            <a:r>
              <a:rPr sz="1875" b="1">
                <a:solidFill>
                  <a:srgbClr val="112033"/>
                </a:solidFill>
              </a:rPr>
              <a:t>Separate crowded bunches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7AA7C-1874-455C-A3F8-ED25604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Occlusion, scale change, fronds, shadows.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B79DB-43B8-45A5-80C1-D56DBD88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3AAE9-8BA8-487C-8BA5-CF55EAF0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033"/>
                </a:solidFill>
              </a:defRPr>
            </a:pPr>
            <a:r>
              <a:rPr sz="1875" b="1">
                <a:solidFill>
                  <a:srgbClr val="112033"/>
                </a:solidFill>
              </a:rPr>
              <a:t>Attach maturity to the right instance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7610B-7CE6-4C73-BAFE-27B1EDE8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38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A correct class on the wrong bunch is still an operational error.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94943-5729-47C8-810E-D1B2274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7F1A0-3F78-4F42-A5AB-DA356B47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033"/>
                </a:solidFill>
              </a:defRPr>
            </a:pPr>
            <a:r>
              <a:rPr sz="1875" b="1">
                <a:solidFill>
                  <a:srgbClr val="112033"/>
                </a:solidFill>
              </a:rPr>
              <a:t>Prevent repeated observations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B2C67-8925-4EBA-9C05-BA683551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Moving cameras must preserve identity across views.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a91fdfdcc4d39"/>
          <a:stretch xmlns:a="http://schemas.openxmlformats.org/drawingml/2006/main"/>
        </p:blipFill>
        <p:spPr>
          <a:xfrm xmlns:a="http://schemas.openxmlformats.org/drawingml/2006/main">
            <a:off x="6591300" y="2667000"/>
            <a:ext cx="4572000" cy="228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76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C4B47-A4FB-4115-93E5-5B4FFC14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EVIDENCE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3E9DF-7019-4992-A6AA-FBC144F6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9E2C3-B28D-40B4-B5FD-2232E41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CD8980-A881-43DF-BF47-B49CD83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63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review separates what is known from what must still be tested.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575B9-5BC7-4862-8AF6-274450AD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46D57-2BFC-465F-B556-1D51998F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08D93-3324-4C32-A239-C03A881B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033"/>
                </a:solidFill>
              </a:defRPr>
            </a:pPr>
            <a:r>
              <a:rPr sz="1875" b="1">
                <a:solidFill>
                  <a:srgbClr val="112033"/>
                </a:solidFill>
              </a:rPr>
              <a:t>Direct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B3462-1C4C-4FE7-BB6E-A396C97F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7241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Agricultural or fruit studies. Relevant deployment context, but not an FFB benchmark unless FFB data are used.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15B62-0586-4EA7-86AB-CF3400AB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775B1-ADE9-4970-B400-D2C70CB2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9D814-6705-4B50-81B7-95A1F864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033"/>
                </a:solidFill>
              </a:defRPr>
            </a:pPr>
            <a:r>
              <a:rPr sz="1875" b="1">
                <a:solidFill>
                  <a:srgbClr val="112033"/>
                </a:solidFill>
              </a:rPr>
              <a:t>Transferable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2B915-41EB-4896-A098-F0C53335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27241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Mechanism evidence from vision domains such as RGB-D segmentation, 3D perception, and tracking.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20CC7-685A-4E90-B475-D2F341E0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F20C5-DCF3-446C-B510-C228A4BD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BDA21-AA81-4205-AAB9-0075899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033"/>
                </a:solidFill>
              </a:defRPr>
            </a:pPr>
            <a:r>
              <a:rPr sz="1875" b="1">
                <a:solidFill>
                  <a:srgbClr val="112033"/>
                </a:solidFill>
              </a:rPr>
              <a:t>Design hypotheses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F20FA-596C-4DC2-960E-44B6CB48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27241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Proposed FFB experiments. Never reported as achieved field results.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8558A-D4C8-418C-8811-6D919A0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046"/>
                </a:solidFill>
              </a:defRPr>
            </a:pPr>
            <a:r>
              <a:rPr sz="1575" b="1">
                <a:solidFill>
                  <a:srgbClr val="B84046"/>
                </a:solidFill>
              </a:rPr>
              <a:t>The paper also reports a clearly bounded pilot. It updates the agenda but is not evidence from the 182-source corpus.</a:t>
            </a:r>
          </a:p>
        </p:txBody>
      </p:sp>
    </p:spTree>
    <p:extLst>
      <p:ext uri="{BB962C8B-B14F-4D97-AF65-F5344CB8AC3E}">
        <p14:creationId xmlns:p14="http://schemas.microsoft.com/office/powerpoint/2010/main" val="1212044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1DCDC-F646-4749-81DE-D7C561E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VERIFIED CORPUS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80A2C-929A-4BB6-BC10-7EC0A3FC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CAEDE-5065-4EC6-8B70-6B5A104B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56469F-9DFF-4C00-ACFC-F96E40D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A broad verified corpus reveals a large transfer gap.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1206D-11ED-42C7-AC76-3AF5E1AA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8B5"/>
                </a:solidFill>
              </a:defRPr>
            </a:pPr>
            <a:r>
              <a:rPr sz="2850" b="1">
                <a:solidFill>
                  <a:srgbClr val="2878B5"/>
                </a:solidFill>
              </a:rPr>
              <a:t>182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CE0DA-E3BF-42E2-8DC8-EAAC916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8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verified primary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D6E87-ABF2-4A57-89BD-864DACE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17A66"/>
                </a:solidFill>
              </a:defRPr>
            </a:pPr>
            <a:r>
              <a:rPr sz="2850" b="1">
                <a:solidFill>
                  <a:srgbClr val="417A66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5B4A2-716D-4C8F-81B2-589E1EB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coded research 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D4BFC-30DA-4268-A730-E28907B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66D16"/>
                </a:solidFill>
              </a:defRPr>
            </a:pPr>
            <a:r>
              <a:rPr sz="2850" b="1">
                <a:solidFill>
                  <a:srgbClr val="B66D16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F54F9-16A1-4D69-A4CD-AAF3A6E3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9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direct agricultural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C2D0D-BA3B-42B5-9670-219C013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4046"/>
                </a:solidFill>
              </a:defRPr>
            </a:pPr>
            <a:r>
              <a:rPr sz="2850" b="1">
                <a:solidFill>
                  <a:srgbClr val="B84046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91F19-0845-4B98-A989-6DFC2881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paired FFB field trials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b55046b76445e"/>
          <a:stretch xmlns:a="http://schemas.openxmlformats.org/drawingml/2006/main"/>
        </p:blipFill>
        <p:spPr>
          <a:xfrm xmlns:a="http://schemas.openxmlformats.org/drawingml/2006/main">
            <a:off x="897548" y="3790950"/>
            <a:ext cx="4110404" cy="16192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a146538934cbb"/>
          <a:stretch xmlns:a="http://schemas.openxmlformats.org/drawingml/2006/main"/>
        </p:blipFill>
        <p:spPr>
          <a:xfrm xmlns:a="http://schemas.openxmlformats.org/drawingml/2006/main">
            <a:off x="6878601" y="3505200"/>
            <a:ext cx="3216349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DB9A5-CFB8-43D9-885B-CF41A328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DETECTOR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9B286-9AA8-4365-A5A2-BCD91D0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8E087-C951-4388-9385-48C7FB27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402BB8-4A0B-4FB0-9921-F9551D7C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Detection progressed by solving localization, scale, imbalance, and speed.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b47d93632434c"/>
          <a:stretch xmlns:a="http://schemas.openxmlformats.org/drawingml/2006/main"/>
        </p:blipFill>
        <p:spPr>
          <a:xfrm xmlns:a="http://schemas.openxmlformats.org/drawingml/2006/main">
            <a:off x="725540" y="2228850"/>
            <a:ext cx="607367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F53A1-ED1F-43CC-BF35-8D8D7902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F0973-5147-4722-BD7F-FB8CEA81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2033"/>
                </a:solidFill>
              </a:defRPr>
            </a:pPr>
            <a:r>
              <a:rPr sz="1575" b="0">
                <a:solidFill>
                  <a:srgbClr val="112033"/>
                </a:solidFill>
              </a:rPr>
              <a:t>Two-stage models remain the high-capacity occlusion reference.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7F3E-3AF2-4787-A860-F0F3FB9E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62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A7151-58D7-477E-8123-7206700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2033"/>
                </a:solidFill>
              </a:defRPr>
            </a:pPr>
            <a:r>
              <a:rPr sz="1575" b="0">
                <a:solidFill>
                  <a:srgbClr val="112033"/>
                </a:solidFill>
              </a:rPr>
              <a:t>One-stage models establish the real-time deployment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0EA43-0B5F-418D-9F3D-61E68F3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B5458-FDAE-4374-9E38-4A15A45E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814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Anchor-free and transformer designs simplify instance prediction and NMS.</a:t>
            </a:r>
          </a:p>
        </p:txBody>
      </p:sp>
    </p:spTree>
    <p:extLst>
      <p:ext uri="{BB962C8B-B14F-4D97-AF65-F5344CB8AC3E}">
        <p14:creationId xmlns:p14="http://schemas.microsoft.com/office/powerpoint/2010/main" val="34695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5BF1B-BA75-491B-9F16-88BE0BF0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YOLO LINEAGE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0E5B-C573-4ECC-8AC2-DC87BEAD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E20B-C81C-4722-9337-99CEDE23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F7BED5-F0CC-48F4-B9CA-C9A1258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YOLO is an engineering frontier, not a leaderboard to inherit.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4a7fab1d94cf2"/>
          <a:stretch xmlns:a="http://schemas.openxmlformats.org/drawingml/2006/main"/>
        </p:blipFill>
        <p:spPr>
          <a:xfrm xmlns:a="http://schemas.openxmlformats.org/drawingml/2006/main">
            <a:off x="4553350" y="2190750"/>
            <a:ext cx="2932901" cy="1638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C1D82-7F67-4A1B-8051-8D2B94AC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985B1-F7B8-4A7A-8597-82A6639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v1 to v3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51455-982A-42B9-B90C-5248E7F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Single-pass detection evolved toward multi-scale prediction.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F30B2-DE80-4B58-BE3F-8FA80DD3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81D40-B49C-473A-B00D-CB600470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33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v4 to v8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17A72-EB10-4A35-ABD4-A519A40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768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Training recipes, re-parameterization, and anchor-free heads improved efficiency.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71E0F-0B18-4053-9659-4C3E0193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A3B5A-D875-49CE-B55D-10C19D96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33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Later selected 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19A8E-4439-48C7-814D-730F9740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97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YOLOv10 and YOLO26 use NMS-free inference; that property is not shared by every YOLO model.</a:t>
            </a:r>
          </a:p>
        </p:txBody>
      </p:sp>
    </p:spTree>
    <p:extLst>
      <p:ext uri="{BB962C8B-B14F-4D97-AF65-F5344CB8AC3E}">
        <p14:creationId xmlns:p14="http://schemas.microsoft.com/office/powerpoint/2010/main" val="1003105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71B5C-6ECA-4A36-95EF-1A34BCF6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DETECTOR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9AC59-5413-4C0E-ACA7-3492CF3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08030-EA39-4DD7-B2AF-16BA30D2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BB6CA2-D167-42C8-99B9-6C0D1AC0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FFB model selection must be driven by field failure modes.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4BF1A-86F1-4418-9523-461A371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21D9D-9544-4EF4-B4FC-7C0E05CB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Can small and occluded bunches be found?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C94C3-1F9E-493B-9B6E-BA4F639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241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AP and recall by size and occlusion stratum.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D0B8B-D4FC-4345-9263-A5D17020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A4239-C9C6-40F0-B323-5DAAF8AC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Does the detector separate instances?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F3222-1454-4A95-880E-8B6886A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Split, merge, duplicate, and per-tree count errors.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F48A5-6B75-45A1-A25C-CD882E77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A40FB-B9CB-4692-AB71-18F57F41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Can it run on the target platform?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ACC7F-04CB-4C91-A92D-7F781070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862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Latency, memory, power, and throughput.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8E394-B773-484B-AB83-441FD6FE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5CE2F-A24C-48D4-A51B-C7D03B47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Does maturity remain attached correctly?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4F72F-3F5E-464F-8C40-8027E50D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6725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Per-instance accuracy and calibration.</a:t>
            </a:r>
          </a:p>
        </p:txBody>
      </p:sp>
    </p:spTree>
    <p:extLst>
      <p:ext uri="{BB962C8B-B14F-4D97-AF65-F5344CB8AC3E}">
        <p14:creationId xmlns:p14="http://schemas.microsoft.com/office/powerpoint/2010/main" val="227279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E5B8A-1AA3-4D48-ADC0-7B82BB7F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27136-416F-43E8-AC93-7272AB33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1D953-3EBC-419D-B834-B9C0A32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1BB0DF-A8F9-4891-91B0-D967B4D7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6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Depth is a conditional geometric cue, not an automatic fourth channel.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DC705-5DD4-46F0-84F0-CF8A8E4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2A11C-DC3E-44A3-9333-AC3D0552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EAD5E-4474-4AFD-B53E-A7A7181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2033"/>
                </a:solidFill>
              </a:defRPr>
            </a:pPr>
            <a:r>
              <a:rPr sz="1800" b="1">
                <a:solidFill>
                  <a:srgbClr val="112033"/>
                </a:solidFill>
              </a:rPr>
              <a:t>Registered sensor depth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A5BFE-3FC0-4117-B8F8-376CCBAA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0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Can support metric range if calibration, synchronization, and valid depth are demonstrated.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C951A-0466-4A4C-A082-AE13D74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E219F-EBA9-4B16-B441-0664C6B6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12CB7-FE4B-448C-8C70-562B628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19375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2033"/>
                </a:solidFill>
              </a:defRPr>
            </a:pPr>
            <a:r>
              <a:rPr sz="1800" b="1">
                <a:solidFill>
                  <a:srgbClr val="112033"/>
                </a:solidFill>
              </a:rPr>
              <a:t>Stereo reconstruction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2A433-D92A-48F3-B745-928F3095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Depth depends on baseline, texture, correspondence, and calibration.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B116D-D417-4A67-9B81-B29659BF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8BCD2-5E79-4609-B12A-3451290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8BEFD-DA16-4151-8A95-88E1414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2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2033"/>
                </a:solidFill>
              </a:defRPr>
            </a:pPr>
            <a:r>
              <a:rPr sz="1800" b="1">
                <a:solidFill>
                  <a:srgbClr val="112033"/>
                </a:solidFill>
              </a:rPr>
              <a:t>Monocular predicted depth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02FE7-8AA0-456D-B8BD-93C665A0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Often relative or scale-ambiguous unless metric grounding is demonstrated.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1942E-D861-405D-8551-86BE797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046"/>
                </a:solidFill>
              </a:defRPr>
            </a:pPr>
            <a:r>
              <a:rPr sz="1575" b="1">
                <a:solidFill>
                  <a:srgbClr val="B84046"/>
                </a:solidFill>
              </a:rPr>
              <a:t>Outdoor failure modes must be measured: missing values, noise, registration error, and sunlight sensitivity.</a:t>
            </a:r>
          </a:p>
        </p:txBody>
      </p:sp>
    </p:spTree>
    <p:extLst>
      <p:ext uri="{BB962C8B-B14F-4D97-AF65-F5344CB8AC3E}">
        <p14:creationId xmlns:p14="http://schemas.microsoft.com/office/powerpoint/2010/main" val="951231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A1832-C3EE-4599-B229-2DC49FC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BE99A-C358-4A56-976A-33E49F31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9F6A6-B438-4B0B-9342-77A3815F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D74BAB-D4A7-446A-9628-DFEFC2E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09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central fusion question is when to admit depth and when to fall back to RGB.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2de2644774fdb"/>
          <a:stretch xmlns:a="http://schemas.openxmlformats.org/drawingml/2006/main"/>
        </p:blipFill>
        <p:spPr>
          <a:xfrm xmlns:a="http://schemas.openxmlformats.org/drawingml/2006/main">
            <a:off x="657713" y="2228850"/>
            <a:ext cx="5752123" cy="3067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CC8D6-481D-4B61-AF23-7B0BD7D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Early fusion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338AB-3D08-4983-9827-3B36E622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Depth enters as an input channel.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B7A6F-2EBA-4F01-8B0E-AED8146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Feature 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82032-45F1-4656-B308-73DF77C0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28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507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Branches preserve modality-specific features before combining.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ADC64-9D9D-4E21-A8EE-EFA57BA5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57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Late 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113EF-9E1C-40C6-9BF9-76530CD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33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Predictions or scores are combined later.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B3485-6546-4954-B9DE-F4D7DB4B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Quality-aware gating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F56F8-1655-43E1-953D-FB3CC840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38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Depth quality controls whether and how it is used.</a:t>
            </a:r>
          </a:p>
        </p:txBody>
      </p:sp>
    </p:spTree>
    <p:extLst>
      <p:ext uri="{BB962C8B-B14F-4D97-AF65-F5344CB8AC3E}">
        <p14:creationId xmlns:p14="http://schemas.microsoft.com/office/powerpoint/2010/main" val="1397012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C31AC-4DD4-4FDB-B0C9-49F4D764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GEOMETRY AND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6EFCA-D838-4E3F-B9EF-1DE5476B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83DAE-EDA6-424E-B265-D0906474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C7776F-E6F5-4A7D-918B-5FF61972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27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Reliable counting requires geometry and temporal association beyond detection.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DBE25-F346-4D29-B031-FBAB267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809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60D16-C23D-4B41-9FBD-2049BC28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12515-26F4-43B8-A406-B304FC34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033"/>
                </a:solidFill>
              </a:defRPr>
            </a:pPr>
            <a:r>
              <a:rPr sz="1650" b="1">
                <a:solidFill>
                  <a:srgbClr val="112033"/>
                </a:solidFill>
              </a:rPr>
              <a:t>2D instance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07130-0C9F-426C-AF51-ED896FC9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Detect one bunch.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D2837-6AFD-45FD-80CB-F6B5A258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0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8B5"/>
                </a:solidFill>
              </a:defRPr>
            </a:pPr>
            <a:r>
              <a:rPr sz="1875" b="1">
                <a:solidFill>
                  <a:srgbClr val="2878B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B2286-8F86-4AEC-9407-E4DF627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09850"/>
            <a:ext cx="1809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553EF-8862-4FFB-94D6-B40D50A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523D2-584B-470C-80A5-721DB03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623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033"/>
                </a:solidFill>
              </a:defRPr>
            </a:pPr>
            <a:r>
              <a:rPr sz="1650" b="1">
                <a:solidFill>
                  <a:srgbClr val="112033"/>
                </a:solidFill>
              </a:rPr>
              <a:t>Depth 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FD4BE-416E-4FC6-BE99-835EB91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9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Sample only inside the instance.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A0357-162C-43C4-AF64-15421D2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0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8B5"/>
                </a:solidFill>
              </a:defRPr>
            </a:pPr>
            <a:r>
              <a:rPr sz="1875" b="1">
                <a:solidFill>
                  <a:srgbClr val="2878B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44DDF-4D4B-4F33-AC53-3E77D078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9850"/>
            <a:ext cx="1809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515CA-BBD7-42C7-899E-023C500D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19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FAE6C-CC50-4265-95AD-3831FF63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033"/>
                </a:solidFill>
              </a:defRPr>
            </a:pPr>
            <a:r>
              <a:rPr sz="1650" b="1">
                <a:solidFill>
                  <a:srgbClr val="112033"/>
                </a:solidFill>
              </a:rPr>
              <a:t>Camera 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0C6A0-3E07-4EC3-BA1D-9C8F1113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Map views to one frame.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316DF-705D-418E-9F3E-817211E9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0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8B5"/>
                </a:solidFill>
              </a:defRPr>
            </a:pPr>
            <a:r>
              <a:rPr sz="1875" b="1">
                <a:solidFill>
                  <a:srgbClr val="2878B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18C38-C9C6-4323-A61A-098442D4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9850"/>
            <a:ext cx="1809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F49E3-8E3A-402F-A514-01784A6E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19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8CEF2-F1C5-4EA7-9169-85ECD4F6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623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033"/>
                </a:solidFill>
              </a:defRPr>
            </a:pPr>
            <a:r>
              <a:rPr sz="1650" b="1">
                <a:solidFill>
                  <a:srgbClr val="112033"/>
                </a:solidFill>
              </a:rPr>
              <a:t>Association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B8EA5-F911-4578-9BE1-DD1D3F5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28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Link views and suppress duplicates.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1AA8A-4095-4C24-82E3-8A5774D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0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8B5"/>
                </a:solidFill>
              </a:defRPr>
            </a:pPr>
            <a:r>
              <a:rPr sz="1875" b="1">
                <a:solidFill>
                  <a:srgbClr val="2878B5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3765F-02DC-40B6-BB67-E5CB37D4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809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A7937-A6EE-46BE-B45E-35CF0D44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D185A-14E7-4A23-BAA9-6318EA9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033"/>
                </a:solidFill>
              </a:defRPr>
            </a:pPr>
            <a:r>
              <a:rPr sz="1650" b="1">
                <a:solidFill>
                  <a:srgbClr val="112033"/>
                </a:solidFill>
              </a:rPr>
              <a:t>Inventory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00B3EC-55D5-4408-8DC2-EBF5B05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Count each bunch once.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1D244-C6D1-4241-8AE5-346D124E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046"/>
                </a:solidFill>
              </a:defRPr>
            </a:pPr>
            <a:r>
              <a:rPr sz="1575" b="1">
                <a:solidFill>
                  <a:srgbClr val="B84046"/>
                </a:solidFill>
              </a:rPr>
              <a:t>Per-frame AP cannot reveal repeated observations, false merges, or inventory bias.</a:t>
            </a:r>
          </a:p>
        </p:txBody>
      </p:sp>
    </p:spTree>
    <p:extLst>
      <p:ext uri="{BB962C8B-B14F-4D97-AF65-F5344CB8AC3E}">
        <p14:creationId xmlns:p14="http://schemas.microsoft.com/office/powerpoint/2010/main" val="571278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63709-6F35-4403-A2C8-5EA5FDC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BENCHMARKS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FCEA4-86CA-4EB0-ABD4-27FA9355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87AE6-C0A2-426A-A2C1-C8873617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0A1405-9EB3-492E-8DC5-A45EA11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2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Benchmark scores have meaning only within their acquisition and split 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E6E26-88FB-4BF2-9355-DA557C57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9B240-C6F4-4424-9BA3-00D8F49C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NYU Depth v2 / SUN RGB-D / ScanNet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489A0-EE36-4A06-9368-78F27C6B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Indoor RGB-D learning and annotation templates.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0E2AE-9A8C-4C50-815D-B5733EA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DE493-A313-4F3F-B03C-73F12787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COCO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8BAE3-0A3F-4039-9CBE-14466DF7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Detection pretraining and AP vocabulary.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3E9B9-9764-472A-A1C9-F9FA7EB3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C53B6-F1E9-4938-8657-26851208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KITTI / nuScenes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EC44D-0186-4584-BF33-5AD0497E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862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Calibrated outdoor multi-sensor sequencing.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92F9E-404A-4F10-ADD3-095BA080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A9C48-DFB1-49C8-B0B8-5C5E3BDC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Plantation benchmark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8AD8D-8BC8-4A56-A866-2175F33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51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Still required: target size, maturity labels, trajectories, sensor failures, and deployment context.</a:t>
            </a:r>
          </a:p>
        </p:txBody>
      </p:sp>
    </p:spTree>
    <p:extLst>
      <p:ext uri="{BB962C8B-B14F-4D97-AF65-F5344CB8AC3E}">
        <p14:creationId xmlns:p14="http://schemas.microsoft.com/office/powerpoint/2010/main" val="18002703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6C513-2AF8-4E11-A691-14A62988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AGRICULTURAL 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31320-3F55-45AC-8801-5B8DEBFF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15CF3-DE24-4461-8602-1DDDA0A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33B0EA-2B04-41B5-9384-ABC5CB3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841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Agricultural analogues motivate architecture, but none validate oil-palm FFB RGB-D performance.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95792-2F75-4F4B-AC38-E0F8B939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D32AB-B496-43A5-9715-9A50D50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Apple harvesting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386E1-0A8B-46A3-8BB8-51ACE427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SSD plus stereo depth shows detect-then-localize.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0AA57-6EF6-4A3C-A31A-940E2C2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8F7BE-30A5-4ED6-A65C-9D62D65D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Apple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64EA9-98F7-4D7C-8CF1-2C79B5E2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Mask R-CNN plus multi-view geometry improved F1 from 0.816 to 0.881.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13E3D-5B5B-4E0F-9570-B530B94C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D63A6-2CE6-4355-9469-87B2FAED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Orchard multi-output perception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F211B-7711-47A2-90B8-75BDE34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Detection, instance segmentation, and branch outputs can share a backbone.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967DD-7293-41B1-9315-8D57E10D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DBFF8-E015-4DF5-80A9-D110E4E6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Field robotics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0F1BC-B194-4F04-B768-87EEEF89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10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Perception, geometric localization, and action have separate failure modes.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0D97E-0C17-4E75-89B8-4DDC04EB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046"/>
                </a:solidFill>
              </a:defRPr>
            </a:pPr>
            <a:r>
              <a:rPr sz="1575" b="1">
                <a:solidFill>
                  <a:srgbClr val="B84046"/>
                </a:solidFill>
              </a:rPr>
              <a:t>These results are transferable mechanisms, not expected FFB metrics.</a:t>
            </a:r>
          </a:p>
        </p:txBody>
      </p:sp>
    </p:spTree>
    <p:extLst>
      <p:ext uri="{BB962C8B-B14F-4D97-AF65-F5344CB8AC3E}">
        <p14:creationId xmlns:p14="http://schemas.microsoft.com/office/powerpoint/2010/main" val="20305734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7A558-7AC3-488B-8C4E-0551C5C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TRANSFER MECHANISMS BEYOND RGB-D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19AFF-DF6A-4786-9C12-F4237F36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7B8C8-D1AA-4FC1-B42A-982A3E6D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482ACC-B080-4043-82FC-F10FA42F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841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Pose, grasping, and other modalities supply mechanisms, not plantation performance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67BD3-27DD-41A7-830D-A83C6E92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16CC5-8970-42AA-BC1C-7D8061D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Pose and grasping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65449-0311-4423-96AF-F2DE635A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716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85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Instance-level pose, confidence, and action planning clarify the geometry required after detection.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C5E33-0E58-4AD8-AB04-B29EE3E0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D06E5-E156-41E8-BB64-B2FE3572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RGB-thermal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1929-8041-499B-A7B8-22BF7078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716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Illumination-aware weighting shows why modality reliability should change with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6D4B0-2E74-4DF3-96A5-BD5D4B5F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1CA5E-7EC4-4FAB-8A6A-8363CC4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Remote sensing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1EF25-0033-4ACD-AADF-9F66376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71900"/>
            <a:ext cx="716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2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Small-object heads, resolution choices, and attention are candidates for distant bunches.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87BDA-B6F8-4BE3-9909-0713F5B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6F415-B98D-4CB7-B0DF-5FE756C1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Medical and industrial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4BCD3-F4CA-4AA7-A7E4-38ECFB58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716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59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Domain-specific adaptation shows why generic benchmark scores cannot be carried into a canopy.</a:t>
            </a:r>
          </a:p>
        </p:txBody>
      </p:sp>
    </p:spTree>
    <p:extLst>
      <p:ext uri="{BB962C8B-B14F-4D97-AF65-F5344CB8AC3E}">
        <p14:creationId xmlns:p14="http://schemas.microsoft.com/office/powerpoint/2010/main" val="1467942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80FFF-CC04-4B58-B042-8E6EF0C2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PILOT EXPERIMENTAL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88DD4-C7FA-4D4B-BBA9-BB30851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5965D-8583-4497-9A9A-5897A914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512018-B72C-47BF-AFAE-F73F4B4E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37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paper adds a narrow pilot, separate from the 182-source evidence corpus.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0E205-9CF3-4DA7-A092-725E2C2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E5202-B3CA-4836-BB96-5936AE9C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Material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C6D13-AF08-4613-9177-A15CE108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9552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SawitMVC public multi-view oil-palm images. No depth sensor was used.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B6D99-DD1C-466A-8A25-AC17A54F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D1C56-6B9F-4509-84D8-6D412202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10178-7D08-4129-B760-5E9C7956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953 trees, 18,540 boxes, 9,823 distinct bunches, four maturity classes.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49195-7BD7-45AC-A891-A0A03AEC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64ECB-E906-413D-926A-3412839E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Protocol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17615-D350-4DBF-955F-9B48E38B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4332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Tree-level split: 716 train, 96 validation, 141 test trees.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6C0E7-9B13-43C4-BA04-9DF3F166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121E1-C352-4797-8637-9CEA145F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Depth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0028E-B3F6-47D2-931F-36D7BD77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6722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97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Monocular pseudo-depth was predicted from the same RGB images, so its errors are correlated with RGB.</a:t>
            </a:r>
          </a:p>
        </p:txBody>
      </p:sp>
    </p:spTree>
    <p:extLst>
      <p:ext uri="{BB962C8B-B14F-4D97-AF65-F5344CB8AC3E}">
        <p14:creationId xmlns:p14="http://schemas.microsoft.com/office/powerpoint/2010/main" val="1098774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7EE7A-1B3C-43C1-894C-0130C96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PILOT: PSEUDO-DEPTH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6A007-CD94-426B-9514-D229B579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817A0-1D9C-42FE-8FBF-0AD0C214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6E529F-DE8D-46F3-90AC-CC653C31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11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Pseudo-depth did not provide useful per-bunch separation in this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649C8-0971-42D1-8D21-23DC4F87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4046"/>
                </a:solidFill>
              </a:defRPr>
            </a:pPr>
            <a:r>
              <a:rPr sz="2850" b="1">
                <a:solidFill>
                  <a:srgbClr val="B84046"/>
                </a:solidFill>
              </a:rPr>
              <a:t>0.26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84592-C2C5-4F96-A967-24EF3FA9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50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real-to-control contrast ratio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9ED94-FCFD-462E-8556-C55490FB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66D16"/>
                </a:solidFill>
              </a:defRPr>
            </a:pPr>
            <a:r>
              <a:rPr sz="2850" b="1">
                <a:solidFill>
                  <a:srgbClr val="B66D16"/>
                </a:solidFill>
              </a:rPr>
              <a:t>0.608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B1EA1-9027-4A98-9AF7-3D136743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box-vs-ring 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12815-7FB9-478D-A2DB-FD311617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66D16"/>
                </a:solidFill>
              </a:defRPr>
            </a:pPr>
            <a:r>
              <a:rPr sz="2850" b="1">
                <a:solidFill>
                  <a:srgbClr val="B66D16"/>
                </a:solidFill>
              </a:rPr>
              <a:t>0.600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7A595-2729-4445-AD24-E8B11A6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control-box 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B1C73-8145-4E8D-A909-1F3EED6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4046"/>
                </a:solidFill>
              </a:defRPr>
            </a:pPr>
            <a:r>
              <a:rPr sz="2850" b="1">
                <a:solidFill>
                  <a:srgbClr val="B84046"/>
                </a:solidFill>
              </a:rPr>
              <a:t>0.5041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27352-4BE9-48EA-9E73-4F073F86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241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88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early-fusion validation mAP50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3347C-D60D-44F6-9CAC-91B11881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RGB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8A4DF-0924-429F-A902-9FFAAB43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0.5218 validation mAP50.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40FCD-E71B-4FFB-BBFA-F4C7C25A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7C935-504D-463E-8364-0FE54BE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481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The result falsifies pixel-level separation for pseudo-depth, not calibrated sensor depth.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21488-BC6B-4203-8BD1-00E334DA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390ED-104B-48E0-98A5-050680B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911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One failed early-fusion pseudo-depth configuration does not test feature, late, or real-depth fusion.</a:t>
            </a:r>
          </a:p>
        </p:txBody>
      </p:sp>
    </p:spTree>
    <p:extLst>
      <p:ext uri="{BB962C8B-B14F-4D97-AF65-F5344CB8AC3E}">
        <p14:creationId xmlns:p14="http://schemas.microsoft.com/office/powerpoint/2010/main" val="19032285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A1693-8ACB-4E15-A45A-008547C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PILOT: REVISED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D452F-D69A-434F-BF1D-D7F26B1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45742-57DA-4459-ADB0-63D46163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66B70B-68B5-4765-AD90-64125787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841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pilot moves the bottleneck toward maturity treatment and high-resolution localization.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B00B3-C5BC-47C8-BF74-AE5CC14C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24151-81D0-4518-8D01-A573A440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Class-agnostic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7FA50-0EA3-4746-919F-F9E8DAD0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28850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0.7730 validation mAP50, compared with 0.5218 for four-class detection.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4989E-2170-4E76-A6D9-1D164C4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150FB-11D6-42C6-9A17-6911852E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Best four-class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9BB78-0592-43ED-8269-D839FF40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7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RT-DETR-L test: 0.5794 mAP50 and 0.2694 mAP50-95. Both prespecified targets remain unmet.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B6936-6025-4A83-95F7-4A6231D3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D3436-7A07-4823-BA8F-2D7EC753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Maturity diagnosis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0A841-4052-4C0B-8FD7-AAF75278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29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B4 is more camouflaged than overlapped; adjacent-class confusions indicate an ordinal-label mismatch.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4176A-18E2-479C-BB16-C71C81CB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38E66-DEE1-492F-952E-D414CA77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Next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9C30A-A88F-4A08-8065-CEA5BC83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81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Master-resolution detection, capacity plus ordinal objective, and a separately calibrated depth-sensor study.</a:t>
            </a:r>
          </a:p>
        </p:txBody>
      </p:sp>
    </p:spTree>
    <p:extLst>
      <p:ext uri="{BB962C8B-B14F-4D97-AF65-F5344CB8AC3E}">
        <p14:creationId xmlns:p14="http://schemas.microsoft.com/office/powerpoint/2010/main" val="15165453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CDDE3-41B6-4116-BCF0-D34A3E0E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3A70C-B6CA-4C50-AB9C-1088C71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31F34-0511-4E61-BE7C-687FDEF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7839D5-FFAA-4EBA-8F4F-B6EF4C7E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927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Mature component evidence narrows to an unfilled paired FFB field benchmark.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5a908c434465f"/>
          <a:stretch xmlns:a="http://schemas.openxmlformats.org/drawingml/2006/main"/>
        </p:blipFill>
        <p:spPr>
          <a:xfrm xmlns:a="http://schemas.openxmlformats.org/drawingml/2006/main">
            <a:off x="666750" y="2147292"/>
            <a:ext cx="5810250" cy="32682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7428A-F13B-462D-8092-EB9B160C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General RGB detection: 39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CB8A8-2609-40CC-9F36-980EF3F4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Monocular depth: 21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0878A-3C4A-4478-B4CE-85547880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RGB-D SOD + segmentation: 34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8E671-914A-4A3D-A81A-71A23AEE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00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046"/>
                </a:solidFill>
              </a:defRPr>
            </a:pPr>
            <a:r>
              <a:rPr sz="1575" b="1">
                <a:solidFill>
                  <a:srgbClr val="B84046"/>
                </a:solidFill>
              </a:rPr>
              <a:t>Paired FFB field trials: 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32C0B-7FBE-4DA0-BB9F-299D685B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768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15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The corpus maps mechanisms to hypotheses. It does not pool a single accuracy.</a:t>
            </a:r>
          </a:p>
        </p:txBody>
      </p:sp>
    </p:spTree>
    <p:extLst>
      <p:ext uri="{BB962C8B-B14F-4D97-AF65-F5344CB8AC3E}">
        <p14:creationId xmlns:p14="http://schemas.microsoft.com/office/powerpoint/2010/main" val="9275429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EE6A2-F882-467F-89BD-0872BA8A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MEASUREMENT HIERARCHY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019F9-8429-455D-BDF2-CA8AC08D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13AC4-FDB0-47D2-8B6A-3CA9F014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797B63-D741-4A61-86DF-FC0E8A31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One AP score cannot validate an RGB-D FFB inventory.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334000"/>
                <a:gridCol w="5334000"/>
              </a:tblGrid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Evaluation level</a:t>
                      </a:r>
                    </a:p>
                  </a:txBody>
                  <a:tcPr marL="91440" marR="91440" marT="45720" marB="45720">
                    <a:solidFill>
                      <a:srgbClr val="11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Required measurement</a:t>
                      </a:r>
                    </a:p>
                  </a:txBody>
                  <a:tcPr marL="91440" marR="91440" marT="45720" marB="45720">
                    <a:solidFill>
                      <a:srgbClr val="1120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2033"/>
                          </a:solidFill>
                        </a:rPr>
                        <a:t>Detection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C6D82"/>
                          </a:solidFill>
                        </a:rPr>
                        <a:t>AP, precision, recall by size, occlusion, illumination.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2033"/>
                          </a:solidFill>
                        </a:rPr>
                        <a:t>Maturity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C6D82"/>
                          </a:solidFill>
                        </a:rPr>
                        <a:t>Per-instance class metrics, calibration, confusion matrix.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2033"/>
                          </a:solidFill>
                        </a:rPr>
                        <a:t>Geometry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C6D82"/>
                          </a:solidFill>
                        </a:rPr>
                        <a:t>Coordinate frame, range or position error, valid-depth rate.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2033"/>
                          </a:solidFill>
                        </a:rPr>
                        <a:t>Association and 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C6D82"/>
                          </a:solidFill>
                        </a:rPr>
                        <a:t>Count error, bias, duplicate rate, false merges, association quality.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2033"/>
                          </a:solidFill>
                        </a:rPr>
                        <a:t>Deployment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C6D82"/>
                          </a:solidFill>
                        </a:rPr>
                        <a:t>Latency, throughput, memory, hardware, depth availability.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6400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2B673-019F-4E37-B29B-B3CBE69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FALSIFIABLE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9D8D3-BA14-41F7-B09D-B58293BD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4727F-AE05-4E8B-B52F-B172B011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0637F7-66DE-4425-8351-F05D8528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196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evidence map becomes a staged experiment, not a premature architecture claim.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d0dc501ff496d"/>
          <a:stretch xmlns:a="http://schemas.openxmlformats.org/drawingml/2006/main"/>
        </p:blipFill>
        <p:spPr>
          <a:xfrm xmlns:a="http://schemas.openxmlformats.org/drawingml/2006/main">
            <a:off x="704850" y="2509838"/>
            <a:ext cx="4857750" cy="2428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C88AC-3164-442D-AE48-8F8402E4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1.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3780B-C45B-4D48-95DB-F5C2E369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23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2033"/>
                </a:solidFill>
              </a:defRPr>
            </a:pPr>
            <a:r>
              <a:rPr sz="1575" b="0">
                <a:solidFill>
                  <a:srgbClr val="112033"/>
                </a:solidFill>
              </a:rPr>
              <a:t>Paired RGB-D, calibration metadata, instance, maturity, and sequence identity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3EC9D-097E-4AA2-A48E-87FB5851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813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2. Baselines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5A4BD-A901-4095-B435-88B23D1B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480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2033"/>
                </a:solidFill>
              </a:defRPr>
            </a:pPr>
            <a:r>
              <a:rPr sz="1575" b="0">
                <a:solidFill>
                  <a:srgbClr val="112033"/>
                </a:solidFill>
              </a:rPr>
              <a:t>RGB YOLO plus a high-capacity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24392-9D43-4414-9733-9E38937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528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3. Fusion ablations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73172-5CB6-4E11-B25F-B749DCCC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2033"/>
                </a:solidFill>
              </a:defRPr>
            </a:pPr>
            <a:r>
              <a:rPr sz="1575" b="0">
                <a:solidFill>
                  <a:srgbClr val="112033"/>
                </a:solidFill>
              </a:rPr>
              <a:t>Early, feature, late, and quality-gated RGB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B68E4-1B42-4D13-84C7-A815D2B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24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78B5"/>
                </a:solidFill>
              </a:defRPr>
            </a:pPr>
            <a:r>
              <a:rPr sz="1575" b="1">
                <a:solidFill>
                  <a:srgbClr val="2878B5"/>
                </a:solidFill>
              </a:rPr>
              <a:t>4. Failure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FD304-87F4-4D9A-AD08-5CCFE564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910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23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2033"/>
                </a:solidFill>
              </a:defRPr>
            </a:pPr>
            <a:r>
              <a:rPr sz="1575" b="0">
                <a:solidFill>
                  <a:srgbClr val="112033"/>
                </a:solidFill>
              </a:rPr>
              <a:t>Depth loss, noise, misalignment, illumination, stationary and moving sequences.</a:t>
            </a:r>
          </a:p>
        </p:txBody>
      </p:sp>
    </p:spTree>
    <p:extLst>
      <p:ext uri="{BB962C8B-B14F-4D97-AF65-F5344CB8AC3E}">
        <p14:creationId xmlns:p14="http://schemas.microsoft.com/office/powerpoint/2010/main" val="21304794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BAB3D-3511-44DE-AF4A-57C9E353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CAUSAL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42C0B-6DB0-4487-BF12-41AC853E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EA3D8-AFEF-43FC-862F-4EFE963A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DB57C9-DC7B-4F27-8F69-3BE68D0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841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core experiment asks whether depth improves a named failure mode enough to justify its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3A987-810A-408A-9E2B-00207BC4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EBD08-2F96-4AA2-85FB-6B00BD23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RGB-only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42110-1034-4CA2-AB7C-D3EA84C3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14575"/>
            <a:ext cx="719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Same split, resolution, annotation policy, and hardware.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01BF3-FFA9-4870-94E0-49F901A5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A147B-0A84-46D3-B34B-30BC0DF8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Fusion 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3C7E7-A823-4EBF-AA4A-287A4AF0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24200"/>
            <a:ext cx="719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Change only the declared fusion design and depth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C4B81-95D2-4051-A3C7-48A7919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CB629-FF5E-4BCB-AEBC-8FB1ADE9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Quality-gated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C2806-746F-4EE7-BA66-BE4E36EC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33825"/>
            <a:ext cx="719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Test depth absence, low quality, noise, and misalignment.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C6AEA-6A47-4A06-82B0-009AF3E9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E6AF7-7BEB-4DA9-9E55-CA65822F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B9D48-BC74-4947-9D40-1960A639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43450"/>
            <a:ext cx="719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D82"/>
                </a:solidFill>
              </a:defRPr>
            </a:pPr>
            <a:r>
              <a:rPr sz="1575" b="0">
                <a:solidFill>
                  <a:srgbClr val="5C6D82"/>
                </a:solidFill>
              </a:rPr>
              <a:t>Compare measured error reduction against latency and sensor burden.</a:t>
            </a:r>
          </a:p>
        </p:txBody>
      </p:sp>
    </p:spTree>
    <p:extLst>
      <p:ext uri="{BB962C8B-B14F-4D97-AF65-F5344CB8AC3E}">
        <p14:creationId xmlns:p14="http://schemas.microsoft.com/office/powerpoint/2010/main" val="417398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BFE0F-D5BE-4492-987E-2F3B53CB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BOUNDED 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8CB6B-9F90-4CC1-BCF5-E3A0FD6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955A-2CF5-4E4B-8169-3819773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117F1A-EA41-4E2D-AF6B-A786017B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033"/>
                </a:solidFill>
              </a:defRPr>
            </a:pPr>
            <a:r>
              <a:rPr sz="3150" b="1">
                <a:solidFill>
                  <a:srgbClr val="112033"/>
                </a:solidFill>
              </a:rPr>
              <a:t>The corpus supports three conclusions and rejects several stronger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0D304-8EE5-4C85-88CD-F1C3D4A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8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17A66"/>
                </a:solidFill>
              </a:defRPr>
            </a:pPr>
            <a:r>
              <a:rPr sz="1875" b="1">
                <a:solidFill>
                  <a:srgbClr val="417A66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4CDE-9EF2-4386-851B-BE704006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A multi-scale, real-time RGB detector is an appropriate baseline family.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E71A3-900C-4966-ABBE-651FB1DD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8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17A66"/>
                </a:solidFill>
              </a:defRPr>
            </a:pPr>
            <a:r>
              <a:rPr sz="1875" b="1">
                <a:solidFill>
                  <a:srgbClr val="417A66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FCCDE-44F4-4705-B28D-D4C2B0E1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Depth can assist separation and geometry when reliability and meaning are controlled.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B5403-AA5D-4A47-BB76-0553C5D9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88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17A66"/>
                </a:solidFill>
              </a:defRPr>
            </a:pPr>
            <a:r>
              <a:rPr sz="1875" b="1">
                <a:solidFill>
                  <a:srgbClr val="417A66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92A13-CA93-4CB7-8E47-14A863FF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033"/>
                </a:solidFill>
              </a:defRPr>
            </a:pPr>
            <a:r>
              <a:rPr sz="1575" b="1">
                <a:solidFill>
                  <a:srgbClr val="112033"/>
                </a:solidFill>
              </a:rPr>
              <a:t>Feature, late, and quality-aware fusion are justified alternatives with RGB fallback.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0997A-857E-4193-A360-57DC0295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2CC24-4D20-4A70-B9D0-20508C8C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5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046"/>
                </a:solidFill>
              </a:defRPr>
            </a:pPr>
            <a:r>
              <a:rPr sz="1575" b="1">
                <a:solidFill>
                  <a:srgbClr val="B84046"/>
                </a:solidFill>
              </a:rPr>
              <a:t>Not established: the best YOLO generation, the best depth model, the best fusion point, or a validated real-depth FFB gain.</a:t>
            </a:r>
          </a:p>
        </p:txBody>
      </p:sp>
    </p:spTree>
    <p:extLst>
      <p:ext uri="{BB962C8B-B14F-4D97-AF65-F5344CB8AC3E}">
        <p14:creationId xmlns:p14="http://schemas.microsoft.com/office/powerpoint/2010/main" val="12348158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35CC6-7F1F-4CB0-BEDF-0972186A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</a:defRPr>
            </a:pPr>
            <a:r>
              <a:rPr sz="900" b="1">
                <a:solidFill>
                  <a:srgbClr val="2878B5"/>
                </a:solidFill>
              </a:rPr>
              <a:t>CLOSING 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BFF92-776E-49E8-BDD9-3AE023C5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C6D82"/>
                </a:solidFill>
              </a:defRPr>
            </a:pPr>
            <a:r>
              <a:rPr sz="900" b="1">
                <a:solidFill>
                  <a:srgbClr val="5C6D82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1C055-8E69-47D3-AE4E-15ED2E69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773069-BA18-4213-AAD1-AEBE80B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239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615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2033"/>
                </a:solidFill>
              </a:defRPr>
            </a:pPr>
            <a:r>
              <a:rPr sz="3525" b="1">
                <a:solidFill>
                  <a:srgbClr val="112033"/>
                </a:solidFill>
              </a:rPr>
              <a:t>Progress requires a calibrated paired RGB-D FFB benchmark and an evaluation protocol that measures the whole inventory.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95B53-D21A-446F-AC9D-8EEBFED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78B5"/>
                </a:solidFill>
              </a:defRPr>
            </a:pPr>
            <a:r>
              <a:rPr sz="1650" b="1">
                <a:solidFill>
                  <a:srgbClr val="2878B5"/>
                </a:solidFill>
              </a:rPr>
              <a:t>Detection  •  maturity  •  geometry  •  duplicate suppression  •  count error  •  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B3356-B7A2-4017-9C5A-6E534A7B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D82"/>
                </a:solidFill>
              </a:defRPr>
            </a:pPr>
            <a:r>
              <a:rPr sz="1650" b="0">
                <a:solidFill>
                  <a:srgbClr val="5C6D82"/>
                </a:solidFill>
              </a:rPr>
              <a:t>The pilot informs a revised agenda, but it does not validate real sensor RGB-D fusion for oil-palm FFBs.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5c5d61dd848b7"/>
          <a:stretch xmlns:a="http://schemas.openxmlformats.org/drawingml/2006/main"/>
        </p:blipFill>
        <p:spPr>
          <a:xfrm xmlns:a="http://schemas.openxmlformats.org/drawingml/2006/main">
            <a:off x="8715375" y="3174504"/>
            <a:ext cx="2428875" cy="13662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18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2026-08-03T09:08:42.1450000Z</dcterms:created>
  <dcterms:modified xsi:type="dcterms:W3CDTF">2026-08-03T09:08:42.1450000Z</dcterms:modified>
</coreProperties>
</file>