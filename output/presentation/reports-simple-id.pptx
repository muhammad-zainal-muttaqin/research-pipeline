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41248"/>
            <a:ext cx="10744200" cy="292608"/>
          </a:xfrm>
          <a:prstGeom prst="rect">
            <a:avLst/>
          </a:prstGeom>
          <a:noFill/>
        </p:spPr>
        <p:txBody>
          <a:bodyPr wrap="square" lIns="18288" rIns="18288" tIns="0" bIns="0">
            <a:spAutoFit/>
          </a:bodyPr>
          <a:lstStyle/>
          <a:p>
            <a:pPr algn="l">
              <a:spcBef>
                <a:spcPts val="0"/>
              </a:spcBef>
              <a:spcAft>
                <a:spcPts val="0"/>
              </a:spcAft>
            </a:pPr>
            <a:r>
              <a:rPr sz="1350" b="1">
                <a:solidFill>
                  <a:srgbClr val="8FC7C7"/>
                </a:solidFill>
                <a:latin typeface="Segoe UI"/>
              </a:rPr>
              <a:t>LAPORAN EKSPERIMEN · DETEKSI TANDAN BUAH SEGAR KELAPA SAWIT</a:t>
            </a:r>
          </a:p>
        </p:txBody>
      </p:sp>
      <p:sp>
        <p:nvSpPr>
          <p:cNvPr id="4" name="TextBox 3"/>
          <p:cNvSpPr txBox="1"/>
          <p:nvPr/>
        </p:nvSpPr>
        <p:spPr>
          <a:xfrm>
            <a:off x="822960" y="1243584"/>
            <a:ext cx="10744200" cy="566928"/>
          </a:xfrm>
          <a:prstGeom prst="rect">
            <a:avLst/>
          </a:prstGeom>
          <a:noFill/>
        </p:spPr>
        <p:txBody>
          <a:bodyPr wrap="square" lIns="18288" rIns="18288" tIns="0" bIns="0">
            <a:spAutoFit/>
          </a:bodyPr>
          <a:lstStyle/>
          <a:p>
            <a:pPr algn="l">
              <a:spcBef>
                <a:spcPts val="0"/>
              </a:spcBef>
              <a:spcAft>
                <a:spcPts val="0"/>
              </a:spcAft>
            </a:pPr>
            <a:r>
              <a:rPr sz="3400" b="1">
                <a:solidFill>
                  <a:srgbClr val="FFFFFF"/>
                </a:solidFill>
                <a:latin typeface="Segoe UI"/>
              </a:rPr>
              <a:t>Menguji Kanal Keempat:</a:t>
            </a:r>
          </a:p>
        </p:txBody>
      </p:sp>
      <p:sp>
        <p:nvSpPr>
          <p:cNvPr id="5" name="TextBox 4"/>
          <p:cNvSpPr txBox="1"/>
          <p:nvPr/>
        </p:nvSpPr>
        <p:spPr>
          <a:xfrm>
            <a:off x="822960" y="1810512"/>
            <a:ext cx="10744200" cy="566928"/>
          </a:xfrm>
          <a:prstGeom prst="rect">
            <a:avLst/>
          </a:prstGeom>
          <a:noFill/>
        </p:spPr>
        <p:txBody>
          <a:bodyPr wrap="square" lIns="18288" rIns="18288" tIns="0" bIns="0">
            <a:spAutoFit/>
          </a:bodyPr>
          <a:lstStyle/>
          <a:p>
            <a:pPr algn="l">
              <a:spcBef>
                <a:spcPts val="0"/>
              </a:spcBef>
              <a:spcAft>
                <a:spcPts val="0"/>
              </a:spcAft>
            </a:pPr>
            <a:r>
              <a:rPr sz="3400" b="1">
                <a:solidFill>
                  <a:srgbClr val="FFFFFF"/>
                </a:solidFill>
                <a:latin typeface="Segoe UI"/>
              </a:rPr>
              <a:t>Apakah Depth Membantu Deteksi?</a:t>
            </a:r>
          </a:p>
        </p:txBody>
      </p:sp>
      <p:sp>
        <p:nvSpPr>
          <p:cNvPr id="6" name="TextBox 5"/>
          <p:cNvSpPr txBox="1"/>
          <p:nvPr/>
        </p:nvSpPr>
        <p:spPr>
          <a:xfrm>
            <a:off x="822960" y="2487168"/>
            <a:ext cx="10744200" cy="384048"/>
          </a:xfrm>
          <a:prstGeom prst="rect">
            <a:avLst/>
          </a:prstGeom>
          <a:noFill/>
        </p:spPr>
        <p:txBody>
          <a:bodyPr wrap="square" lIns="18288" rIns="18288" tIns="0" bIns="0">
            <a:spAutoFit/>
          </a:bodyPr>
          <a:lstStyle/>
          <a:p>
            <a:pPr algn="l">
              <a:spcBef>
                <a:spcPts val="0"/>
              </a:spcBef>
              <a:spcAft>
                <a:spcPts val="0"/>
              </a:spcAft>
            </a:pPr>
            <a:r>
              <a:rPr sz="1800" b="0">
                <a:solidFill>
                  <a:srgbClr val="C7D6E2"/>
                </a:solidFill>
                <a:latin typeface="Segoe UI"/>
              </a:rPr>
              <a:t>Ringkasan 32 percobaan dan 9 pemeriksaan bukti</a:t>
            </a:r>
          </a:p>
        </p:txBody>
      </p:sp>
      <p:sp>
        <p:nvSpPr>
          <p:cNvPr id="7" name="TextBox 6"/>
          <p:cNvSpPr txBox="1"/>
          <p:nvPr/>
        </p:nvSpPr>
        <p:spPr>
          <a:xfrm>
            <a:off x="822960" y="3529584"/>
            <a:ext cx="10744200" cy="384048"/>
          </a:xfrm>
          <a:prstGeom prst="rect">
            <a:avLst/>
          </a:prstGeom>
          <a:noFill/>
        </p:spPr>
        <p:txBody>
          <a:bodyPr wrap="square" lIns="18288" rIns="18288" tIns="0" bIns="0">
            <a:spAutoFit/>
          </a:bodyPr>
          <a:lstStyle/>
          <a:p>
            <a:pPr algn="l">
              <a:spcBef>
                <a:spcPts val="0"/>
              </a:spcBef>
              <a:spcAft>
                <a:spcPts val="0"/>
              </a:spcAft>
            </a:pPr>
            <a:r>
              <a:rPr sz="2000" b="1">
                <a:solidFill>
                  <a:srgbClr val="222B35"/>
                </a:solidFill>
                <a:latin typeface="Segoe UI"/>
              </a:rPr>
              <a:t>Muhammad Zainal Muttaqin  ·  Fatma Indriani</a:t>
            </a:r>
          </a:p>
        </p:txBody>
      </p:sp>
      <p:sp>
        <p:nvSpPr>
          <p:cNvPr id="8" name="TextBox 7"/>
          <p:cNvSpPr txBox="1"/>
          <p:nvPr/>
        </p:nvSpPr>
        <p:spPr>
          <a:xfrm>
            <a:off x="822960" y="3931920"/>
            <a:ext cx="10744200" cy="310896"/>
          </a:xfrm>
          <a:prstGeom prst="rect">
            <a:avLst/>
          </a:prstGeom>
          <a:noFill/>
        </p:spPr>
        <p:txBody>
          <a:bodyPr wrap="square" lIns="18288" rIns="18288" tIns="0" bIns="0">
            <a:spAutoFit/>
          </a:bodyPr>
          <a:lstStyle/>
          <a:p>
            <a:pPr algn="l">
              <a:spcBef>
                <a:spcPts val="0"/>
              </a:spcBef>
              <a:spcAft>
                <a:spcPts val="0"/>
              </a:spcAft>
            </a:pPr>
            <a:r>
              <a:rPr sz="1500" b="0">
                <a:solidFill>
                  <a:srgbClr val="5A6672"/>
                </a:solidFill>
                <a:latin typeface="Segoe UI"/>
              </a:rPr>
              <a:t>Naskah pra-cetak · 4 Agustus 2026</a:t>
            </a:r>
          </a:p>
        </p:txBody>
      </p:sp>
      <p:sp>
        <p:nvSpPr>
          <p:cNvPr id="9" name="Rounded Rectangle 8"/>
          <p:cNvSpPr/>
          <p:nvPr/>
        </p:nvSpPr>
        <p:spPr>
          <a:xfrm>
            <a:off x="731520" y="4617720"/>
            <a:ext cx="10744200" cy="1097280"/>
          </a:xfrm>
          <a:prstGeom prst="roundRect">
            <a:avLst/>
          </a:prstGeom>
          <a:solidFill>
            <a:srgbClr val="FDF6E6"/>
          </a:solidFill>
          <a:ln w="15875">
            <a:solidFill>
              <a:srgbClr val="D68910"/>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650" b="1">
                <a:solidFill>
                  <a:srgbClr val="222B35"/>
                </a:solidFill>
                <a:latin typeface="Segoe UI"/>
              </a:rPr>
              <a:t>Jawaban singkatnya: pada kondisi yang diuji, kanal depth belum menaikkan akurasi.</a:t>
            </a:r>
          </a:p>
          <a:p>
            <a:pPr algn="l">
              <a:spcBef>
                <a:spcPts val="0"/>
              </a:spcBef>
              <a:spcAft>
                <a:spcPts val="300"/>
              </a:spcAft>
            </a:pPr>
            <a:r>
              <a:rPr sz="1650" b="0">
                <a:solidFill>
                  <a:srgbClr val="222B35"/>
                </a:solidFill>
                <a:latin typeface="Segoe UI"/>
              </a:rPr>
              <a:t>Datanya juga belum cukup untuk menyimpulkan bahwa gagasan depth itu keliru.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LATAR</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Masalah di lapangan</a:t>
            </a:r>
          </a:p>
        </p:txBody>
      </p:sp>
      <p:sp>
        <p:nvSpPr>
          <p:cNvPr id="5" name="Rectangle 4"/>
          <p:cNvSpPr/>
          <p:nvPr/>
        </p:nvSpPr>
        <p:spPr>
          <a:xfrm>
            <a:off x="731520" y="1572768"/>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517904"/>
            <a:ext cx="10543032" cy="329184"/>
          </a:xfrm>
          <a:prstGeom prst="rect">
            <a:avLst/>
          </a:prstGeom>
          <a:noFill/>
        </p:spPr>
        <p:txBody>
          <a:bodyPr wrap="square" lIns="18288" rIns="18288" tIns="0" bIns="0">
            <a:spAutoFit/>
          </a:bodyPr>
          <a:lstStyle/>
          <a:p>
            <a:pPr algn="l">
              <a:spcBef>
                <a:spcPts val="0"/>
              </a:spcBef>
              <a:spcAft>
                <a:spcPts val="0"/>
              </a:spcAft>
            </a:pPr>
            <a:r>
              <a:rPr sz="1800" b="1">
                <a:solidFill>
                  <a:srgbClr val="1F3A5F"/>
                </a:solidFill>
                <a:latin typeface="Segoe UI"/>
              </a:rPr>
              <a:t>Kamera biasa merekam warna saja.</a:t>
            </a:r>
          </a:p>
        </p:txBody>
      </p:sp>
      <p:sp>
        <p:nvSpPr>
          <p:cNvPr id="7" name="TextBox 6"/>
          <p:cNvSpPr txBox="1"/>
          <p:nvPr/>
        </p:nvSpPr>
        <p:spPr>
          <a:xfrm>
            <a:off x="932688" y="1865376"/>
            <a:ext cx="10543032" cy="466344"/>
          </a:xfrm>
          <a:prstGeom prst="rect">
            <a:avLst/>
          </a:prstGeom>
          <a:noFill/>
        </p:spPr>
        <p:txBody>
          <a:bodyPr wrap="square" lIns="18288" rIns="18288" tIns="0" bIns="0">
            <a:spAutoFit/>
          </a:bodyPr>
          <a:lstStyle/>
          <a:p>
            <a:pPr algn="l">
              <a:spcBef>
                <a:spcPts val="0"/>
              </a:spcBef>
              <a:spcAft>
                <a:spcPts val="0"/>
              </a:spcAft>
            </a:pPr>
            <a:r>
              <a:rPr sz="1500" b="0">
                <a:solidFill>
                  <a:srgbClr val="5A6672"/>
                </a:solidFill>
                <a:latin typeface="Segoe UI"/>
              </a:rPr>
              <a:t>Satu foto terdiri atas tiga lapis, yaitu merah, hijau, dan biru.</a:t>
            </a:r>
          </a:p>
        </p:txBody>
      </p:sp>
      <p:sp>
        <p:nvSpPr>
          <p:cNvPr id="8" name="Rectangle 7"/>
          <p:cNvSpPr/>
          <p:nvPr/>
        </p:nvSpPr>
        <p:spPr>
          <a:xfrm>
            <a:off x="731520" y="2441448"/>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386584"/>
            <a:ext cx="10543032" cy="329184"/>
          </a:xfrm>
          <a:prstGeom prst="rect">
            <a:avLst/>
          </a:prstGeom>
          <a:noFill/>
        </p:spPr>
        <p:txBody>
          <a:bodyPr wrap="square" lIns="18288" rIns="18288" tIns="0" bIns="0">
            <a:spAutoFit/>
          </a:bodyPr>
          <a:lstStyle/>
          <a:p>
            <a:pPr algn="l">
              <a:spcBef>
                <a:spcPts val="0"/>
              </a:spcBef>
              <a:spcAft>
                <a:spcPts val="0"/>
              </a:spcAft>
            </a:pPr>
            <a:r>
              <a:rPr sz="1800" b="1">
                <a:solidFill>
                  <a:srgbClr val="1F3A5F"/>
                </a:solidFill>
                <a:latin typeface="Segoe UI"/>
              </a:rPr>
              <a:t>Dua tandan dapat berwarna mirip dan saling menutupi.</a:t>
            </a:r>
          </a:p>
        </p:txBody>
      </p:sp>
      <p:sp>
        <p:nvSpPr>
          <p:cNvPr id="10" name="TextBox 9"/>
          <p:cNvSpPr txBox="1"/>
          <p:nvPr/>
        </p:nvSpPr>
        <p:spPr>
          <a:xfrm>
            <a:off x="932688" y="2734056"/>
            <a:ext cx="10543032" cy="466344"/>
          </a:xfrm>
          <a:prstGeom prst="rect">
            <a:avLst/>
          </a:prstGeom>
          <a:noFill/>
        </p:spPr>
        <p:txBody>
          <a:bodyPr wrap="square" lIns="18288" rIns="18288" tIns="0" bIns="0">
            <a:spAutoFit/>
          </a:bodyPr>
          <a:lstStyle/>
          <a:p>
            <a:pPr algn="l">
              <a:spcBef>
                <a:spcPts val="0"/>
              </a:spcBef>
              <a:spcAft>
                <a:spcPts val="0"/>
              </a:spcAft>
            </a:pPr>
            <a:r>
              <a:rPr sz="1500" b="0">
                <a:solidFill>
                  <a:srgbClr val="5A6672"/>
                </a:solidFill>
                <a:latin typeface="Segoe UI"/>
              </a:rPr>
              <a:t>Detektor lalu menyatukan keduanya, atau melewatkan salah satunya.</a:t>
            </a:r>
          </a:p>
        </p:txBody>
      </p:sp>
      <p:sp>
        <p:nvSpPr>
          <p:cNvPr id="11" name="Rectangle 10"/>
          <p:cNvSpPr/>
          <p:nvPr/>
        </p:nvSpPr>
        <p:spPr>
          <a:xfrm>
            <a:off x="731520" y="3310127"/>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255263"/>
            <a:ext cx="10543032" cy="329184"/>
          </a:xfrm>
          <a:prstGeom prst="rect">
            <a:avLst/>
          </a:prstGeom>
          <a:noFill/>
        </p:spPr>
        <p:txBody>
          <a:bodyPr wrap="square" lIns="18288" rIns="18288" tIns="0" bIns="0">
            <a:spAutoFit/>
          </a:bodyPr>
          <a:lstStyle/>
          <a:p>
            <a:pPr algn="l">
              <a:spcBef>
                <a:spcPts val="0"/>
              </a:spcBef>
              <a:spcAft>
                <a:spcPts val="0"/>
              </a:spcAft>
            </a:pPr>
            <a:r>
              <a:rPr sz="1800" b="1">
                <a:solidFill>
                  <a:srgbClr val="1F3A5F"/>
                </a:solidFill>
                <a:latin typeface="Segoe UI"/>
              </a:rPr>
              <a:t>Tandan mentah kelas B4 paling sering luput.</a:t>
            </a:r>
          </a:p>
        </p:txBody>
      </p:sp>
      <p:sp>
        <p:nvSpPr>
          <p:cNvPr id="13" name="TextBox 12"/>
          <p:cNvSpPr txBox="1"/>
          <p:nvPr/>
        </p:nvSpPr>
        <p:spPr>
          <a:xfrm>
            <a:off x="932688" y="3602735"/>
            <a:ext cx="10543032" cy="466344"/>
          </a:xfrm>
          <a:prstGeom prst="rect">
            <a:avLst/>
          </a:prstGeom>
          <a:noFill/>
        </p:spPr>
        <p:txBody>
          <a:bodyPr wrap="square" lIns="18288" rIns="18288" tIns="0" bIns="0">
            <a:spAutoFit/>
          </a:bodyPr>
          <a:lstStyle/>
          <a:p>
            <a:pPr algn="l">
              <a:spcBef>
                <a:spcPts val="0"/>
              </a:spcBef>
              <a:spcAft>
                <a:spcPts val="0"/>
              </a:spcAft>
            </a:pPr>
            <a:r>
              <a:rPr sz="1500" b="0">
                <a:solidFill>
                  <a:srgbClr val="5A6672"/>
                </a:solidFill>
                <a:latin typeface="Segoe UI"/>
              </a:rPr>
              <a:t>Warnanya kehijauan gelap dan menyatu dengan pelepah.</a:t>
            </a:r>
          </a:p>
        </p:txBody>
      </p:sp>
      <p:sp>
        <p:nvSpPr>
          <p:cNvPr id="14" name="Rounded Rectangle 13"/>
          <p:cNvSpPr/>
          <p:nvPr/>
        </p:nvSpPr>
        <p:spPr>
          <a:xfrm>
            <a:off x="731520" y="4315968"/>
            <a:ext cx="10744200" cy="1207008"/>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750" b="1">
                <a:solidFill>
                  <a:srgbClr val="222B35"/>
                </a:solidFill>
                <a:latin typeface="Segoe UI"/>
              </a:rPr>
              <a:t>Kamera depth menambah satu lapis lagi, yaitu jarak ke setiap piksel.</a:t>
            </a:r>
          </a:p>
          <a:p>
            <a:pPr algn="l">
              <a:spcBef>
                <a:spcPts val="0"/>
              </a:spcBef>
              <a:spcAft>
                <a:spcPts val="300"/>
              </a:spcAft>
            </a:pPr>
            <a:r>
              <a:rPr sz="1750" b="0">
                <a:solidFill>
                  <a:srgbClr val="222B35"/>
                </a:solidFill>
                <a:latin typeface="Segoe UI"/>
              </a:rPr>
              <a:t>Dua tandan yang warnanya sama tetap berada pada jarak berbeda. Lapis jarak dapat memisahkan keduanya.</a:t>
            </a:r>
          </a:p>
        </p:txBody>
      </p:sp>
      <p:sp>
        <p:nvSpPr>
          <p:cNvPr id="15" name="TextBox 14"/>
          <p:cNvSpPr txBox="1"/>
          <p:nvPr/>
        </p:nvSpPr>
        <p:spPr>
          <a:xfrm>
            <a:off x="731520" y="5779008"/>
            <a:ext cx="9966960" cy="384048"/>
          </a:xfrm>
          <a:prstGeom prst="rect">
            <a:avLst/>
          </a:prstGeom>
          <a:noFill/>
        </p:spPr>
        <p:txBody>
          <a:bodyPr wrap="square" lIns="18288" rIns="18288" tIns="0" bIns="0">
            <a:spAutoFit/>
          </a:bodyPr>
          <a:lstStyle/>
          <a:p>
            <a:pPr algn="l">
              <a:spcBef>
                <a:spcPts val="0"/>
              </a:spcBef>
              <a:spcAft>
                <a:spcPts val="0"/>
              </a:spcAft>
            </a:pPr>
            <a:r>
              <a:rPr sz="1400" b="0">
                <a:solidFill>
                  <a:srgbClr val="5A6672"/>
                </a:solidFill>
                <a:latin typeface="Segoe UI"/>
              </a:rPr>
              <a:t>Kamera yang dipakai adalah Orbbec Gemini. Keluarannya satu nilai jarak per piksel.</a:t>
            </a:r>
          </a:p>
        </p:txBody>
      </p:sp>
      <p:sp>
        <p:nvSpPr>
          <p:cNvPr id="16" name="TextBox 15"/>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RUMUSAN MASALAH</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Satu pertanyaan yang ingin dijawab</a:t>
            </a:r>
          </a:p>
        </p:txBody>
      </p:sp>
      <p:sp>
        <p:nvSpPr>
          <p:cNvPr id="5" name="TextBox 4"/>
          <p:cNvSpPr txBox="1"/>
          <p:nvPr/>
        </p:nvSpPr>
        <p:spPr>
          <a:xfrm>
            <a:off x="731520" y="1517904"/>
            <a:ext cx="10744200" cy="585216"/>
          </a:xfrm>
          <a:prstGeom prst="rect">
            <a:avLst/>
          </a:prstGeom>
          <a:noFill/>
        </p:spPr>
        <p:txBody>
          <a:bodyPr wrap="square" lIns="18288" rIns="18288" tIns="0" bIns="0">
            <a:spAutoFit/>
          </a:bodyPr>
          <a:lstStyle/>
          <a:p>
            <a:pPr algn="l">
              <a:spcBef>
                <a:spcPts val="0"/>
              </a:spcBef>
              <a:spcAft>
                <a:spcPts val="0"/>
              </a:spcAft>
            </a:pPr>
            <a:r>
              <a:rPr sz="1700" b="0">
                <a:solidFill>
                  <a:srgbClr val="5A6672"/>
                </a:solidFill>
                <a:latin typeface="Segoe UI"/>
              </a:rPr>
              <a:t>Lapis jarak ditambahkan sebagai masukan keempat. Akurasi deteksi hanya punya tiga kemungkinan arah.</a:t>
            </a:r>
          </a:p>
        </p:txBody>
      </p:sp>
      <p:sp>
        <p:nvSpPr>
          <p:cNvPr id="6" name="Rounded Rectangle 5"/>
          <p:cNvSpPr/>
          <p:nvPr/>
        </p:nvSpPr>
        <p:spPr>
          <a:xfrm>
            <a:off x="731520" y="2267712"/>
            <a:ext cx="3246120" cy="1572768"/>
          </a:xfrm>
          <a:prstGeom prst="roundRect">
            <a:avLst/>
          </a:prstGeom>
          <a:solidFill>
            <a:srgbClr val="FFFFFF"/>
          </a:solidFill>
          <a:ln w="15875">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500"/>
              </a:spcAft>
            </a:pPr>
            <a:r>
              <a:rPr sz="2600" b="1">
                <a:solidFill>
                  <a:srgbClr val="2E8B8B"/>
                </a:solidFill>
                <a:latin typeface="Segoe UI"/>
              </a:rPr>
              <a:t>NAIK</a:t>
            </a:r>
          </a:p>
          <a:p>
            <a:pPr algn="ctr">
              <a:spcBef>
                <a:spcPts val="0"/>
              </a:spcBef>
              <a:spcAft>
                <a:spcPts val="100"/>
              </a:spcAft>
            </a:pPr>
            <a:r>
              <a:rPr sz="1500" b="0">
                <a:solidFill>
                  <a:srgbClr val="222B35"/>
                </a:solidFill>
                <a:latin typeface="Segoe UI"/>
              </a:rPr>
              <a:t>Depth membawa informasi</a:t>
            </a:r>
          </a:p>
          <a:p>
            <a:pPr algn="ctr">
              <a:spcBef>
                <a:spcPts val="0"/>
              </a:spcBef>
              <a:spcAft>
                <a:spcPts val="100"/>
              </a:spcAft>
            </a:pPr>
            <a:r>
              <a:rPr sz="1500" b="0">
                <a:solidFill>
                  <a:srgbClr val="222B35"/>
                </a:solidFill>
                <a:latin typeface="Segoe UI"/>
              </a:rPr>
              <a:t>yang berguna.</a:t>
            </a:r>
          </a:p>
        </p:txBody>
      </p:sp>
      <p:sp>
        <p:nvSpPr>
          <p:cNvPr id="7" name="Rounded Rectangle 6"/>
          <p:cNvSpPr/>
          <p:nvPr/>
        </p:nvSpPr>
        <p:spPr>
          <a:xfrm>
            <a:off x="4343400" y="2267712"/>
            <a:ext cx="3246120" cy="1572768"/>
          </a:xfrm>
          <a:prstGeom prst="roundRect">
            <a:avLst/>
          </a:prstGeom>
          <a:solidFill>
            <a:srgbClr val="FFFFFF"/>
          </a:solidFill>
          <a:ln w="15875">
            <a:solidFill>
              <a:srgbClr val="8A949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500"/>
              </a:spcAft>
            </a:pPr>
            <a:r>
              <a:rPr sz="2600" b="1">
                <a:solidFill>
                  <a:srgbClr val="8A949E"/>
                </a:solidFill>
                <a:latin typeface="Segoe UI"/>
              </a:rPr>
              <a:t>TETAP</a:t>
            </a:r>
          </a:p>
          <a:p>
            <a:pPr algn="ctr">
              <a:spcBef>
                <a:spcPts val="0"/>
              </a:spcBef>
              <a:spcAft>
                <a:spcPts val="100"/>
              </a:spcAft>
            </a:pPr>
            <a:r>
              <a:rPr sz="1500" b="0">
                <a:solidFill>
                  <a:srgbClr val="222B35"/>
                </a:solidFill>
                <a:latin typeface="Segoe UI"/>
              </a:rPr>
              <a:t>Depth tidak menambah</a:t>
            </a:r>
          </a:p>
          <a:p>
            <a:pPr algn="ctr">
              <a:spcBef>
                <a:spcPts val="0"/>
              </a:spcBef>
              <a:spcAft>
                <a:spcPts val="100"/>
              </a:spcAft>
            </a:pPr>
            <a:r>
              <a:rPr sz="1500" b="0">
                <a:solidFill>
                  <a:srgbClr val="222B35"/>
                </a:solidFill>
                <a:latin typeface="Segoe UI"/>
              </a:rPr>
              <a:t>apa pun.</a:t>
            </a:r>
          </a:p>
        </p:txBody>
      </p:sp>
      <p:sp>
        <p:nvSpPr>
          <p:cNvPr id="8" name="Rounded Rectangle 7"/>
          <p:cNvSpPr/>
          <p:nvPr/>
        </p:nvSpPr>
        <p:spPr>
          <a:xfrm>
            <a:off x="7955280" y="2267712"/>
            <a:ext cx="3246120" cy="1572768"/>
          </a:xfrm>
          <a:prstGeom prst="roundRect">
            <a:avLst/>
          </a:prstGeom>
          <a:solidFill>
            <a:srgbClr val="FFFFFF"/>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500"/>
              </a:spcAft>
            </a:pPr>
            <a:r>
              <a:rPr sz="2600" b="1">
                <a:solidFill>
                  <a:srgbClr val="C0392B"/>
                </a:solidFill>
                <a:latin typeface="Segoe UI"/>
              </a:rPr>
              <a:t>TURUN</a:t>
            </a:r>
          </a:p>
          <a:p>
            <a:pPr algn="ctr">
              <a:spcBef>
                <a:spcPts val="0"/>
              </a:spcBef>
              <a:spcAft>
                <a:spcPts val="100"/>
              </a:spcAft>
            </a:pPr>
            <a:r>
              <a:rPr sz="1500" b="0">
                <a:solidFill>
                  <a:srgbClr val="222B35"/>
                </a:solidFill>
                <a:latin typeface="Segoe UI"/>
              </a:rPr>
              <a:t>Depth menambah derau</a:t>
            </a:r>
          </a:p>
          <a:p>
            <a:pPr algn="ctr">
              <a:spcBef>
                <a:spcPts val="0"/>
              </a:spcBef>
              <a:spcAft>
                <a:spcPts val="100"/>
              </a:spcAft>
            </a:pPr>
            <a:r>
              <a:rPr sz="1500" b="0">
                <a:solidFill>
                  <a:srgbClr val="222B35"/>
                </a:solidFill>
                <a:latin typeface="Segoe UI"/>
              </a:rPr>
              <a:t>ke dalam masukan.</a:t>
            </a:r>
          </a:p>
        </p:txBody>
      </p:sp>
      <p:sp>
        <p:nvSpPr>
          <p:cNvPr id="9" name="Rounded Rectangle 8"/>
          <p:cNvSpPr/>
          <p:nvPr/>
        </p:nvSpPr>
        <p:spPr>
          <a:xfrm>
            <a:off x="731520" y="4224528"/>
            <a:ext cx="10744200" cy="841248"/>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750" b="1">
                <a:solidFill>
                  <a:srgbClr val="222B35"/>
                </a:solidFill>
                <a:latin typeface="Segoe UI"/>
              </a:rPr>
              <a:t>Kami menjawabnya dengan melatih detektor dengan dan tanpa lapis jarak, lalu membandingkan skornya pada uji yang sama persis.</a:t>
            </a:r>
          </a:p>
        </p:txBody>
      </p:sp>
      <p:sp>
        <p:nvSpPr>
          <p:cNvPr id="10" name="TextBox 9"/>
          <p:cNvSpPr txBox="1"/>
          <p:nvPr/>
        </p:nvSpPr>
        <p:spPr>
          <a:xfrm>
            <a:off x="731520" y="5285232"/>
            <a:ext cx="9966960" cy="731520"/>
          </a:xfrm>
          <a:prstGeom prst="rect">
            <a:avLst/>
          </a:prstGeom>
          <a:noFill/>
        </p:spPr>
        <p:txBody>
          <a:bodyPr wrap="square" lIns="18288" rIns="18288" tIns="0" bIns="0">
            <a:spAutoFit/>
          </a:bodyPr>
          <a:lstStyle/>
          <a:p>
            <a:pPr algn="l">
              <a:spcBef>
                <a:spcPts val="0"/>
              </a:spcBef>
              <a:spcAft>
                <a:spcPts val="0"/>
              </a:spcAft>
            </a:pPr>
            <a:r>
              <a:rPr sz="1400" b="0">
                <a:solidFill>
                  <a:srgbClr val="5A6672"/>
                </a:solidFill>
                <a:latin typeface="Segoe UI"/>
              </a:rPr>
              <a:t>Ukurannya adalah mAP50, yaitu rata-rata ketepatan deteksi pada seluruh kelas kematangan. Nilainya berkisar 0 sampai 1.</a:t>
            </a:r>
          </a:p>
        </p:txBody>
      </p:sp>
      <p:sp>
        <p:nvSpPr>
          <p:cNvPr id="11" name="TextBox 10"/>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METODE</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Bagaimana penelitian ini dijalankan</a:t>
            </a:r>
          </a:p>
        </p:txBody>
      </p:sp>
      <p:sp>
        <p:nvSpPr>
          <p:cNvPr id="5" name="TextBox 4"/>
          <p:cNvSpPr txBox="1"/>
          <p:nvPr/>
        </p:nvSpPr>
        <p:spPr>
          <a:xfrm>
            <a:off x="731520" y="1517904"/>
            <a:ext cx="10744200" cy="585216"/>
          </a:xfrm>
          <a:prstGeom prst="rect">
            <a:avLst/>
          </a:prstGeom>
          <a:noFill/>
        </p:spPr>
        <p:txBody>
          <a:bodyPr wrap="square" lIns="18288" rIns="18288" tIns="0" bIns="0">
            <a:spAutoFit/>
          </a:bodyPr>
          <a:lstStyle/>
          <a:p>
            <a:pPr algn="l">
              <a:spcBef>
                <a:spcPts val="0"/>
              </a:spcBef>
              <a:spcAft>
                <a:spcPts val="0"/>
              </a:spcAft>
            </a:pPr>
            <a:r>
              <a:rPr sz="1700" b="0">
                <a:solidFill>
                  <a:srgbClr val="5A6672"/>
                </a:solidFill>
                <a:latin typeface="Segoe UI"/>
              </a:rPr>
              <a:t>Setiap percobaan memegang satu hipotesis yang dapat dipatahkan, dan hasilnya dicatat pada log bernomor.</a:t>
            </a:r>
          </a:p>
        </p:txBody>
      </p:sp>
      <p:sp>
        <p:nvSpPr>
          <p:cNvPr id="6" name="Rectangle 5"/>
          <p:cNvSpPr/>
          <p:nvPr/>
        </p:nvSpPr>
        <p:spPr>
          <a:xfrm>
            <a:off x="731520" y="2212848"/>
            <a:ext cx="10744200" cy="74980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304288"/>
            <a:ext cx="3108960" cy="566927"/>
          </a:xfrm>
          <a:prstGeom prst="rect">
            <a:avLst/>
          </a:prstGeom>
          <a:noFill/>
        </p:spPr>
        <p:txBody>
          <a:bodyPr wrap="square" lIns="18288" rIns="18288" tIns="0" bIns="0">
            <a:spAutoFit/>
          </a:bodyPr>
          <a:lstStyle/>
          <a:p>
            <a:pPr algn="l">
              <a:spcBef>
                <a:spcPts val="0"/>
              </a:spcBef>
              <a:spcAft>
                <a:spcPts val="0"/>
              </a:spcAft>
            </a:pPr>
            <a:r>
              <a:rPr sz="1650" b="1">
                <a:solidFill>
                  <a:srgbClr val="1F3A5F"/>
                </a:solidFill>
                <a:latin typeface="Segoe UI"/>
              </a:rPr>
              <a:t>Satu hipotesis per percobaan</a:t>
            </a:r>
          </a:p>
        </p:txBody>
      </p:sp>
      <p:sp>
        <p:nvSpPr>
          <p:cNvPr id="8" name="TextBox 7"/>
          <p:cNvSpPr txBox="1"/>
          <p:nvPr/>
        </p:nvSpPr>
        <p:spPr>
          <a:xfrm>
            <a:off x="4133088" y="2304288"/>
            <a:ext cx="1691639" cy="566927"/>
          </a:xfrm>
          <a:prstGeom prst="rect">
            <a:avLst/>
          </a:prstGeom>
          <a:noFill/>
        </p:spPr>
        <p:txBody>
          <a:bodyPr wrap="square" lIns="18288" rIns="18288" tIns="0" bIns="0">
            <a:spAutoFit/>
          </a:bodyPr>
          <a:lstStyle/>
          <a:p>
            <a:pPr algn="l">
              <a:spcBef>
                <a:spcPts val="0"/>
              </a:spcBef>
              <a:spcAft>
                <a:spcPts val="0"/>
              </a:spcAft>
            </a:pPr>
            <a:r>
              <a:rPr sz="1450" b="1">
                <a:solidFill>
                  <a:srgbClr val="2E8B8B"/>
                </a:solidFill>
                <a:latin typeface="Segoe UI"/>
              </a:rPr>
              <a:t>32 percobaan</a:t>
            </a:r>
          </a:p>
        </p:txBody>
      </p:sp>
      <p:sp>
        <p:nvSpPr>
          <p:cNvPr id="9" name="TextBox 8"/>
          <p:cNvSpPr txBox="1"/>
          <p:nvPr/>
        </p:nvSpPr>
        <p:spPr>
          <a:xfrm>
            <a:off x="6007608" y="2304288"/>
            <a:ext cx="5394959" cy="566927"/>
          </a:xfrm>
          <a:prstGeom prst="rect">
            <a:avLst/>
          </a:prstGeom>
          <a:noFill/>
        </p:spPr>
        <p:txBody>
          <a:bodyPr wrap="square" lIns="18288" rIns="18288" tIns="0" bIns="0">
            <a:spAutoFit/>
          </a:bodyPr>
          <a:lstStyle/>
          <a:p>
            <a:pPr algn="l">
              <a:spcBef>
                <a:spcPts val="0"/>
              </a:spcBef>
              <a:spcAft>
                <a:spcPts val="0"/>
              </a:spcAft>
            </a:pPr>
            <a:r>
              <a:rPr sz="1450" b="0">
                <a:solidFill>
                  <a:srgbClr val="222B35"/>
                </a:solidFill>
                <a:latin typeface="Segoe UI"/>
              </a:rPr>
              <a:t>Setiap percobaan menjawab satu pertanyaan kecil.</a:t>
            </a:r>
          </a:p>
        </p:txBody>
      </p:sp>
      <p:sp>
        <p:nvSpPr>
          <p:cNvPr id="10" name="Rectangle 9"/>
          <p:cNvSpPr/>
          <p:nvPr/>
        </p:nvSpPr>
        <p:spPr>
          <a:xfrm>
            <a:off x="731520" y="3035808"/>
            <a:ext cx="1074420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127248"/>
            <a:ext cx="3108960" cy="566927"/>
          </a:xfrm>
          <a:prstGeom prst="rect">
            <a:avLst/>
          </a:prstGeom>
          <a:noFill/>
        </p:spPr>
        <p:txBody>
          <a:bodyPr wrap="square" lIns="18288" rIns="18288" tIns="0" bIns="0">
            <a:spAutoFit/>
          </a:bodyPr>
          <a:lstStyle/>
          <a:p>
            <a:pPr algn="l">
              <a:spcBef>
                <a:spcPts val="0"/>
              </a:spcBef>
              <a:spcAft>
                <a:spcPts val="0"/>
              </a:spcAft>
            </a:pPr>
            <a:r>
              <a:rPr sz="1650" b="1">
                <a:solidFill>
                  <a:srgbClr val="1F3A5F"/>
                </a:solidFill>
                <a:latin typeface="Segoe UI"/>
              </a:rPr>
              <a:t>Pemeriksaan sebelum simpulan</a:t>
            </a:r>
          </a:p>
        </p:txBody>
      </p:sp>
      <p:sp>
        <p:nvSpPr>
          <p:cNvPr id="12" name="TextBox 11"/>
          <p:cNvSpPr txBox="1"/>
          <p:nvPr/>
        </p:nvSpPr>
        <p:spPr>
          <a:xfrm>
            <a:off x="4133088" y="3127248"/>
            <a:ext cx="1691639" cy="566927"/>
          </a:xfrm>
          <a:prstGeom prst="rect">
            <a:avLst/>
          </a:prstGeom>
          <a:noFill/>
        </p:spPr>
        <p:txBody>
          <a:bodyPr wrap="square" lIns="18288" rIns="18288" tIns="0" bIns="0">
            <a:spAutoFit/>
          </a:bodyPr>
          <a:lstStyle/>
          <a:p>
            <a:pPr algn="l">
              <a:spcBef>
                <a:spcPts val="0"/>
              </a:spcBef>
              <a:spcAft>
                <a:spcPts val="0"/>
              </a:spcAft>
            </a:pPr>
            <a:r>
              <a:rPr sz="1450" b="1">
                <a:solidFill>
                  <a:srgbClr val="2E8B8B"/>
                </a:solidFill>
                <a:latin typeface="Segoe UI"/>
              </a:rPr>
              <a:t>9 pemeriksaan</a:t>
            </a:r>
          </a:p>
        </p:txBody>
      </p:sp>
      <p:sp>
        <p:nvSpPr>
          <p:cNvPr id="13" name="TextBox 12"/>
          <p:cNvSpPr txBox="1"/>
          <p:nvPr/>
        </p:nvSpPr>
        <p:spPr>
          <a:xfrm>
            <a:off x="6007608" y="3127248"/>
            <a:ext cx="5394959" cy="566927"/>
          </a:xfrm>
          <a:prstGeom prst="rect">
            <a:avLst/>
          </a:prstGeom>
          <a:noFill/>
        </p:spPr>
        <p:txBody>
          <a:bodyPr wrap="square" lIns="18288" rIns="18288" tIns="0" bIns="0">
            <a:spAutoFit/>
          </a:bodyPr>
          <a:lstStyle/>
          <a:p>
            <a:pPr algn="l">
              <a:spcBef>
                <a:spcPts val="0"/>
              </a:spcBef>
              <a:spcAft>
                <a:spcPts val="0"/>
              </a:spcAft>
            </a:pPr>
            <a:r>
              <a:rPr sz="1450" b="0">
                <a:solidFill>
                  <a:srgbClr val="222B35"/>
                </a:solidFill>
                <a:latin typeface="Segoe UI"/>
              </a:rPr>
              <a:t>Setiap lubang pada bukti ditutup lebih dahulu.</a:t>
            </a:r>
          </a:p>
        </p:txBody>
      </p:sp>
      <p:sp>
        <p:nvSpPr>
          <p:cNvPr id="14" name="Rectangle 13"/>
          <p:cNvSpPr/>
          <p:nvPr/>
        </p:nvSpPr>
        <p:spPr>
          <a:xfrm>
            <a:off x="731520" y="3858768"/>
            <a:ext cx="10744200" cy="74980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3950207"/>
            <a:ext cx="3108960" cy="566927"/>
          </a:xfrm>
          <a:prstGeom prst="rect">
            <a:avLst/>
          </a:prstGeom>
          <a:noFill/>
        </p:spPr>
        <p:txBody>
          <a:bodyPr wrap="square" lIns="18288" rIns="18288" tIns="0" bIns="0">
            <a:spAutoFit/>
          </a:bodyPr>
          <a:lstStyle/>
          <a:p>
            <a:pPr algn="l">
              <a:spcBef>
                <a:spcPts val="0"/>
              </a:spcBef>
              <a:spcAft>
                <a:spcPts val="0"/>
              </a:spcAft>
            </a:pPr>
            <a:r>
              <a:rPr sz="1650" b="1">
                <a:solidFill>
                  <a:srgbClr val="1F3A5F"/>
                </a:solidFill>
                <a:latin typeface="Segoe UI"/>
              </a:rPr>
              <a:t>Hasil negatif dicatat</a:t>
            </a:r>
          </a:p>
        </p:txBody>
      </p:sp>
      <p:sp>
        <p:nvSpPr>
          <p:cNvPr id="16" name="TextBox 15"/>
          <p:cNvSpPr txBox="1"/>
          <p:nvPr/>
        </p:nvSpPr>
        <p:spPr>
          <a:xfrm>
            <a:off x="4133088" y="3950207"/>
            <a:ext cx="1691639" cy="566927"/>
          </a:xfrm>
          <a:prstGeom prst="rect">
            <a:avLst/>
          </a:prstGeom>
          <a:noFill/>
        </p:spPr>
        <p:txBody>
          <a:bodyPr wrap="square" lIns="18288" rIns="18288" tIns="0" bIns="0">
            <a:spAutoFit/>
          </a:bodyPr>
          <a:lstStyle/>
          <a:p>
            <a:pPr algn="l">
              <a:spcBef>
                <a:spcPts val="0"/>
              </a:spcBef>
              <a:spcAft>
                <a:spcPts val="0"/>
              </a:spcAft>
            </a:pPr>
            <a:r>
              <a:rPr sz="1450" b="1">
                <a:solidFill>
                  <a:srgbClr val="2E8B8B"/>
                </a:solidFill>
                <a:latin typeface="Segoe UI"/>
              </a:rPr>
              <a:t>wajib</a:t>
            </a:r>
          </a:p>
        </p:txBody>
      </p:sp>
      <p:sp>
        <p:nvSpPr>
          <p:cNvPr id="17" name="TextBox 16"/>
          <p:cNvSpPr txBox="1"/>
          <p:nvPr/>
        </p:nvSpPr>
        <p:spPr>
          <a:xfrm>
            <a:off x="6007608" y="3950207"/>
            <a:ext cx="5394959" cy="566927"/>
          </a:xfrm>
          <a:prstGeom prst="rect">
            <a:avLst/>
          </a:prstGeom>
          <a:noFill/>
        </p:spPr>
        <p:txBody>
          <a:bodyPr wrap="square" lIns="18288" rIns="18288" tIns="0" bIns="0">
            <a:spAutoFit/>
          </a:bodyPr>
          <a:lstStyle/>
          <a:p>
            <a:pPr algn="l">
              <a:spcBef>
                <a:spcPts val="0"/>
              </a:spcBef>
              <a:spcAft>
                <a:spcPts val="0"/>
              </a:spcAft>
            </a:pPr>
            <a:r>
              <a:rPr sz="1450" b="0">
                <a:solidFill>
                  <a:srgbClr val="222B35"/>
                </a:solidFill>
                <a:latin typeface="Segoe UI"/>
              </a:rPr>
              <a:t>Percobaan yang gagal ditulis sama seperti yang berhasil.</a:t>
            </a:r>
          </a:p>
        </p:txBody>
      </p:sp>
      <p:sp>
        <p:nvSpPr>
          <p:cNvPr id="18" name="Rectangle 17"/>
          <p:cNvSpPr/>
          <p:nvPr/>
        </p:nvSpPr>
        <p:spPr>
          <a:xfrm>
            <a:off x="731520" y="4681728"/>
            <a:ext cx="1074420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773168"/>
            <a:ext cx="3108960" cy="566927"/>
          </a:xfrm>
          <a:prstGeom prst="rect">
            <a:avLst/>
          </a:prstGeom>
          <a:noFill/>
        </p:spPr>
        <p:txBody>
          <a:bodyPr wrap="square" lIns="18288" rIns="18288" tIns="0" bIns="0">
            <a:spAutoFit/>
          </a:bodyPr>
          <a:lstStyle/>
          <a:p>
            <a:pPr algn="l">
              <a:spcBef>
                <a:spcPts val="0"/>
              </a:spcBef>
              <a:spcAft>
                <a:spcPts val="0"/>
              </a:spcAft>
            </a:pPr>
            <a:r>
              <a:rPr sz="1650" b="1">
                <a:solidFill>
                  <a:srgbClr val="1F3A5F"/>
                </a:solidFill>
                <a:latin typeface="Segoe UI"/>
              </a:rPr>
              <a:t>Hasil cacat ditarik</a:t>
            </a:r>
          </a:p>
        </p:txBody>
      </p:sp>
      <p:sp>
        <p:nvSpPr>
          <p:cNvPr id="20" name="TextBox 19"/>
          <p:cNvSpPr txBox="1"/>
          <p:nvPr/>
        </p:nvSpPr>
        <p:spPr>
          <a:xfrm>
            <a:off x="4133088" y="4773168"/>
            <a:ext cx="1691639" cy="566927"/>
          </a:xfrm>
          <a:prstGeom prst="rect">
            <a:avLst/>
          </a:prstGeom>
          <a:noFill/>
        </p:spPr>
        <p:txBody>
          <a:bodyPr wrap="square" lIns="18288" rIns="18288" tIns="0" bIns="0">
            <a:spAutoFit/>
          </a:bodyPr>
          <a:lstStyle/>
          <a:p>
            <a:pPr algn="l">
              <a:spcBef>
                <a:spcPts val="0"/>
              </a:spcBef>
              <a:spcAft>
                <a:spcPts val="0"/>
              </a:spcAft>
            </a:pPr>
            <a:r>
              <a:rPr sz="1450" b="1">
                <a:solidFill>
                  <a:srgbClr val="2E8B8B"/>
                </a:solidFill>
                <a:latin typeface="Segoe UI"/>
              </a:rPr>
              <a:t>berlaku</a:t>
            </a:r>
          </a:p>
        </p:txBody>
      </p:sp>
      <p:sp>
        <p:nvSpPr>
          <p:cNvPr id="21" name="TextBox 20"/>
          <p:cNvSpPr txBox="1"/>
          <p:nvPr/>
        </p:nvSpPr>
        <p:spPr>
          <a:xfrm>
            <a:off x="6007608" y="4773168"/>
            <a:ext cx="5394959" cy="566927"/>
          </a:xfrm>
          <a:prstGeom prst="rect">
            <a:avLst/>
          </a:prstGeom>
          <a:noFill/>
        </p:spPr>
        <p:txBody>
          <a:bodyPr wrap="square" lIns="18288" rIns="18288" tIns="0" bIns="0">
            <a:spAutoFit/>
          </a:bodyPr>
          <a:lstStyle/>
          <a:p>
            <a:pPr algn="l">
              <a:spcBef>
                <a:spcPts val="0"/>
              </a:spcBef>
              <a:spcAft>
                <a:spcPts val="0"/>
              </a:spcAft>
            </a:pPr>
            <a:r>
              <a:rPr sz="1450" b="0">
                <a:solidFill>
                  <a:srgbClr val="222B35"/>
                </a:solidFill>
                <a:latin typeface="Segoe UI"/>
              </a:rPr>
              <a:t>Angka positif pertama dibatalkan setelah galat ditemukan.</a:t>
            </a:r>
          </a:p>
        </p:txBody>
      </p:sp>
      <p:sp>
        <p:nvSpPr>
          <p:cNvPr id="22" name="TextBox 21"/>
          <p:cNvSpPr txBox="1"/>
          <p:nvPr/>
        </p:nvSpPr>
        <p:spPr>
          <a:xfrm>
            <a:off x="731520" y="5669280"/>
            <a:ext cx="9966960" cy="566928"/>
          </a:xfrm>
          <a:prstGeom prst="rect">
            <a:avLst/>
          </a:prstGeom>
          <a:noFill/>
        </p:spPr>
        <p:txBody>
          <a:bodyPr wrap="square" lIns="18288" rIns="18288" tIns="0" bIns="0">
            <a:spAutoFit/>
          </a:bodyPr>
          <a:lstStyle/>
          <a:p>
            <a:pPr algn="l">
              <a:spcBef>
                <a:spcPts val="0"/>
              </a:spcBef>
              <a:spcAft>
                <a:spcPts val="0"/>
              </a:spcAft>
            </a:pPr>
            <a:r>
              <a:rPr sz="1400" b="0">
                <a:solidFill>
                  <a:srgbClr val="5A6672"/>
                </a:solidFill>
                <a:latin typeface="Segoe UI"/>
              </a:rPr>
              <a:t>Percobaannya dijalankan secara otomatis. Penomoran menjaga arah kerjanya supaya tidak melebar.</a:t>
            </a:r>
          </a:p>
        </p:txBody>
      </p:sp>
      <p:sp>
        <p:nvSpPr>
          <p:cNvPr id="23" name="TextBox 22"/>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PETA PERCOBAAN</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Delapan percobaan yang paling menentukan</a:t>
            </a:r>
          </a:p>
        </p:txBody>
      </p:sp>
      <p:sp>
        <p:nvSpPr>
          <p:cNvPr id="5" name="TextBox 4"/>
          <p:cNvSpPr txBox="1"/>
          <p:nvPr/>
        </p:nvSpPr>
        <p:spPr>
          <a:xfrm>
            <a:off x="731520" y="1444752"/>
            <a:ext cx="10744200" cy="365760"/>
          </a:xfrm>
          <a:prstGeom prst="rect">
            <a:avLst/>
          </a:prstGeom>
          <a:noFill/>
        </p:spPr>
        <p:txBody>
          <a:bodyPr wrap="square" lIns="18288" rIns="18288" tIns="0" bIns="0">
            <a:spAutoFit/>
          </a:bodyPr>
          <a:lstStyle/>
          <a:p>
            <a:pPr algn="l">
              <a:spcBef>
                <a:spcPts val="0"/>
              </a:spcBef>
              <a:spcAft>
                <a:spcPts val="0"/>
              </a:spcAft>
            </a:pPr>
            <a:r>
              <a:rPr sz="1550" b="0">
                <a:solidFill>
                  <a:srgbClr val="5A6672"/>
                </a:solidFill>
                <a:latin typeface="Segoe UI"/>
              </a:rPr>
              <a:t>Delapan percobaan ini membawa hasil utamanya. Sisanya menutup penjelasan alternatif.</a:t>
            </a:r>
          </a:p>
        </p:txBody>
      </p:sp>
      <p:sp>
        <p:nvSpPr>
          <p:cNvPr id="6" name="Rectangle 5"/>
          <p:cNvSpPr/>
          <p:nvPr/>
        </p:nvSpPr>
        <p:spPr>
          <a:xfrm>
            <a:off x="731520" y="1938528"/>
            <a:ext cx="10744200" cy="4114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020824"/>
            <a:ext cx="2834639" cy="246888"/>
          </a:xfrm>
          <a:prstGeom prst="rect">
            <a:avLst/>
          </a:prstGeom>
          <a:noFill/>
        </p:spPr>
        <p:txBody>
          <a:bodyPr wrap="square" lIns="18288" rIns="18288" tIns="0" bIns="0">
            <a:spAutoFit/>
          </a:bodyPr>
          <a:lstStyle/>
          <a:p>
            <a:pPr algn="l">
              <a:spcBef>
                <a:spcPts val="0"/>
              </a:spcBef>
              <a:spcAft>
                <a:spcPts val="0"/>
              </a:spcAft>
            </a:pPr>
            <a:r>
              <a:rPr sz="1300" b="1">
                <a:solidFill>
                  <a:srgbClr val="FFFFFF"/>
                </a:solidFill>
                <a:latin typeface="Segoe UI"/>
              </a:rPr>
              <a:t>Nama percobaan</a:t>
            </a:r>
          </a:p>
        </p:txBody>
      </p:sp>
      <p:sp>
        <p:nvSpPr>
          <p:cNvPr id="8" name="TextBox 7"/>
          <p:cNvSpPr txBox="1"/>
          <p:nvPr/>
        </p:nvSpPr>
        <p:spPr>
          <a:xfrm>
            <a:off x="3858768" y="2020824"/>
            <a:ext cx="4297680" cy="246888"/>
          </a:xfrm>
          <a:prstGeom prst="rect">
            <a:avLst/>
          </a:prstGeom>
          <a:noFill/>
        </p:spPr>
        <p:txBody>
          <a:bodyPr wrap="square" lIns="18288" rIns="18288" tIns="0" bIns="0">
            <a:spAutoFit/>
          </a:bodyPr>
          <a:lstStyle/>
          <a:p>
            <a:pPr algn="l">
              <a:spcBef>
                <a:spcPts val="0"/>
              </a:spcBef>
              <a:spcAft>
                <a:spcPts val="0"/>
              </a:spcAft>
            </a:pPr>
            <a:r>
              <a:rPr sz="1300" b="1">
                <a:solidFill>
                  <a:srgbClr val="FFFFFF"/>
                </a:solidFill>
                <a:latin typeface="Segoe UI"/>
              </a:rPr>
              <a:t>Pertanyaannya</a:t>
            </a:r>
          </a:p>
        </p:txBody>
      </p:sp>
      <p:sp>
        <p:nvSpPr>
          <p:cNvPr id="9" name="TextBox 8"/>
          <p:cNvSpPr txBox="1"/>
          <p:nvPr/>
        </p:nvSpPr>
        <p:spPr>
          <a:xfrm>
            <a:off x="8339327" y="2020824"/>
            <a:ext cx="3063239" cy="246888"/>
          </a:xfrm>
          <a:prstGeom prst="rect">
            <a:avLst/>
          </a:prstGeom>
          <a:noFill/>
        </p:spPr>
        <p:txBody>
          <a:bodyPr wrap="square" lIns="18288" rIns="18288" tIns="0" bIns="0">
            <a:spAutoFit/>
          </a:bodyPr>
          <a:lstStyle/>
          <a:p>
            <a:pPr algn="l">
              <a:spcBef>
                <a:spcPts val="0"/>
              </a:spcBef>
              <a:spcAft>
                <a:spcPts val="0"/>
              </a:spcAft>
            </a:pPr>
            <a:r>
              <a:rPr sz="1300" b="1">
                <a:solidFill>
                  <a:srgbClr val="FFFFFF"/>
                </a:solidFill>
                <a:latin typeface="Segoe UI"/>
              </a:rPr>
              <a:t>Hasilnya</a:t>
            </a:r>
          </a:p>
        </p:txBody>
      </p:sp>
      <p:sp>
        <p:nvSpPr>
          <p:cNvPr id="10" name="Rectangle 9"/>
          <p:cNvSpPr/>
          <p:nvPr/>
        </p:nvSpPr>
        <p:spPr>
          <a:xfrm>
            <a:off x="731520" y="2436876"/>
            <a:ext cx="10744200" cy="46634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528316"/>
            <a:ext cx="2834639" cy="283464"/>
          </a:xfrm>
          <a:prstGeom prst="rect">
            <a:avLst/>
          </a:prstGeom>
          <a:noFill/>
        </p:spPr>
        <p:txBody>
          <a:bodyPr wrap="square" lIns="18288" rIns="18288" tIns="0" bIns="0">
            <a:spAutoFit/>
          </a:bodyPr>
          <a:lstStyle/>
          <a:p>
            <a:pPr algn="l">
              <a:spcBef>
                <a:spcPts val="0"/>
              </a:spcBef>
              <a:spcAft>
                <a:spcPts val="0"/>
              </a:spcAft>
            </a:pPr>
            <a:r>
              <a:rPr sz="1400" b="1">
                <a:solidFill>
                  <a:srgbClr val="1F3A5F"/>
                </a:solidFill>
                <a:latin typeface="Segoe UI"/>
              </a:rPr>
              <a:t>Uji konsistensi label</a:t>
            </a:r>
          </a:p>
        </p:txBody>
      </p:sp>
      <p:sp>
        <p:nvSpPr>
          <p:cNvPr id="12" name="TextBox 11"/>
          <p:cNvSpPr txBox="1"/>
          <p:nvPr/>
        </p:nvSpPr>
        <p:spPr>
          <a:xfrm>
            <a:off x="3858768" y="2528316"/>
            <a:ext cx="4297680" cy="283464"/>
          </a:xfrm>
          <a:prstGeom prst="rect">
            <a:avLst/>
          </a:prstGeom>
          <a:noFill/>
        </p:spPr>
        <p:txBody>
          <a:bodyPr wrap="square" lIns="18288" rIns="18288" tIns="0" bIns="0">
            <a:spAutoFit/>
          </a:bodyPr>
          <a:lstStyle/>
          <a:p>
            <a:pPr algn="l">
              <a:spcBef>
                <a:spcPts val="0"/>
              </a:spcBef>
              <a:spcAft>
                <a:spcPts val="0"/>
              </a:spcAft>
            </a:pPr>
            <a:r>
              <a:rPr sz="1250" b="0">
                <a:solidFill>
                  <a:srgbClr val="222B35"/>
                </a:solidFill>
                <a:latin typeface="Segoe UI"/>
              </a:rPr>
              <a:t>Apakah label kematangan konsisten?</a:t>
            </a:r>
          </a:p>
        </p:txBody>
      </p:sp>
      <p:sp>
        <p:nvSpPr>
          <p:cNvPr id="13" name="TextBox 12"/>
          <p:cNvSpPr txBox="1"/>
          <p:nvPr/>
        </p:nvSpPr>
        <p:spPr>
          <a:xfrm>
            <a:off x="8339327" y="2528316"/>
            <a:ext cx="3063239" cy="283464"/>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Tidak. Labelnya bersih.</a:t>
            </a:r>
          </a:p>
        </p:txBody>
      </p:sp>
      <p:sp>
        <p:nvSpPr>
          <p:cNvPr id="14" name="Rectangle 13"/>
          <p:cNvSpPr/>
          <p:nvPr/>
        </p:nvSpPr>
        <p:spPr>
          <a:xfrm>
            <a:off x="731520" y="2935224"/>
            <a:ext cx="1074420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3026664"/>
            <a:ext cx="2834639" cy="283464"/>
          </a:xfrm>
          <a:prstGeom prst="rect">
            <a:avLst/>
          </a:prstGeom>
          <a:noFill/>
        </p:spPr>
        <p:txBody>
          <a:bodyPr wrap="square" lIns="18288" rIns="18288" tIns="0" bIns="0">
            <a:spAutoFit/>
          </a:bodyPr>
          <a:lstStyle/>
          <a:p>
            <a:pPr algn="l">
              <a:spcBef>
                <a:spcPts val="0"/>
              </a:spcBef>
              <a:spcAft>
                <a:spcPts val="0"/>
              </a:spcAft>
            </a:pPr>
            <a:r>
              <a:rPr sz="1400" b="1">
                <a:solidFill>
                  <a:srgbClr val="1F3A5F"/>
                </a:solidFill>
                <a:latin typeface="Segoe UI"/>
              </a:rPr>
              <a:t>Uji depth tiruan</a:t>
            </a:r>
          </a:p>
        </p:txBody>
      </p:sp>
      <p:sp>
        <p:nvSpPr>
          <p:cNvPr id="16" name="TextBox 15"/>
          <p:cNvSpPr txBox="1"/>
          <p:nvPr/>
        </p:nvSpPr>
        <p:spPr>
          <a:xfrm>
            <a:off x="3858768" y="3026664"/>
            <a:ext cx="4297680" cy="283464"/>
          </a:xfrm>
          <a:prstGeom prst="rect">
            <a:avLst/>
          </a:prstGeom>
          <a:noFill/>
        </p:spPr>
        <p:txBody>
          <a:bodyPr wrap="square" lIns="18288" rIns="18288" tIns="0" bIns="0">
            <a:spAutoFit/>
          </a:bodyPr>
          <a:lstStyle/>
          <a:p>
            <a:pPr algn="l">
              <a:spcBef>
                <a:spcPts val="0"/>
              </a:spcBef>
              <a:spcAft>
                <a:spcPts val="0"/>
              </a:spcAft>
            </a:pPr>
            <a:r>
              <a:rPr sz="1250" b="0">
                <a:solidFill>
                  <a:srgbClr val="222B35"/>
                </a:solidFill>
                <a:latin typeface="Segoe UI"/>
              </a:rPr>
              <a:t>Dapatkah jarak ditebak dari foto biasa?</a:t>
            </a:r>
          </a:p>
        </p:txBody>
      </p:sp>
      <p:sp>
        <p:nvSpPr>
          <p:cNvPr id="17" name="TextBox 16"/>
          <p:cNvSpPr txBox="1"/>
          <p:nvPr/>
        </p:nvSpPr>
        <p:spPr>
          <a:xfrm>
            <a:off x="8339327" y="3026664"/>
            <a:ext cx="3063239" cy="283464"/>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Gagal. Kontrasnya lemah.</a:t>
            </a:r>
          </a:p>
        </p:txBody>
      </p:sp>
      <p:sp>
        <p:nvSpPr>
          <p:cNvPr id="18" name="Rectangle 17"/>
          <p:cNvSpPr/>
          <p:nvPr/>
        </p:nvSpPr>
        <p:spPr>
          <a:xfrm>
            <a:off x="731520" y="3433572"/>
            <a:ext cx="10744200" cy="46634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525012"/>
            <a:ext cx="2834639" cy="283464"/>
          </a:xfrm>
          <a:prstGeom prst="rect">
            <a:avLst/>
          </a:prstGeom>
          <a:noFill/>
        </p:spPr>
        <p:txBody>
          <a:bodyPr wrap="square" lIns="18288" rIns="18288" tIns="0" bIns="0">
            <a:spAutoFit/>
          </a:bodyPr>
          <a:lstStyle/>
          <a:p>
            <a:pPr algn="l">
              <a:spcBef>
                <a:spcPts val="0"/>
              </a:spcBef>
              <a:spcAft>
                <a:spcPts val="0"/>
              </a:spcAft>
            </a:pPr>
            <a:r>
              <a:rPr sz="1400" b="1">
                <a:solidFill>
                  <a:srgbClr val="1F3A5F"/>
                </a:solidFill>
                <a:latin typeface="Segoe UI"/>
              </a:rPr>
              <a:t>Uji penyebab B4 sulit</a:t>
            </a:r>
          </a:p>
        </p:txBody>
      </p:sp>
      <p:sp>
        <p:nvSpPr>
          <p:cNvPr id="20" name="TextBox 19"/>
          <p:cNvSpPr txBox="1"/>
          <p:nvPr/>
        </p:nvSpPr>
        <p:spPr>
          <a:xfrm>
            <a:off x="3858768" y="3525012"/>
            <a:ext cx="4297680" cy="283464"/>
          </a:xfrm>
          <a:prstGeom prst="rect">
            <a:avLst/>
          </a:prstGeom>
          <a:noFill/>
        </p:spPr>
        <p:txBody>
          <a:bodyPr wrap="square" lIns="18288" rIns="18288" tIns="0" bIns="0">
            <a:spAutoFit/>
          </a:bodyPr>
          <a:lstStyle/>
          <a:p>
            <a:pPr algn="l">
              <a:spcBef>
                <a:spcPts val="0"/>
              </a:spcBef>
              <a:spcAft>
                <a:spcPts val="0"/>
              </a:spcAft>
            </a:pPr>
            <a:r>
              <a:rPr sz="1250" b="0">
                <a:solidFill>
                  <a:srgbClr val="222B35"/>
                </a:solidFill>
                <a:latin typeface="Segoe UI"/>
              </a:rPr>
              <a:t>Mengapa tandan mentah sering luput?</a:t>
            </a:r>
          </a:p>
        </p:txBody>
      </p:sp>
      <p:sp>
        <p:nvSpPr>
          <p:cNvPr id="21" name="TextBox 20"/>
          <p:cNvSpPr txBox="1"/>
          <p:nvPr/>
        </p:nvSpPr>
        <p:spPr>
          <a:xfrm>
            <a:off x="8339327" y="3525012"/>
            <a:ext cx="3063239" cy="283464"/>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Karena kontras, bukan desakan.</a:t>
            </a:r>
          </a:p>
        </p:txBody>
      </p:sp>
      <p:sp>
        <p:nvSpPr>
          <p:cNvPr id="22" name="Rectangle 21"/>
          <p:cNvSpPr/>
          <p:nvPr/>
        </p:nvSpPr>
        <p:spPr>
          <a:xfrm>
            <a:off x="731520" y="3931920"/>
            <a:ext cx="1074420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023359"/>
            <a:ext cx="2834639" cy="283464"/>
          </a:xfrm>
          <a:prstGeom prst="rect">
            <a:avLst/>
          </a:prstGeom>
          <a:noFill/>
        </p:spPr>
        <p:txBody>
          <a:bodyPr wrap="square" lIns="18288" rIns="18288" tIns="0" bIns="0">
            <a:spAutoFit/>
          </a:bodyPr>
          <a:lstStyle/>
          <a:p>
            <a:pPr algn="l">
              <a:spcBef>
                <a:spcPts val="0"/>
              </a:spcBef>
              <a:spcAft>
                <a:spcPts val="0"/>
              </a:spcAft>
            </a:pPr>
            <a:r>
              <a:rPr sz="1400" b="1">
                <a:solidFill>
                  <a:srgbClr val="1F3A5F"/>
                </a:solidFill>
                <a:latin typeface="Segoe UI"/>
              </a:rPr>
              <a:t>Adu detektor warna</a:t>
            </a:r>
          </a:p>
        </p:txBody>
      </p:sp>
      <p:sp>
        <p:nvSpPr>
          <p:cNvPr id="24" name="TextBox 23"/>
          <p:cNvSpPr txBox="1"/>
          <p:nvPr/>
        </p:nvSpPr>
        <p:spPr>
          <a:xfrm>
            <a:off x="3858768" y="4023359"/>
            <a:ext cx="4297680" cy="283464"/>
          </a:xfrm>
          <a:prstGeom prst="rect">
            <a:avLst/>
          </a:prstGeom>
          <a:noFill/>
        </p:spPr>
        <p:txBody>
          <a:bodyPr wrap="square" lIns="18288" rIns="18288" tIns="0" bIns="0">
            <a:spAutoFit/>
          </a:bodyPr>
          <a:lstStyle/>
          <a:p>
            <a:pPr algn="l">
              <a:spcBef>
                <a:spcPts val="0"/>
              </a:spcBef>
              <a:spcAft>
                <a:spcPts val="0"/>
              </a:spcAft>
            </a:pPr>
            <a:r>
              <a:rPr sz="1250" b="0">
                <a:solidFill>
                  <a:srgbClr val="222B35"/>
                </a:solidFill>
                <a:latin typeface="Segoe UI"/>
              </a:rPr>
              <a:t>Detektor RGB mana yang jadi pembanding?</a:t>
            </a:r>
          </a:p>
        </p:txBody>
      </p:sp>
      <p:sp>
        <p:nvSpPr>
          <p:cNvPr id="25" name="TextBox 24"/>
          <p:cNvSpPr txBox="1"/>
          <p:nvPr/>
        </p:nvSpPr>
        <p:spPr>
          <a:xfrm>
            <a:off x="8339327" y="4023359"/>
            <a:ext cx="3063239" cy="283464"/>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RF-DETR-L, mAP50 0,6038.</a:t>
            </a:r>
          </a:p>
        </p:txBody>
      </p:sp>
      <p:sp>
        <p:nvSpPr>
          <p:cNvPr id="26" name="Rectangle 25"/>
          <p:cNvSpPr/>
          <p:nvPr/>
        </p:nvSpPr>
        <p:spPr>
          <a:xfrm>
            <a:off x="731520" y="4430268"/>
            <a:ext cx="10744200" cy="46634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4521707"/>
            <a:ext cx="2834639" cy="283464"/>
          </a:xfrm>
          <a:prstGeom prst="rect">
            <a:avLst/>
          </a:prstGeom>
          <a:noFill/>
        </p:spPr>
        <p:txBody>
          <a:bodyPr wrap="square" lIns="18288" rIns="18288" tIns="0" bIns="0">
            <a:spAutoFit/>
          </a:bodyPr>
          <a:lstStyle/>
          <a:p>
            <a:pPr algn="l">
              <a:spcBef>
                <a:spcPts val="0"/>
              </a:spcBef>
              <a:spcAft>
                <a:spcPts val="0"/>
              </a:spcAft>
            </a:pPr>
            <a:r>
              <a:rPr sz="1400" b="1">
                <a:solidFill>
                  <a:srgbClr val="1F3A5F"/>
                </a:solidFill>
                <a:latin typeface="Segoe UI"/>
              </a:rPr>
              <a:t>Audit berkas sensor</a:t>
            </a:r>
          </a:p>
        </p:txBody>
      </p:sp>
      <p:sp>
        <p:nvSpPr>
          <p:cNvPr id="28" name="TextBox 27"/>
          <p:cNvSpPr txBox="1"/>
          <p:nvPr/>
        </p:nvSpPr>
        <p:spPr>
          <a:xfrm>
            <a:off x="3858768" y="4521707"/>
            <a:ext cx="4297680" cy="283464"/>
          </a:xfrm>
          <a:prstGeom prst="rect">
            <a:avLst/>
          </a:prstGeom>
          <a:noFill/>
        </p:spPr>
        <p:txBody>
          <a:bodyPr wrap="square" lIns="18288" rIns="18288" tIns="0" bIns="0">
            <a:spAutoFit/>
          </a:bodyPr>
          <a:lstStyle/>
          <a:p>
            <a:pPr algn="l">
              <a:spcBef>
                <a:spcPts val="0"/>
              </a:spcBef>
              <a:spcAft>
                <a:spcPts val="0"/>
              </a:spcAft>
            </a:pPr>
            <a:r>
              <a:rPr sz="1250" b="0">
                <a:solidFill>
                  <a:srgbClr val="222B35"/>
                </a:solidFill>
                <a:latin typeface="Segoe UI"/>
              </a:rPr>
              <a:t>Apakah berkas depth sesuai metadatanya?</a:t>
            </a:r>
          </a:p>
        </p:txBody>
      </p:sp>
      <p:sp>
        <p:nvSpPr>
          <p:cNvPr id="29" name="TextBox 28"/>
          <p:cNvSpPr txBox="1"/>
          <p:nvPr/>
        </p:nvSpPr>
        <p:spPr>
          <a:xfrm>
            <a:off x="8339327" y="4521707"/>
            <a:ext cx="3063239" cy="283464"/>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Tidak. Lima galat ditemukan.</a:t>
            </a:r>
          </a:p>
        </p:txBody>
      </p:sp>
      <p:sp>
        <p:nvSpPr>
          <p:cNvPr id="30" name="Rectangle 29"/>
          <p:cNvSpPr/>
          <p:nvPr/>
        </p:nvSpPr>
        <p:spPr>
          <a:xfrm>
            <a:off x="731520" y="4928616"/>
            <a:ext cx="1074420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5020055"/>
            <a:ext cx="2834639" cy="283464"/>
          </a:xfrm>
          <a:prstGeom prst="rect">
            <a:avLst/>
          </a:prstGeom>
          <a:noFill/>
        </p:spPr>
        <p:txBody>
          <a:bodyPr wrap="square" lIns="18288" rIns="18288" tIns="0" bIns="0">
            <a:spAutoFit/>
          </a:bodyPr>
          <a:lstStyle/>
          <a:p>
            <a:pPr algn="l">
              <a:spcBef>
                <a:spcPts val="0"/>
              </a:spcBef>
              <a:spcAft>
                <a:spcPts val="0"/>
              </a:spcAft>
            </a:pPr>
            <a:r>
              <a:rPr sz="1400" b="1">
                <a:solidFill>
                  <a:srgbClr val="1F3A5F"/>
                </a:solidFill>
                <a:latin typeface="Segoe UI"/>
              </a:rPr>
              <a:t>Uji kesamaan alat ukur</a:t>
            </a:r>
          </a:p>
        </p:txBody>
      </p:sp>
      <p:sp>
        <p:nvSpPr>
          <p:cNvPr id="32" name="TextBox 31"/>
          <p:cNvSpPr txBox="1"/>
          <p:nvPr/>
        </p:nvSpPr>
        <p:spPr>
          <a:xfrm>
            <a:off x="3858768" y="5020055"/>
            <a:ext cx="4297680" cy="283464"/>
          </a:xfrm>
          <a:prstGeom prst="rect">
            <a:avLst/>
          </a:prstGeom>
          <a:noFill/>
        </p:spPr>
        <p:txBody>
          <a:bodyPr wrap="square" lIns="18288" rIns="18288" tIns="0" bIns="0">
            <a:spAutoFit/>
          </a:bodyPr>
          <a:lstStyle/>
          <a:p>
            <a:pPr algn="l">
              <a:spcBef>
                <a:spcPts val="0"/>
              </a:spcBef>
              <a:spcAft>
                <a:spcPts val="0"/>
              </a:spcAft>
            </a:pPr>
            <a:r>
              <a:rPr sz="1250" b="0">
                <a:solidFill>
                  <a:srgbClr val="222B35"/>
                </a:solidFill>
                <a:latin typeface="Segoe UI"/>
              </a:rPr>
              <a:t>Apakah kedua sisi diukur dengan cara sama?</a:t>
            </a:r>
          </a:p>
        </p:txBody>
      </p:sp>
      <p:sp>
        <p:nvSpPr>
          <p:cNvPr id="33" name="TextBox 32"/>
          <p:cNvSpPr txBox="1"/>
          <p:nvPr/>
        </p:nvSpPr>
        <p:spPr>
          <a:xfrm>
            <a:off x="8339327" y="5020055"/>
            <a:ext cx="3063239" cy="283464"/>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Belum. Alat ukur disatukan.</a:t>
            </a:r>
          </a:p>
        </p:txBody>
      </p:sp>
      <p:sp>
        <p:nvSpPr>
          <p:cNvPr id="34" name="Rectangle 33"/>
          <p:cNvSpPr/>
          <p:nvPr/>
        </p:nvSpPr>
        <p:spPr>
          <a:xfrm>
            <a:off x="731520" y="5426964"/>
            <a:ext cx="10744200" cy="46634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5518403"/>
            <a:ext cx="2834639" cy="283464"/>
          </a:xfrm>
          <a:prstGeom prst="rect">
            <a:avLst/>
          </a:prstGeom>
          <a:noFill/>
        </p:spPr>
        <p:txBody>
          <a:bodyPr wrap="square" lIns="18288" rIns="18288" tIns="0" bIns="0">
            <a:spAutoFit/>
          </a:bodyPr>
          <a:lstStyle/>
          <a:p>
            <a:pPr algn="l">
              <a:spcBef>
                <a:spcPts val="0"/>
              </a:spcBef>
              <a:spcAft>
                <a:spcPts val="0"/>
              </a:spcAft>
            </a:pPr>
            <a:r>
              <a:rPr sz="1400" b="1">
                <a:solidFill>
                  <a:srgbClr val="1F3A5F"/>
                </a:solidFill>
                <a:latin typeface="Segoe UI"/>
              </a:rPr>
              <a:t>Uji model lebih besar</a:t>
            </a:r>
          </a:p>
        </p:txBody>
      </p:sp>
      <p:sp>
        <p:nvSpPr>
          <p:cNvPr id="36" name="TextBox 35"/>
          <p:cNvSpPr txBox="1"/>
          <p:nvPr/>
        </p:nvSpPr>
        <p:spPr>
          <a:xfrm>
            <a:off x="3858768" y="5518403"/>
            <a:ext cx="4297680" cy="283464"/>
          </a:xfrm>
          <a:prstGeom prst="rect">
            <a:avLst/>
          </a:prstGeom>
          <a:noFill/>
        </p:spPr>
        <p:txBody>
          <a:bodyPr wrap="square" lIns="18288" rIns="18288" tIns="0" bIns="0">
            <a:spAutoFit/>
          </a:bodyPr>
          <a:lstStyle/>
          <a:p>
            <a:pPr algn="l">
              <a:spcBef>
                <a:spcPts val="0"/>
              </a:spcBef>
              <a:spcAft>
                <a:spcPts val="0"/>
              </a:spcAft>
            </a:pPr>
            <a:r>
              <a:rPr sz="1250" b="0">
                <a:solidFill>
                  <a:srgbClr val="222B35"/>
                </a:solidFill>
                <a:latin typeface="Segoe UI"/>
              </a:rPr>
              <a:t>Apakah model besar menyelamatkan depth?</a:t>
            </a:r>
          </a:p>
        </p:txBody>
      </p:sp>
      <p:sp>
        <p:nvSpPr>
          <p:cNvPr id="37" name="TextBox 36"/>
          <p:cNvSpPr txBox="1"/>
          <p:nvPr/>
        </p:nvSpPr>
        <p:spPr>
          <a:xfrm>
            <a:off x="8339327" y="5518403"/>
            <a:ext cx="3063239" cy="283464"/>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Tidak terbukti.</a:t>
            </a:r>
          </a:p>
        </p:txBody>
      </p:sp>
      <p:sp>
        <p:nvSpPr>
          <p:cNvPr id="38" name="Rectangle 37"/>
          <p:cNvSpPr/>
          <p:nvPr/>
        </p:nvSpPr>
        <p:spPr>
          <a:xfrm>
            <a:off x="731520" y="5925312"/>
            <a:ext cx="1074420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 y="6016751"/>
            <a:ext cx="2834639" cy="283464"/>
          </a:xfrm>
          <a:prstGeom prst="rect">
            <a:avLst/>
          </a:prstGeom>
          <a:noFill/>
        </p:spPr>
        <p:txBody>
          <a:bodyPr wrap="square" lIns="18288" rIns="18288" tIns="0" bIns="0">
            <a:spAutoFit/>
          </a:bodyPr>
          <a:lstStyle/>
          <a:p>
            <a:pPr algn="l">
              <a:spcBef>
                <a:spcPts val="0"/>
              </a:spcBef>
              <a:spcAft>
                <a:spcPts val="0"/>
              </a:spcAft>
            </a:pPr>
            <a:r>
              <a:rPr sz="1400" b="1">
                <a:solidFill>
                  <a:srgbClr val="1F3A5F"/>
                </a:solidFill>
                <a:latin typeface="Segoe UI"/>
              </a:rPr>
              <a:t>Uji tiga titik fusi</a:t>
            </a:r>
          </a:p>
        </p:txBody>
      </p:sp>
      <p:sp>
        <p:nvSpPr>
          <p:cNvPr id="40" name="TextBox 39"/>
          <p:cNvSpPr txBox="1"/>
          <p:nvPr/>
        </p:nvSpPr>
        <p:spPr>
          <a:xfrm>
            <a:off x="3858768" y="6016751"/>
            <a:ext cx="4297680" cy="283464"/>
          </a:xfrm>
          <a:prstGeom prst="rect">
            <a:avLst/>
          </a:prstGeom>
          <a:noFill/>
        </p:spPr>
        <p:txBody>
          <a:bodyPr wrap="square" lIns="18288" rIns="18288" tIns="0" bIns="0">
            <a:spAutoFit/>
          </a:bodyPr>
          <a:lstStyle/>
          <a:p>
            <a:pPr algn="l">
              <a:spcBef>
                <a:spcPts val="0"/>
              </a:spcBef>
              <a:spcAft>
                <a:spcPts val="0"/>
              </a:spcAft>
            </a:pPr>
            <a:r>
              <a:rPr sz="1250" b="0">
                <a:solidFill>
                  <a:srgbClr val="222B35"/>
                </a:solidFill>
                <a:latin typeface="Segoe UI"/>
              </a:rPr>
              <a:t>Di lapisan mana depth sebaiknya digabung?</a:t>
            </a:r>
          </a:p>
        </p:txBody>
      </p:sp>
      <p:sp>
        <p:nvSpPr>
          <p:cNvPr id="41" name="TextBox 40"/>
          <p:cNvSpPr txBox="1"/>
          <p:nvPr/>
        </p:nvSpPr>
        <p:spPr>
          <a:xfrm>
            <a:off x="8339327" y="6016751"/>
            <a:ext cx="3063239" cy="283464"/>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Ketiganya sama saja.</a:t>
            </a:r>
          </a:p>
        </p:txBody>
      </p:sp>
      <p:sp>
        <p:nvSpPr>
          <p:cNvPr id="42" name="TextBox 41"/>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HASIL RGB</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Detektor warna terbaik sebagai titik acuan</a:t>
            </a:r>
          </a:p>
        </p:txBody>
      </p:sp>
      <p:pic>
        <p:nvPicPr>
          <p:cNvPr id="5" name="Picture 4" descr="chart_rgb.png"/>
          <p:cNvPicPr>
            <a:picLocks noChangeAspect="1"/>
          </p:cNvPicPr>
          <p:nvPr/>
        </p:nvPicPr>
        <p:blipFill>
          <a:blip r:embed="rId2"/>
          <a:stretch>
            <a:fillRect/>
          </a:stretch>
        </p:blipFill>
        <p:spPr>
          <a:xfrm>
            <a:off x="795528" y="1389888"/>
            <a:ext cx="10607040" cy="4186469"/>
          </a:xfrm>
          <a:prstGeom prst="rect">
            <a:avLst/>
          </a:prstGeom>
        </p:spPr>
      </p:pic>
      <p:sp>
        <p:nvSpPr>
          <p:cNvPr id="6" name="Rounded Rectangle 5"/>
          <p:cNvSpPr/>
          <p:nvPr/>
        </p:nvSpPr>
        <p:spPr>
          <a:xfrm>
            <a:off x="731520" y="5632704"/>
            <a:ext cx="10744200" cy="658368"/>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550" b="1">
                <a:solidFill>
                  <a:srgbClr val="222B35"/>
                </a:solidFill>
                <a:latin typeface="Segoe UI"/>
              </a:rPr>
              <a:t>RF-DETR-L mencapai mAP50 0,6038 pada dataset warna yang lama dan melewati sasaran 0,60. Angka ini memakai dataset lain, sehingga tidak dapat dibandingkan dengan angka pada slide depth.</a:t>
            </a:r>
          </a:p>
        </p:txBody>
      </p:sp>
      <p:sp>
        <p:nvSpPr>
          <p:cNvPr id="7" name="TextBox 6"/>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AUDIT</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Alat ukurnya diperiksa lebih dahulu</a:t>
            </a:r>
          </a:p>
        </p:txBody>
      </p:sp>
      <p:sp>
        <p:nvSpPr>
          <p:cNvPr id="5" name="TextBox 4"/>
          <p:cNvSpPr txBox="1"/>
          <p:nvPr/>
        </p:nvSpPr>
        <p:spPr>
          <a:xfrm>
            <a:off x="731520" y="1517904"/>
            <a:ext cx="10744200" cy="585216"/>
          </a:xfrm>
          <a:prstGeom prst="rect">
            <a:avLst/>
          </a:prstGeom>
          <a:noFill/>
        </p:spPr>
        <p:txBody>
          <a:bodyPr wrap="square" lIns="18288" rIns="18288" tIns="0" bIns="0">
            <a:spAutoFit/>
          </a:bodyPr>
          <a:lstStyle/>
          <a:p>
            <a:pPr algn="l">
              <a:spcBef>
                <a:spcPts val="0"/>
              </a:spcBef>
              <a:spcAft>
                <a:spcPts val="0"/>
              </a:spcAft>
            </a:pPr>
            <a:r>
              <a:rPr sz="1700" b="0">
                <a:solidFill>
                  <a:srgbClr val="5A6672"/>
                </a:solidFill>
                <a:latin typeface="Segoe UI"/>
              </a:rPr>
              <a:t>Hasil negatif hanya berguna apabila cara mengukurnya benar. Pemeriksaan menemukan lima galat, dan kelimanya sudah diperbaiki.</a:t>
            </a:r>
          </a:p>
        </p:txBody>
      </p:sp>
      <p:sp>
        <p:nvSpPr>
          <p:cNvPr id="6" name="Rectangle 5"/>
          <p:cNvSpPr/>
          <p:nvPr/>
        </p:nvSpPr>
        <p:spPr>
          <a:xfrm>
            <a:off x="731520" y="2157984"/>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176272"/>
            <a:ext cx="4206240" cy="310896"/>
          </a:xfrm>
          <a:prstGeom prst="rect">
            <a:avLst/>
          </a:prstGeom>
          <a:noFill/>
        </p:spPr>
        <p:txBody>
          <a:bodyPr wrap="square" lIns="18288" rIns="18288" tIns="0" bIns="0">
            <a:spAutoFit/>
          </a:bodyPr>
          <a:lstStyle/>
          <a:p>
            <a:pPr algn="l">
              <a:spcBef>
                <a:spcPts val="0"/>
              </a:spcBef>
              <a:spcAft>
                <a:spcPts val="0"/>
              </a:spcAft>
            </a:pPr>
            <a:r>
              <a:rPr sz="1600" b="1">
                <a:solidFill>
                  <a:srgbClr val="222B35"/>
                </a:solidFill>
                <a:latin typeface="Segoe UI"/>
              </a:rPr>
              <a:t>1.  Foto dan jarak tidak sejajar</a:t>
            </a:r>
          </a:p>
        </p:txBody>
      </p:sp>
      <p:sp>
        <p:nvSpPr>
          <p:cNvPr id="8" name="TextBox 7"/>
          <p:cNvSpPr txBox="1"/>
          <p:nvPr/>
        </p:nvSpPr>
        <p:spPr>
          <a:xfrm>
            <a:off x="5303520" y="2203703"/>
            <a:ext cx="5989320" cy="402336"/>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Melesetnya 29 piksel. Diperbaiki dengan reproyeksi penuh.</a:t>
            </a:r>
          </a:p>
        </p:txBody>
      </p:sp>
      <p:sp>
        <p:nvSpPr>
          <p:cNvPr id="9" name="Rectangle 8"/>
          <p:cNvSpPr/>
          <p:nvPr/>
        </p:nvSpPr>
        <p:spPr>
          <a:xfrm>
            <a:off x="731520" y="2779776"/>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798064"/>
            <a:ext cx="4206240" cy="310896"/>
          </a:xfrm>
          <a:prstGeom prst="rect">
            <a:avLst/>
          </a:prstGeom>
          <a:noFill/>
        </p:spPr>
        <p:txBody>
          <a:bodyPr wrap="square" lIns="18288" rIns="18288" tIns="0" bIns="0">
            <a:spAutoFit/>
          </a:bodyPr>
          <a:lstStyle/>
          <a:p>
            <a:pPr algn="l">
              <a:spcBef>
                <a:spcPts val="0"/>
              </a:spcBef>
              <a:spcAft>
                <a:spcPts val="0"/>
              </a:spcAft>
            </a:pPr>
            <a:r>
              <a:rPr sz="1600" b="1">
                <a:solidFill>
                  <a:srgbClr val="222B35"/>
                </a:solidFill>
                <a:latin typeface="Segoe UI"/>
              </a:rPr>
              <a:t>2.  Kalibrasi dua kamera disamakan</a:t>
            </a:r>
          </a:p>
        </p:txBody>
      </p:sp>
      <p:sp>
        <p:nvSpPr>
          <p:cNvPr id="11" name="TextBox 10"/>
          <p:cNvSpPr txBox="1"/>
          <p:nvPr/>
        </p:nvSpPr>
        <p:spPr>
          <a:xfrm>
            <a:off x="5303520" y="2825496"/>
            <a:ext cx="5989320" cy="402336"/>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Kalibrasi kini dibaca satu per satu dari tiap berkas.</a:t>
            </a:r>
          </a:p>
        </p:txBody>
      </p:sp>
      <p:sp>
        <p:nvSpPr>
          <p:cNvPr id="12" name="Rectangle 11"/>
          <p:cNvSpPr/>
          <p:nvPr/>
        </p:nvSpPr>
        <p:spPr>
          <a:xfrm>
            <a:off x="731520" y="3401568"/>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3419856"/>
            <a:ext cx="4206240" cy="310896"/>
          </a:xfrm>
          <a:prstGeom prst="rect">
            <a:avLst/>
          </a:prstGeom>
          <a:noFill/>
        </p:spPr>
        <p:txBody>
          <a:bodyPr wrap="square" lIns="18288" rIns="18288" tIns="0" bIns="0">
            <a:spAutoFit/>
          </a:bodyPr>
          <a:lstStyle/>
          <a:p>
            <a:pPr algn="l">
              <a:spcBef>
                <a:spcPts val="0"/>
              </a:spcBef>
              <a:spcAft>
                <a:spcPts val="0"/>
              </a:spcAft>
            </a:pPr>
            <a:r>
              <a:rPr sz="1600" b="1">
                <a:solidFill>
                  <a:srgbClr val="222B35"/>
                </a:solidFill>
                <a:latin typeface="Segoe UI"/>
              </a:rPr>
              <a:t>3.  Rentang jarak salah</a:t>
            </a:r>
          </a:p>
        </p:txBody>
      </p:sp>
      <p:sp>
        <p:nvSpPr>
          <p:cNvPr id="14" name="TextBox 13"/>
          <p:cNvSpPr txBox="1"/>
          <p:nvPr/>
        </p:nvSpPr>
        <p:spPr>
          <a:xfrm>
            <a:off x="5303520" y="3447287"/>
            <a:ext cx="5989320" cy="402336"/>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Rentang 0,3–8 m diganti 0,8–15 m sesuai sensornya.</a:t>
            </a:r>
          </a:p>
        </p:txBody>
      </p:sp>
      <p:sp>
        <p:nvSpPr>
          <p:cNvPr id="15" name="Rectangle 14"/>
          <p:cNvSpPr/>
          <p:nvPr/>
        </p:nvSpPr>
        <p:spPr>
          <a:xfrm>
            <a:off x="731520" y="4023360"/>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4041648"/>
            <a:ext cx="4206240" cy="310896"/>
          </a:xfrm>
          <a:prstGeom prst="rect">
            <a:avLst/>
          </a:prstGeom>
          <a:noFill/>
        </p:spPr>
        <p:txBody>
          <a:bodyPr wrap="square" lIns="18288" rIns="18288" tIns="0" bIns="0">
            <a:spAutoFit/>
          </a:bodyPr>
          <a:lstStyle/>
          <a:p>
            <a:pPr algn="l">
              <a:spcBef>
                <a:spcPts val="0"/>
              </a:spcBef>
              <a:spcAft>
                <a:spcPts val="0"/>
              </a:spcAft>
            </a:pPr>
            <a:r>
              <a:rPr sz="1600" b="1">
                <a:solidFill>
                  <a:srgbClr val="222B35"/>
                </a:solidFill>
                <a:latin typeface="Segoe UI"/>
              </a:rPr>
              <a:t>4.  Data bocor antar-pembagian</a:t>
            </a:r>
          </a:p>
        </p:txBody>
      </p:sp>
      <p:sp>
        <p:nvSpPr>
          <p:cNvPr id="17" name="TextBox 16"/>
          <p:cNvSpPr txBox="1"/>
          <p:nvPr/>
        </p:nvSpPr>
        <p:spPr>
          <a:xfrm>
            <a:off x="5303520" y="4069080"/>
            <a:ext cx="5989320" cy="402336"/>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Hasil yang terpengaruh sudah ditarik.</a:t>
            </a:r>
          </a:p>
        </p:txBody>
      </p:sp>
      <p:sp>
        <p:nvSpPr>
          <p:cNvPr id="18" name="Rectangle 17"/>
          <p:cNvSpPr/>
          <p:nvPr/>
        </p:nvSpPr>
        <p:spPr>
          <a:xfrm>
            <a:off x="731520" y="4645152"/>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4663440"/>
            <a:ext cx="4206240" cy="310896"/>
          </a:xfrm>
          <a:prstGeom prst="rect">
            <a:avLst/>
          </a:prstGeom>
          <a:noFill/>
        </p:spPr>
        <p:txBody>
          <a:bodyPr wrap="square" lIns="18288" rIns="18288" tIns="0" bIns="0">
            <a:spAutoFit/>
          </a:bodyPr>
          <a:lstStyle/>
          <a:p>
            <a:pPr algn="l">
              <a:spcBef>
                <a:spcPts val="0"/>
              </a:spcBef>
              <a:spcAft>
                <a:spcPts val="0"/>
              </a:spcAft>
            </a:pPr>
            <a:r>
              <a:rPr sz="1600" b="1">
                <a:solidFill>
                  <a:srgbClr val="222B35"/>
                </a:solidFill>
                <a:latin typeface="Segoe UI"/>
              </a:rPr>
              <a:t>5.  Alat ukur kedua sisi berbeda</a:t>
            </a:r>
          </a:p>
        </p:txBody>
      </p:sp>
      <p:sp>
        <p:nvSpPr>
          <p:cNvPr id="20" name="TextBox 19"/>
          <p:cNvSpPr txBox="1"/>
          <p:nvPr/>
        </p:nvSpPr>
        <p:spPr>
          <a:xfrm>
            <a:off x="5303520" y="4690872"/>
            <a:ext cx="5989320" cy="402336"/>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Cukup untuk membalik tanda hasil. Alat ukur kini satu.</a:t>
            </a:r>
          </a:p>
        </p:txBody>
      </p:sp>
      <p:sp>
        <p:nvSpPr>
          <p:cNvPr id="21" name="Rounded Rectangle 20"/>
          <p:cNvSpPr/>
          <p:nvPr/>
        </p:nvSpPr>
        <p:spPr>
          <a:xfrm>
            <a:off x="731520" y="5449824"/>
            <a:ext cx="10744200" cy="804672"/>
          </a:xfrm>
          <a:prstGeom prst="roundRect">
            <a:avLst/>
          </a:prstGeom>
          <a:solidFill>
            <a:srgbClr val="FDF6E6"/>
          </a:solidFill>
          <a:ln w="15875">
            <a:solidFill>
              <a:srgbClr val="D68910"/>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550" b="1">
                <a:solidFill>
                  <a:srgbClr val="222B35"/>
                </a:solidFill>
                <a:latin typeface="Segoe UI"/>
              </a:rPr>
              <a:t>Hasil positif yang muncul pertama ternyata berasal dari alur yang cacat ini, dan sudah dibatalkan. Seluruh angka pada slide berikutnya berasal dari alur yang sudah diperbaiki.</a:t>
            </a:r>
          </a:p>
        </p:txBody>
      </p:sp>
      <p:sp>
        <p:nvSpPr>
          <p:cNvPr id="22" name="TextBox 21"/>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RANCANGAN</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Tiga cara menggabungkan jarak ke dalam jaringan</a:t>
            </a:r>
          </a:p>
        </p:txBody>
      </p:sp>
      <p:pic>
        <p:nvPicPr>
          <p:cNvPr id="5" name="Picture 4" descr="fig_hipotesis.png"/>
          <p:cNvPicPr>
            <a:picLocks noChangeAspect="1"/>
          </p:cNvPicPr>
          <p:nvPr/>
        </p:nvPicPr>
        <p:blipFill>
          <a:blip r:embed="rId2"/>
          <a:stretch>
            <a:fillRect/>
          </a:stretch>
        </p:blipFill>
        <p:spPr>
          <a:xfrm>
            <a:off x="731520" y="1389888"/>
            <a:ext cx="6446520" cy="4297680"/>
          </a:xfrm>
          <a:prstGeom prst="rect">
            <a:avLst/>
          </a:prstGeom>
        </p:spPr>
      </p:pic>
      <p:sp>
        <p:nvSpPr>
          <p:cNvPr id="6" name="TextBox 5"/>
          <p:cNvSpPr txBox="1"/>
          <p:nvPr/>
        </p:nvSpPr>
        <p:spPr>
          <a:xfrm>
            <a:off x="7498079" y="1389888"/>
            <a:ext cx="3977639" cy="329184"/>
          </a:xfrm>
          <a:prstGeom prst="rect">
            <a:avLst/>
          </a:prstGeom>
          <a:noFill/>
        </p:spPr>
        <p:txBody>
          <a:bodyPr wrap="square" lIns="18288" rIns="18288" tIns="0" bIns="0">
            <a:spAutoFit/>
          </a:bodyPr>
          <a:lstStyle/>
          <a:p>
            <a:pPr algn="l">
              <a:spcBef>
                <a:spcPts val="0"/>
              </a:spcBef>
              <a:spcAft>
                <a:spcPts val="0"/>
              </a:spcAft>
            </a:pPr>
            <a:r>
              <a:rPr sz="1750" b="1">
                <a:solidFill>
                  <a:srgbClr val="1F3A5F"/>
                </a:solidFill>
                <a:latin typeface="Segoe UI"/>
              </a:rPr>
              <a:t>Bacaan singkat</a:t>
            </a:r>
          </a:p>
        </p:txBody>
      </p:sp>
      <p:sp>
        <p:nvSpPr>
          <p:cNvPr id="7" name="Rectangle 6"/>
          <p:cNvSpPr/>
          <p:nvPr/>
        </p:nvSpPr>
        <p:spPr>
          <a:xfrm>
            <a:off x="7498079" y="1874519"/>
            <a:ext cx="45720" cy="23774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828800"/>
            <a:ext cx="3794760" cy="292608"/>
          </a:xfrm>
          <a:prstGeom prst="rect">
            <a:avLst/>
          </a:prstGeom>
          <a:noFill/>
        </p:spPr>
        <p:txBody>
          <a:bodyPr wrap="square" lIns="18288" rIns="18288" tIns="0" bIns="0">
            <a:spAutoFit/>
          </a:bodyPr>
          <a:lstStyle/>
          <a:p>
            <a:pPr algn="l">
              <a:spcBef>
                <a:spcPts val="0"/>
              </a:spcBef>
              <a:spcAft>
                <a:spcPts val="0"/>
              </a:spcAft>
            </a:pPr>
            <a:r>
              <a:rPr sz="1400" b="1">
                <a:solidFill>
                  <a:srgbClr val="222B35"/>
                </a:solidFill>
                <a:latin typeface="Segoe UI"/>
              </a:rPr>
              <a:t>Early fusion (fusi awal)</a:t>
            </a:r>
          </a:p>
        </p:txBody>
      </p:sp>
      <p:sp>
        <p:nvSpPr>
          <p:cNvPr id="9" name="TextBox 8"/>
          <p:cNvSpPr txBox="1"/>
          <p:nvPr/>
        </p:nvSpPr>
        <p:spPr>
          <a:xfrm>
            <a:off x="7680960" y="2139696"/>
            <a:ext cx="3794760" cy="512064"/>
          </a:xfrm>
          <a:prstGeom prst="rect">
            <a:avLst/>
          </a:prstGeom>
          <a:noFill/>
        </p:spPr>
        <p:txBody>
          <a:bodyPr wrap="square" lIns="18288" rIns="18288" tIns="0" bIns="0">
            <a:spAutoFit/>
          </a:bodyPr>
          <a:lstStyle/>
          <a:p>
            <a:pPr algn="l">
              <a:spcBef>
                <a:spcPts val="0"/>
              </a:spcBef>
              <a:spcAft>
                <a:spcPts val="0"/>
              </a:spcAft>
            </a:pPr>
            <a:r>
              <a:rPr sz="1250" b="0">
                <a:solidFill>
                  <a:srgbClr val="5A6672"/>
                </a:solidFill>
                <a:latin typeface="Segoe UI"/>
              </a:rPr>
              <a:t>RGB dan lapis jarak disatukan sejak masukan.</a:t>
            </a:r>
          </a:p>
        </p:txBody>
      </p:sp>
      <p:sp>
        <p:nvSpPr>
          <p:cNvPr id="10" name="Rectangle 9"/>
          <p:cNvSpPr/>
          <p:nvPr/>
        </p:nvSpPr>
        <p:spPr>
          <a:xfrm>
            <a:off x="7498079" y="2734056"/>
            <a:ext cx="45720" cy="23774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2688336"/>
            <a:ext cx="3794760" cy="292608"/>
          </a:xfrm>
          <a:prstGeom prst="rect">
            <a:avLst/>
          </a:prstGeom>
          <a:noFill/>
        </p:spPr>
        <p:txBody>
          <a:bodyPr wrap="square" lIns="18288" rIns="18288" tIns="0" bIns="0">
            <a:spAutoFit/>
          </a:bodyPr>
          <a:lstStyle/>
          <a:p>
            <a:pPr algn="l">
              <a:spcBef>
                <a:spcPts val="0"/>
              </a:spcBef>
              <a:spcAft>
                <a:spcPts val="0"/>
              </a:spcAft>
            </a:pPr>
            <a:r>
              <a:rPr sz="1400" b="1">
                <a:solidFill>
                  <a:srgbClr val="222B35"/>
                </a:solidFill>
                <a:latin typeface="Segoe UI"/>
              </a:rPr>
              <a:t>Middle fusion (fusi menengah)</a:t>
            </a:r>
          </a:p>
        </p:txBody>
      </p:sp>
      <p:sp>
        <p:nvSpPr>
          <p:cNvPr id="12" name="TextBox 11"/>
          <p:cNvSpPr txBox="1"/>
          <p:nvPr/>
        </p:nvSpPr>
        <p:spPr>
          <a:xfrm>
            <a:off x="7680960" y="2999232"/>
            <a:ext cx="3794760" cy="512064"/>
          </a:xfrm>
          <a:prstGeom prst="rect">
            <a:avLst/>
          </a:prstGeom>
          <a:noFill/>
        </p:spPr>
        <p:txBody>
          <a:bodyPr wrap="square" lIns="18288" rIns="18288" tIns="0" bIns="0">
            <a:spAutoFit/>
          </a:bodyPr>
          <a:lstStyle/>
          <a:p>
            <a:pPr algn="l">
              <a:spcBef>
                <a:spcPts val="0"/>
              </a:spcBef>
              <a:spcAft>
                <a:spcPts val="0"/>
              </a:spcAft>
            </a:pPr>
            <a:r>
              <a:rPr sz="1250" b="0">
                <a:solidFill>
                  <a:srgbClr val="5A6672"/>
                </a:solidFill>
                <a:latin typeface="Segoe UI"/>
              </a:rPr>
              <a:t>Keduanya diproses sendiri, lalu digabung di tengah.</a:t>
            </a:r>
          </a:p>
        </p:txBody>
      </p:sp>
      <p:sp>
        <p:nvSpPr>
          <p:cNvPr id="13" name="Rectangle 12"/>
          <p:cNvSpPr/>
          <p:nvPr/>
        </p:nvSpPr>
        <p:spPr>
          <a:xfrm>
            <a:off x="7498079" y="3593591"/>
            <a:ext cx="45720" cy="23774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3547872"/>
            <a:ext cx="3794760" cy="292608"/>
          </a:xfrm>
          <a:prstGeom prst="rect">
            <a:avLst/>
          </a:prstGeom>
          <a:noFill/>
        </p:spPr>
        <p:txBody>
          <a:bodyPr wrap="square" lIns="18288" rIns="18288" tIns="0" bIns="0">
            <a:spAutoFit/>
          </a:bodyPr>
          <a:lstStyle/>
          <a:p>
            <a:pPr algn="l">
              <a:spcBef>
                <a:spcPts val="0"/>
              </a:spcBef>
              <a:spcAft>
                <a:spcPts val="0"/>
              </a:spcAft>
            </a:pPr>
            <a:r>
              <a:rPr sz="1400" b="1">
                <a:solidFill>
                  <a:srgbClr val="222B35"/>
                </a:solidFill>
                <a:latin typeface="Segoe UI"/>
              </a:rPr>
              <a:t>Late fusion (fusi akhir)</a:t>
            </a:r>
          </a:p>
        </p:txBody>
      </p:sp>
      <p:sp>
        <p:nvSpPr>
          <p:cNvPr id="15" name="TextBox 14"/>
          <p:cNvSpPr txBox="1"/>
          <p:nvPr/>
        </p:nvSpPr>
        <p:spPr>
          <a:xfrm>
            <a:off x="7680960" y="3858768"/>
            <a:ext cx="3794760" cy="512064"/>
          </a:xfrm>
          <a:prstGeom prst="rect">
            <a:avLst/>
          </a:prstGeom>
          <a:noFill/>
        </p:spPr>
        <p:txBody>
          <a:bodyPr wrap="square" lIns="18288" rIns="18288" tIns="0" bIns="0">
            <a:spAutoFit/>
          </a:bodyPr>
          <a:lstStyle/>
          <a:p>
            <a:pPr algn="l">
              <a:spcBef>
                <a:spcPts val="0"/>
              </a:spcBef>
              <a:spcAft>
                <a:spcPts val="0"/>
              </a:spcAft>
            </a:pPr>
            <a:r>
              <a:rPr sz="1250" b="0">
                <a:solidFill>
                  <a:srgbClr val="5A6672"/>
                </a:solidFill>
                <a:latin typeface="Segoe UI"/>
              </a:rPr>
              <a:t>Dua jaringan penuh, digabung menjelang keluaran.</a:t>
            </a:r>
          </a:p>
        </p:txBody>
      </p:sp>
      <p:sp>
        <p:nvSpPr>
          <p:cNvPr id="16" name="Rectangle 15"/>
          <p:cNvSpPr/>
          <p:nvPr/>
        </p:nvSpPr>
        <p:spPr>
          <a:xfrm>
            <a:off x="7498079" y="4453128"/>
            <a:ext cx="45720" cy="23774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4407408"/>
            <a:ext cx="3794760" cy="292608"/>
          </a:xfrm>
          <a:prstGeom prst="rect">
            <a:avLst/>
          </a:prstGeom>
          <a:noFill/>
        </p:spPr>
        <p:txBody>
          <a:bodyPr wrap="square" lIns="18288" rIns="18288" tIns="0" bIns="0">
            <a:spAutoFit/>
          </a:bodyPr>
          <a:lstStyle/>
          <a:p>
            <a:pPr algn="l">
              <a:spcBef>
                <a:spcPts val="0"/>
              </a:spcBef>
              <a:spcAft>
                <a:spcPts val="0"/>
              </a:spcAft>
            </a:pPr>
            <a:r>
              <a:rPr sz="1400" b="1">
                <a:solidFill>
                  <a:srgbClr val="222B35"/>
                </a:solidFill>
                <a:latin typeface="Segoe UI"/>
              </a:rPr>
              <a:t>Noise control (kendali derau)</a:t>
            </a:r>
          </a:p>
        </p:txBody>
      </p:sp>
      <p:sp>
        <p:nvSpPr>
          <p:cNvPr id="18" name="TextBox 17"/>
          <p:cNvSpPr txBox="1"/>
          <p:nvPr/>
        </p:nvSpPr>
        <p:spPr>
          <a:xfrm>
            <a:off x="7680960" y="4718304"/>
            <a:ext cx="3794760" cy="512064"/>
          </a:xfrm>
          <a:prstGeom prst="rect">
            <a:avLst/>
          </a:prstGeom>
          <a:noFill/>
        </p:spPr>
        <p:txBody>
          <a:bodyPr wrap="square" lIns="18288" rIns="18288" tIns="0" bIns="0">
            <a:spAutoFit/>
          </a:bodyPr>
          <a:lstStyle/>
          <a:p>
            <a:pPr algn="l">
              <a:spcBef>
                <a:spcPts val="0"/>
              </a:spcBef>
              <a:spcAft>
                <a:spcPts val="0"/>
              </a:spcAft>
            </a:pPr>
            <a:r>
              <a:rPr sz="1250" b="0">
                <a:solidFill>
                  <a:srgbClr val="5A6672"/>
                </a:solidFill>
                <a:latin typeface="Segoe UI"/>
              </a:rPr>
              <a:t>Jarak mentah disaring, lubangnya ditambal, lalu dihaluskan.</a:t>
            </a:r>
          </a:p>
        </p:txBody>
      </p:sp>
      <p:sp>
        <p:nvSpPr>
          <p:cNvPr id="19" name="Rounded Rectangle 18"/>
          <p:cNvSpPr/>
          <p:nvPr/>
        </p:nvSpPr>
        <p:spPr>
          <a:xfrm>
            <a:off x="7498079" y="5340096"/>
            <a:ext cx="3977639" cy="1042415"/>
          </a:xfrm>
          <a:prstGeom prst="roundRect">
            <a:avLst/>
          </a:prstGeom>
          <a:solidFill>
            <a:srgbClr val="FDF6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250" b="1">
                <a:solidFill>
                  <a:srgbClr val="222B35"/>
                </a:solidFill>
                <a:latin typeface="Segoe UI"/>
              </a:rPr>
              <a:t>Depth adalah hipotesis, bukan jaminan kenaikan.</a:t>
            </a:r>
          </a:p>
          <a:p>
            <a:pPr algn="l">
              <a:spcBef>
                <a:spcPts val="0"/>
              </a:spcBef>
              <a:spcAft>
                <a:spcPts val="300"/>
              </a:spcAft>
            </a:pPr>
            <a:r>
              <a:rPr sz="1250" b="0">
                <a:solidFill>
                  <a:srgbClr val="222B35"/>
                </a:solidFill>
                <a:latin typeface="Segoe UI"/>
              </a:rPr>
              <a:t>Manfaatnya bergantung pada mutu sensor dan rancangan fusi.</a:t>
            </a:r>
          </a:p>
        </p:txBody>
      </p:sp>
      <p:sp>
        <p:nvSpPr>
          <p:cNvPr id="20" name="TextBox 19"/>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HASIL</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Hasil utama pada ketiga titik penggabungan</a:t>
            </a:r>
          </a:p>
        </p:txBody>
      </p:sp>
      <p:pic>
        <p:nvPicPr>
          <p:cNvPr id="5" name="Picture 4" descr="chart_fusi.png"/>
          <p:cNvPicPr>
            <a:picLocks noChangeAspect="1"/>
          </p:cNvPicPr>
          <p:nvPr/>
        </p:nvPicPr>
        <p:blipFill>
          <a:blip r:embed="rId2"/>
          <a:stretch>
            <a:fillRect/>
          </a:stretch>
        </p:blipFill>
        <p:spPr>
          <a:xfrm>
            <a:off x="704088" y="1389888"/>
            <a:ext cx="10789920" cy="4131640"/>
          </a:xfrm>
          <a:prstGeom prst="rect">
            <a:avLst/>
          </a:prstGeom>
        </p:spPr>
      </p:pic>
      <p:sp>
        <p:nvSpPr>
          <p:cNvPr id="6" name="Rounded Rectangle 5"/>
          <p:cNvSpPr/>
          <p:nvPr/>
        </p:nvSpPr>
        <p:spPr>
          <a:xfrm>
            <a:off x="731520" y="5632704"/>
            <a:ext cx="10744200" cy="658368"/>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550" b="1">
                <a:solidFill>
                  <a:srgbClr val="222B35"/>
                </a:solidFill>
                <a:latin typeface="Segoe UI"/>
              </a:rPr>
              <a:t>Batangnya naik-turun tanpa pola. Tidak satu kelompok pun keluar dari pita ragam yang muncul hanya karena pengacakan awal model.</a:t>
            </a:r>
          </a:p>
        </p:txBody>
      </p:sp>
      <p:sp>
        <p:nvSpPr>
          <p:cNvPr id="7" name="TextBox 6"/>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HASIL</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Kanal berisi angka acak sebagai pembanding</a:t>
            </a:r>
          </a:p>
        </p:txBody>
      </p:sp>
      <p:sp>
        <p:nvSpPr>
          <p:cNvPr id="5" name="TextBox 4"/>
          <p:cNvSpPr txBox="1"/>
          <p:nvPr/>
        </p:nvSpPr>
        <p:spPr>
          <a:xfrm>
            <a:off x="731520" y="1444752"/>
            <a:ext cx="10744200" cy="402336"/>
          </a:xfrm>
          <a:prstGeom prst="rect">
            <a:avLst/>
          </a:prstGeom>
          <a:noFill/>
        </p:spPr>
        <p:txBody>
          <a:bodyPr wrap="square" lIns="18288" rIns="18288" tIns="0" bIns="0">
            <a:spAutoFit/>
          </a:bodyPr>
          <a:lstStyle/>
          <a:p>
            <a:pPr algn="l">
              <a:spcBef>
                <a:spcPts val="0"/>
              </a:spcBef>
              <a:spcAft>
                <a:spcPts val="0"/>
              </a:spcAft>
            </a:pPr>
            <a:r>
              <a:rPr sz="1600" b="0">
                <a:solidFill>
                  <a:srgbClr val="5A6672"/>
                </a:solidFill>
                <a:latin typeface="Segoe UI"/>
              </a:rPr>
              <a:t>Lapis jarak diganti bilangan acak, yaitu kanal yang pasti tidak memuat informasi bentuk.</a:t>
            </a:r>
          </a:p>
        </p:txBody>
      </p:sp>
      <p:pic>
        <p:nvPicPr>
          <p:cNvPr id="6" name="Picture 5" descr="chart_derau.png"/>
          <p:cNvPicPr>
            <a:picLocks noChangeAspect="1"/>
          </p:cNvPicPr>
          <p:nvPr/>
        </p:nvPicPr>
        <p:blipFill>
          <a:blip r:embed="rId2"/>
          <a:stretch>
            <a:fillRect/>
          </a:stretch>
        </p:blipFill>
        <p:spPr>
          <a:xfrm>
            <a:off x="1051560" y="1920240"/>
            <a:ext cx="10058400" cy="3108960"/>
          </a:xfrm>
          <a:prstGeom prst="rect">
            <a:avLst/>
          </a:prstGeom>
        </p:spPr>
      </p:pic>
      <p:sp>
        <p:nvSpPr>
          <p:cNvPr id="7" name="Rounded Rectangle 6"/>
          <p:cNvSpPr/>
          <p:nvPr/>
        </p:nvSpPr>
        <p:spPr>
          <a:xfrm>
            <a:off x="731520" y="5138928"/>
            <a:ext cx="10744200" cy="768096"/>
          </a:xfrm>
          <a:prstGeom prst="roundRect">
            <a:avLst/>
          </a:prstGeom>
          <a:solidFill>
            <a:srgbClr val="F2F5F8"/>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600" b="1">
                <a:solidFill>
                  <a:srgbClr val="222B35"/>
                </a:solidFill>
                <a:latin typeface="Segoe UI"/>
              </a:rPr>
              <a:t>Kanal acak menggeser skor sebesar lapis jarak. Pada kondisi ini detektor belum memanfaatkan isi lapis jarak.</a:t>
            </a:r>
          </a:p>
        </p:txBody>
      </p:sp>
      <p:sp>
        <p:nvSpPr>
          <p:cNvPr id="8" name="TextBox 7"/>
          <p:cNvSpPr txBox="1"/>
          <p:nvPr/>
        </p:nvSpPr>
        <p:spPr>
          <a:xfrm>
            <a:off x="731520" y="5998464"/>
            <a:ext cx="9966960" cy="384048"/>
          </a:xfrm>
          <a:prstGeom prst="rect">
            <a:avLst/>
          </a:prstGeom>
          <a:noFill/>
        </p:spPr>
        <p:txBody>
          <a:bodyPr wrap="square" lIns="18288" rIns="18288" tIns="0" bIns="0">
            <a:spAutoFit/>
          </a:bodyPr>
          <a:lstStyle/>
          <a:p>
            <a:pPr algn="l">
              <a:spcBef>
                <a:spcPts val="0"/>
              </a:spcBef>
              <a:spcAft>
                <a:spcPts val="0"/>
              </a:spcAft>
            </a:pPr>
            <a:r>
              <a:rPr sz="1350" b="0">
                <a:solidFill>
                  <a:srgbClr val="5A6672"/>
                </a:solidFill>
                <a:latin typeface="Segoe UI"/>
              </a:rPr>
              <a:t>Ini bukan uji ekuivalensi. Pernyataan yang sah adalah "belum terlihat manfaatnya", bukan "depth sama dengan derau".</a:t>
            </a:r>
          </a:p>
        </p:txBody>
      </p:sp>
      <p:sp>
        <p:nvSpPr>
          <p:cNvPr id="9" name="TextBox 8"/>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BATAS BUKTI</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Datanya belum memadai untuk uji ini</a:t>
            </a:r>
          </a:p>
        </p:txBody>
      </p:sp>
      <p:pic>
        <p:nvPicPr>
          <p:cNvPr id="5" name="Picture 4" descr="chart_dataset.png"/>
          <p:cNvPicPr>
            <a:picLocks noChangeAspect="1"/>
          </p:cNvPicPr>
          <p:nvPr/>
        </p:nvPicPr>
        <p:blipFill>
          <a:blip r:embed="rId2"/>
          <a:stretch>
            <a:fillRect/>
          </a:stretch>
        </p:blipFill>
        <p:spPr>
          <a:xfrm>
            <a:off x="1161288" y="1335024"/>
            <a:ext cx="9875520" cy="3932770"/>
          </a:xfrm>
          <a:prstGeom prst="rect">
            <a:avLst/>
          </a:prstGeom>
        </p:spPr>
      </p:pic>
      <p:sp>
        <p:nvSpPr>
          <p:cNvPr id="6" name="Rounded Rectangle 5"/>
          <p:cNvSpPr/>
          <p:nvPr/>
        </p:nvSpPr>
        <p:spPr>
          <a:xfrm>
            <a:off x="731520" y="5358384"/>
            <a:ext cx="10744200" cy="969264"/>
          </a:xfrm>
          <a:prstGeom prst="roundRect">
            <a:avLst/>
          </a:prstGeom>
          <a:solidFill>
            <a:srgbClr val="FDF6E6"/>
          </a:solidFill>
          <a:ln w="15875">
            <a:solidFill>
              <a:srgbClr val="D68910"/>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550" b="1">
                <a:solidFill>
                  <a:srgbClr val="222B35"/>
                </a:solidFill>
                <a:latin typeface="Segoe UI"/>
              </a:rPr>
              <a:t>Dataset depth memuat sepertiga jumlah pohon, sepertiga kepadatan tandan, dan sebaran kelas yang terbalik. Angka mAP di sini tidak dapat dibandingkan langsung dengan dataset lama. Hasil negatif ini menguji satu penerapan depth, bukan gagasan depth itu sendiri.</a:t>
            </a:r>
          </a:p>
        </p:txBody>
      </p:sp>
      <p:sp>
        <p:nvSpPr>
          <p:cNvPr id="7" name="TextBox 6"/>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CONTOH CITRA</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Tandan pada dataset warna yang lama</a:t>
            </a:r>
          </a:p>
        </p:txBody>
      </p:sp>
      <p:pic>
        <p:nvPicPr>
          <p:cNvPr id="5" name="Picture 4" descr="panel_mvc.png"/>
          <p:cNvPicPr>
            <a:picLocks noChangeAspect="1"/>
          </p:cNvPicPr>
          <p:nvPr/>
        </p:nvPicPr>
        <p:blipFill>
          <a:blip r:embed="rId2"/>
          <a:stretch>
            <a:fillRect/>
          </a:stretch>
        </p:blipFill>
        <p:spPr>
          <a:xfrm>
            <a:off x="1298448" y="1335024"/>
            <a:ext cx="9601200" cy="4123625"/>
          </a:xfrm>
          <a:prstGeom prst="rect">
            <a:avLst/>
          </a:prstGeom>
        </p:spPr>
      </p:pic>
      <p:sp>
        <p:nvSpPr>
          <p:cNvPr id="6" name="Rounded Rectangle 5"/>
          <p:cNvSpPr/>
          <p:nvPr/>
        </p:nvSpPr>
        <p:spPr>
          <a:xfrm>
            <a:off x="731520" y="5522976"/>
            <a:ext cx="10744200" cy="786384"/>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550" b="1">
                <a:solidFill>
                  <a:srgbClr val="222B35"/>
                </a:solidFill>
                <a:latin typeface="Segoe UI"/>
              </a:rPr>
              <a:t>Batas tandan terlihat tegas. Buah matang berwarna jingga-merah pekat, dan tandan mentah tetap terbaca meski gelap.</a:t>
            </a:r>
          </a:p>
        </p:txBody>
      </p:sp>
      <p:sp>
        <p:nvSpPr>
          <p:cNvPr id="7" name="TextBox 6"/>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CONTOH CITRA</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Tandan pada dataset depth</a:t>
            </a:r>
          </a:p>
        </p:txBody>
      </p:sp>
      <p:pic>
        <p:nvPicPr>
          <p:cNvPr id="5" name="Picture 4" descr="panel_depth.png"/>
          <p:cNvPicPr>
            <a:picLocks noChangeAspect="1"/>
          </p:cNvPicPr>
          <p:nvPr/>
        </p:nvPicPr>
        <p:blipFill>
          <a:blip r:embed="rId2"/>
          <a:stretch>
            <a:fillRect/>
          </a:stretch>
        </p:blipFill>
        <p:spPr>
          <a:xfrm>
            <a:off x="1298448" y="1335024"/>
            <a:ext cx="9601200" cy="4043690"/>
          </a:xfrm>
          <a:prstGeom prst="rect">
            <a:avLst/>
          </a:prstGeom>
        </p:spPr>
      </p:pic>
      <p:sp>
        <p:nvSpPr>
          <p:cNvPr id="6" name="Rounded Rectangle 5"/>
          <p:cNvSpPr/>
          <p:nvPr/>
        </p:nvSpPr>
        <p:spPr>
          <a:xfrm>
            <a:off x="731520" y="5522976"/>
            <a:ext cx="10744200" cy="786384"/>
          </a:xfrm>
          <a:prstGeom prst="roundRect">
            <a:avLst/>
          </a:prstGeom>
          <a:solidFill>
            <a:srgbClr val="FDF6E6"/>
          </a:solidFill>
          <a:ln w="15875">
            <a:solidFill>
              <a:srgbClr val="D68910"/>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550" b="1">
                <a:solidFill>
                  <a:srgbClr val="222B35"/>
                </a:solidFill>
                <a:latin typeface="Segoe UI"/>
              </a:rPr>
              <a:t>Potongan tandan di sini 3,4 kali lebih kabur dan 1,7 kali lebih pucat. Piksel tandannya justru lebih banyak, jadi yang kurang adalah mutu citra, bukan ukuran objek.</a:t>
            </a:r>
          </a:p>
        </p:txBody>
      </p:sp>
      <p:sp>
        <p:nvSpPr>
          <p:cNvPr id="7" name="TextBox 6"/>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IMPLIKASI</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Arti hasil ini bagi sistem di lapangan</a:t>
            </a:r>
          </a:p>
        </p:txBody>
      </p:sp>
      <p:sp>
        <p:nvSpPr>
          <p:cNvPr id="5" name="Rectangle 4"/>
          <p:cNvSpPr/>
          <p:nvPr/>
        </p:nvSpPr>
        <p:spPr>
          <a:xfrm>
            <a:off x="731520" y="1572768"/>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517904"/>
            <a:ext cx="10543032" cy="329184"/>
          </a:xfrm>
          <a:prstGeom prst="rect">
            <a:avLst/>
          </a:prstGeom>
          <a:noFill/>
        </p:spPr>
        <p:txBody>
          <a:bodyPr wrap="square" lIns="18288" rIns="18288" tIns="0" bIns="0">
            <a:spAutoFit/>
          </a:bodyPr>
          <a:lstStyle/>
          <a:p>
            <a:pPr algn="l">
              <a:spcBef>
                <a:spcPts val="0"/>
              </a:spcBef>
              <a:spcAft>
                <a:spcPts val="0"/>
              </a:spcAft>
            </a:pPr>
            <a:r>
              <a:rPr sz="1750" b="1">
                <a:solidFill>
                  <a:srgbClr val="1F3A5F"/>
                </a:solidFill>
                <a:latin typeface="Segoe UI"/>
              </a:rPr>
              <a:t>Pakai jalur warna untuk sekarang.</a:t>
            </a:r>
          </a:p>
        </p:txBody>
      </p:sp>
      <p:sp>
        <p:nvSpPr>
          <p:cNvPr id="7" name="TextBox 6"/>
          <p:cNvSpPr txBox="1"/>
          <p:nvPr/>
        </p:nvSpPr>
        <p:spPr>
          <a:xfrm>
            <a:off x="932688" y="1865376"/>
            <a:ext cx="10543032" cy="713232"/>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RF-DETR-L menjadi pembanding terbaik yang teramati, dengan mAP50 0,6038. Kecepatannya 8,5 FPS pada GPU L4, sehingga masih perlu optimasi untuk waktu nyata.</a:t>
            </a:r>
          </a:p>
        </p:txBody>
      </p:sp>
      <p:sp>
        <p:nvSpPr>
          <p:cNvPr id="8" name="Rectangle 7"/>
          <p:cNvSpPr/>
          <p:nvPr/>
        </p:nvSpPr>
        <p:spPr>
          <a:xfrm>
            <a:off x="731520" y="2688336"/>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633472"/>
            <a:ext cx="10543032" cy="329184"/>
          </a:xfrm>
          <a:prstGeom prst="rect">
            <a:avLst/>
          </a:prstGeom>
          <a:noFill/>
        </p:spPr>
        <p:txBody>
          <a:bodyPr wrap="square" lIns="18288" rIns="18288" tIns="0" bIns="0">
            <a:spAutoFit/>
          </a:bodyPr>
          <a:lstStyle/>
          <a:p>
            <a:pPr algn="l">
              <a:spcBef>
                <a:spcPts val="0"/>
              </a:spcBef>
              <a:spcAft>
                <a:spcPts val="0"/>
              </a:spcAft>
            </a:pPr>
            <a:r>
              <a:rPr sz="1750" b="1">
                <a:solidFill>
                  <a:srgbClr val="1F3A5F"/>
                </a:solidFill>
                <a:latin typeface="Segoe UI"/>
              </a:rPr>
              <a:t>Jangan membeli perangkat depth semata demi akurasi.</a:t>
            </a:r>
          </a:p>
        </p:txBody>
      </p:sp>
      <p:sp>
        <p:nvSpPr>
          <p:cNvPr id="10" name="TextBox 9"/>
          <p:cNvSpPr txBox="1"/>
          <p:nvPr/>
        </p:nvSpPr>
        <p:spPr>
          <a:xfrm>
            <a:off x="932688" y="2980944"/>
            <a:ext cx="10543032" cy="713232"/>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Pengukuran yang ada belum mendukung keputusan itu.</a:t>
            </a:r>
          </a:p>
        </p:txBody>
      </p:sp>
      <p:sp>
        <p:nvSpPr>
          <p:cNvPr id="11" name="Rectangle 10"/>
          <p:cNvSpPr/>
          <p:nvPr/>
        </p:nvSpPr>
        <p:spPr>
          <a:xfrm>
            <a:off x="731520" y="3803903"/>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749039"/>
            <a:ext cx="10543032" cy="329184"/>
          </a:xfrm>
          <a:prstGeom prst="rect">
            <a:avLst/>
          </a:prstGeom>
          <a:noFill/>
        </p:spPr>
        <p:txBody>
          <a:bodyPr wrap="square" lIns="18288" rIns="18288" tIns="0" bIns="0">
            <a:spAutoFit/>
          </a:bodyPr>
          <a:lstStyle/>
          <a:p>
            <a:pPr algn="l">
              <a:spcBef>
                <a:spcPts val="0"/>
              </a:spcBef>
              <a:spcAft>
                <a:spcPts val="0"/>
              </a:spcAft>
            </a:pPr>
            <a:r>
              <a:rPr sz="1750" b="1">
                <a:solidFill>
                  <a:srgbClr val="1F3A5F"/>
                </a:solidFill>
                <a:latin typeface="Segoe UI"/>
              </a:rPr>
              <a:t>Perangkat depth yang sudah ada tetap layak dipakai merekam.</a:t>
            </a:r>
          </a:p>
        </p:txBody>
      </p:sp>
      <p:sp>
        <p:nvSpPr>
          <p:cNvPr id="13" name="TextBox 12"/>
          <p:cNvSpPr txBox="1"/>
          <p:nvPr/>
        </p:nvSpPr>
        <p:spPr>
          <a:xfrm>
            <a:off x="932688" y="4096511"/>
            <a:ext cx="10543032" cy="713232"/>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Simpan hasilnya sebagai cabang data terpisah, dengan penyaringan mutu per berkas.</a:t>
            </a:r>
          </a:p>
        </p:txBody>
      </p:sp>
      <p:sp>
        <p:nvSpPr>
          <p:cNvPr id="14" name="Rectangle 13"/>
          <p:cNvSpPr/>
          <p:nvPr/>
        </p:nvSpPr>
        <p:spPr>
          <a:xfrm>
            <a:off x="731520" y="4919472"/>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864608"/>
            <a:ext cx="10543032" cy="329184"/>
          </a:xfrm>
          <a:prstGeom prst="rect">
            <a:avLst/>
          </a:prstGeom>
          <a:noFill/>
        </p:spPr>
        <p:txBody>
          <a:bodyPr wrap="square" lIns="18288" rIns="18288" tIns="0" bIns="0">
            <a:spAutoFit/>
          </a:bodyPr>
          <a:lstStyle/>
          <a:p>
            <a:pPr algn="l">
              <a:spcBef>
                <a:spcPts val="0"/>
              </a:spcBef>
              <a:spcAft>
                <a:spcPts val="0"/>
              </a:spcAft>
            </a:pPr>
            <a:r>
              <a:rPr sz="1750" b="1">
                <a:solidFill>
                  <a:srgbClr val="1F3A5F"/>
                </a:solidFill>
                <a:latin typeface="Segoe UI"/>
              </a:rPr>
              <a:t>Kekeliruan B2 lawan B3 perlu penanganan lain.</a:t>
            </a:r>
          </a:p>
        </p:txBody>
      </p:sp>
      <p:sp>
        <p:nvSpPr>
          <p:cNvPr id="16" name="TextBox 15"/>
          <p:cNvSpPr txBox="1"/>
          <p:nvPr/>
        </p:nvSpPr>
        <p:spPr>
          <a:xfrm>
            <a:off x="932688" y="5212080"/>
            <a:ext cx="10543032" cy="713232"/>
          </a:xfrm>
          <a:prstGeom prst="rect">
            <a:avLst/>
          </a:prstGeom>
          <a:noFill/>
        </p:spPr>
        <p:txBody>
          <a:bodyPr wrap="square" lIns="18288" rIns="18288" tIns="0" bIns="0">
            <a:spAutoFit/>
          </a:bodyPr>
          <a:lstStyle/>
          <a:p>
            <a:pPr algn="l">
              <a:spcBef>
                <a:spcPts val="0"/>
              </a:spcBef>
              <a:spcAft>
                <a:spcPts val="0"/>
              </a:spcAft>
            </a:pPr>
            <a:r>
              <a:rPr sz="1450" b="0">
                <a:solidFill>
                  <a:srgbClr val="5A6672"/>
                </a:solidFill>
                <a:latin typeface="Segoe UI"/>
              </a:rPr>
              <a:t>Gunakan loss ordinal atau kepala regresi. Kekeliruannya berurutan, bukan acak.</a:t>
            </a:r>
          </a:p>
        </p:txBody>
      </p:sp>
      <p:sp>
        <p:nvSpPr>
          <p:cNvPr id="17" name="TextBox 16"/>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744200" cy="274320"/>
          </a:xfrm>
          <a:prstGeom prst="rect">
            <a:avLst/>
          </a:prstGeom>
          <a:noFill/>
        </p:spPr>
        <p:txBody>
          <a:bodyPr wrap="square" lIns="18288" rIns="18288" tIns="0" bIns="0">
            <a:spAutoFit/>
          </a:bodyPr>
          <a:lstStyle/>
          <a:p>
            <a:pPr algn="l">
              <a:spcBef>
                <a:spcPts val="0"/>
              </a:spcBef>
              <a:spcAft>
                <a:spcPts val="0"/>
              </a:spcAft>
            </a:pPr>
            <a:r>
              <a:rPr sz="1250" b="1">
                <a:solidFill>
                  <a:srgbClr val="2E8B8B"/>
                </a:solidFill>
                <a:latin typeface="Segoe UI"/>
              </a:rPr>
              <a:t>BATAS HASIL</a:t>
            </a:r>
          </a:p>
        </p:txBody>
      </p:sp>
      <p:sp>
        <p:nvSpPr>
          <p:cNvPr id="4" name="TextBox 3"/>
          <p:cNvSpPr txBox="1"/>
          <p:nvPr/>
        </p:nvSpPr>
        <p:spPr>
          <a:xfrm>
            <a:off x="731520" y="640080"/>
            <a:ext cx="10744200" cy="658368"/>
          </a:xfrm>
          <a:prstGeom prst="rect">
            <a:avLst/>
          </a:prstGeom>
          <a:noFill/>
        </p:spPr>
        <p:txBody>
          <a:bodyPr wrap="square" lIns="18288" rIns="18288" tIns="0" bIns="0">
            <a:spAutoFit/>
          </a:bodyPr>
          <a:lstStyle/>
          <a:p>
            <a:pPr algn="l">
              <a:spcBef>
                <a:spcPts val="0"/>
              </a:spcBef>
              <a:spcAft>
                <a:spcPts val="0"/>
              </a:spcAft>
            </a:pPr>
            <a:r>
              <a:rPr sz="2900" b="1">
                <a:solidFill>
                  <a:srgbClr val="1F3A5F"/>
                </a:solidFill>
                <a:latin typeface="Segoe UI"/>
              </a:rPr>
              <a:t>Batas jawaban ini dan pekerjaan yang tersisa</a:t>
            </a:r>
          </a:p>
        </p:txBody>
      </p:sp>
      <p:sp>
        <p:nvSpPr>
          <p:cNvPr id="5" name="TextBox 4"/>
          <p:cNvSpPr txBox="1"/>
          <p:nvPr/>
        </p:nvSpPr>
        <p:spPr>
          <a:xfrm>
            <a:off x="731520" y="1517904"/>
            <a:ext cx="5074920" cy="347472"/>
          </a:xfrm>
          <a:prstGeom prst="rect">
            <a:avLst/>
          </a:prstGeom>
          <a:noFill/>
        </p:spPr>
        <p:txBody>
          <a:bodyPr wrap="square" lIns="18288" rIns="18288" tIns="0" bIns="0">
            <a:spAutoFit/>
          </a:bodyPr>
          <a:lstStyle/>
          <a:p>
            <a:pPr algn="l">
              <a:spcBef>
                <a:spcPts val="0"/>
              </a:spcBef>
              <a:spcAft>
                <a:spcPts val="0"/>
              </a:spcAft>
            </a:pPr>
            <a:r>
              <a:rPr sz="1850" b="1">
                <a:solidFill>
                  <a:srgbClr val="1F3A5F"/>
                </a:solidFill>
                <a:latin typeface="Segoe UI"/>
              </a:rPr>
              <a:t>Kondisi yang diuji</a:t>
            </a:r>
          </a:p>
        </p:txBody>
      </p:sp>
      <p:sp>
        <p:nvSpPr>
          <p:cNvPr id="6" name="TextBox 5"/>
          <p:cNvSpPr txBox="1"/>
          <p:nvPr/>
        </p:nvSpPr>
        <p:spPr>
          <a:xfrm>
            <a:off x="731520" y="1938528"/>
            <a:ext cx="5074920" cy="3246120"/>
          </a:xfrm>
          <a:prstGeom prst="rect">
            <a:avLst/>
          </a:prstGeom>
          <a:noFill/>
        </p:spPr>
        <p:txBody>
          <a:bodyPr wrap="square" lIns="18288" rIns="18288" tIns="0" bIns="0">
            <a:spAutoFit/>
          </a:bodyPr>
          <a:lstStyle/>
          <a:p>
            <a:pPr algn="l">
              <a:spcBef>
                <a:spcPts val="0"/>
              </a:spcBef>
              <a:spcAft>
                <a:spcPts val="1100"/>
              </a:spcAft>
            </a:pPr>
            <a:r>
              <a:rPr sz="1550" b="0">
                <a:solidFill>
                  <a:srgbClr val="222B35"/>
                </a:solidFill>
                <a:latin typeface="Segoe UI"/>
              </a:rPr>
              <a:t>▸  Modelnya hanya YOLO26n, 640 piksel, 150 epoch.</a:t>
            </a:r>
          </a:p>
          <a:p>
            <a:pPr algn="l">
              <a:spcBef>
                <a:spcPts val="0"/>
              </a:spcBef>
              <a:spcAft>
                <a:spcPts val="1100"/>
              </a:spcAft>
            </a:pPr>
            <a:r>
              <a:rPr sz="1550" b="0">
                <a:solidFill>
                  <a:srgbClr val="222B35"/>
                </a:solidFill>
                <a:latin typeface="Segoe UI"/>
              </a:rPr>
              <a:t>▸  Datanya satu pembagian dengan tiga pengacakan awal.</a:t>
            </a:r>
          </a:p>
          <a:p>
            <a:pPr algn="l">
              <a:spcBef>
                <a:spcPts val="0"/>
              </a:spcBef>
              <a:spcAft>
                <a:spcPts val="1100"/>
              </a:spcAft>
            </a:pPr>
            <a:r>
              <a:rPr sz="1550" b="0">
                <a:solidFill>
                  <a:srgbClr val="222B35"/>
                </a:solidFill>
                <a:latin typeface="Segoe UI"/>
              </a:rPr>
              <a:t>▸  Pelatihannya dari nol, tanpa bobot awal.</a:t>
            </a:r>
          </a:p>
          <a:p>
            <a:pPr algn="l">
              <a:spcBef>
                <a:spcPts val="0"/>
              </a:spcBef>
              <a:spcAft>
                <a:spcPts val="1100"/>
              </a:spcAft>
            </a:pPr>
            <a:r>
              <a:rPr sz="1550" b="0">
                <a:solidFill>
                  <a:srgbClr val="222B35"/>
                </a:solidFill>
                <a:latin typeface="Segoe UI"/>
              </a:rPr>
              <a:t>▸  Dataset depth memuat 352 pohon.</a:t>
            </a:r>
          </a:p>
          <a:p>
            <a:pPr algn="l">
              <a:spcBef>
                <a:spcPts val="0"/>
              </a:spcBef>
              <a:spcAft>
                <a:spcPts val="1100"/>
              </a:spcAft>
            </a:pPr>
            <a:r>
              <a:rPr sz="1550" b="0">
                <a:solidFill>
                  <a:srgbClr val="222B35"/>
                </a:solidFill>
                <a:latin typeface="Segoe UI"/>
              </a:rPr>
              <a:t>▸  Kameranya satu jenis dengan satu penyandian jarak.</a:t>
            </a:r>
          </a:p>
        </p:txBody>
      </p:sp>
      <p:sp>
        <p:nvSpPr>
          <p:cNvPr id="7" name="TextBox 6"/>
          <p:cNvSpPr txBox="1"/>
          <p:nvPr/>
        </p:nvSpPr>
        <p:spPr>
          <a:xfrm>
            <a:off x="6400800" y="1517904"/>
            <a:ext cx="5074920" cy="347472"/>
          </a:xfrm>
          <a:prstGeom prst="rect">
            <a:avLst/>
          </a:prstGeom>
          <a:noFill/>
        </p:spPr>
        <p:txBody>
          <a:bodyPr wrap="square" lIns="18288" rIns="18288" tIns="0" bIns="0">
            <a:spAutoFit/>
          </a:bodyPr>
          <a:lstStyle/>
          <a:p>
            <a:pPr algn="l">
              <a:spcBef>
                <a:spcPts val="0"/>
              </a:spcBef>
              <a:spcAft>
                <a:spcPts val="0"/>
              </a:spcAft>
            </a:pPr>
            <a:r>
              <a:rPr sz="1850" b="1">
                <a:solidFill>
                  <a:srgbClr val="C0392B"/>
                </a:solidFill>
                <a:latin typeface="Segoe UI"/>
              </a:rPr>
              <a:t>Yang belum diuji</a:t>
            </a:r>
          </a:p>
        </p:txBody>
      </p:sp>
      <p:sp>
        <p:nvSpPr>
          <p:cNvPr id="8" name="TextBox 7"/>
          <p:cNvSpPr txBox="1"/>
          <p:nvPr/>
        </p:nvSpPr>
        <p:spPr>
          <a:xfrm>
            <a:off x="6400800" y="1938528"/>
            <a:ext cx="5074920" cy="3246120"/>
          </a:xfrm>
          <a:prstGeom prst="rect">
            <a:avLst/>
          </a:prstGeom>
          <a:noFill/>
        </p:spPr>
        <p:txBody>
          <a:bodyPr wrap="square" lIns="18288" rIns="18288" tIns="0" bIns="0">
            <a:spAutoFit/>
          </a:bodyPr>
          <a:lstStyle/>
          <a:p>
            <a:pPr algn="l">
              <a:spcBef>
                <a:spcPts val="0"/>
              </a:spcBef>
              <a:spcAft>
                <a:spcPts val="1100"/>
              </a:spcAft>
            </a:pPr>
            <a:r>
              <a:rPr sz="1550" b="0">
                <a:solidFill>
                  <a:srgbClr val="222B35"/>
                </a:solidFill>
                <a:latin typeface="Segoe UI"/>
              </a:rPr>
              <a:t>▸  Pengaruh ukuran model baru diuji satu kali.</a:t>
            </a:r>
          </a:p>
          <a:p>
            <a:pPr algn="l">
              <a:spcBef>
                <a:spcPts val="0"/>
              </a:spcBef>
              <a:spcAft>
                <a:spcPts val="1100"/>
              </a:spcAft>
            </a:pPr>
            <a:r>
              <a:rPr sz="1550" b="0">
                <a:solidFill>
                  <a:srgbClr val="222B35"/>
                </a:solidFill>
                <a:latin typeface="Segoe UI"/>
              </a:rPr>
              <a:t>▸  Lima dari 12 pelatihan tambahan belum selesai.</a:t>
            </a:r>
          </a:p>
          <a:p>
            <a:pPr algn="l">
              <a:spcBef>
                <a:spcPts val="0"/>
              </a:spcBef>
              <a:spcAft>
                <a:spcPts val="1100"/>
              </a:spcAft>
            </a:pPr>
            <a:r>
              <a:rPr sz="1550" b="0">
                <a:solidFill>
                  <a:srgbClr val="222B35"/>
                </a:solidFill>
                <a:latin typeface="Segoe UI"/>
              </a:rPr>
              <a:t>▸  Perbandingan berpasangannya belum dihitung.</a:t>
            </a:r>
          </a:p>
          <a:p>
            <a:pPr algn="l">
              <a:spcBef>
                <a:spcPts val="0"/>
              </a:spcBef>
              <a:spcAft>
                <a:spcPts val="1100"/>
              </a:spcAft>
            </a:pPr>
            <a:r>
              <a:rPr sz="1550" b="0">
                <a:solidFill>
                  <a:srgbClr val="222B35"/>
                </a:solidFill>
                <a:latin typeface="Segoe UI"/>
              </a:rPr>
              <a:t>▸  Detektor RGB terbaik belum diuji dengan depth.</a:t>
            </a:r>
          </a:p>
          <a:p>
            <a:pPr algn="l">
              <a:spcBef>
                <a:spcPts val="0"/>
              </a:spcBef>
              <a:spcAft>
                <a:spcPts val="1100"/>
              </a:spcAft>
            </a:pPr>
            <a:r>
              <a:rPr sz="1550" b="0">
                <a:solidFill>
                  <a:srgbClr val="222B35"/>
                </a:solidFill>
                <a:latin typeface="Segoe UI"/>
              </a:rPr>
              <a:t>▸  Kepadatan tandan yang setara belum pernah diuji.</a:t>
            </a:r>
          </a:p>
        </p:txBody>
      </p:sp>
      <p:sp>
        <p:nvSpPr>
          <p:cNvPr id="9" name="Rounded Rectangle 8"/>
          <p:cNvSpPr/>
          <p:nvPr/>
        </p:nvSpPr>
        <p:spPr>
          <a:xfrm>
            <a:off x="731520" y="5413248"/>
            <a:ext cx="10744200" cy="731520"/>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650" b="1">
                <a:solidFill>
                  <a:srgbClr val="222B35"/>
                </a:solidFill>
                <a:latin typeface="Segoe UI"/>
              </a:rPr>
              <a:t>Kesimpulan ini bersyarat. Mengubah satu saja kondisi di kolom kiri dapat mengubah jawabannya.</a:t>
            </a:r>
          </a:p>
        </p:txBody>
      </p:sp>
      <p:sp>
        <p:nvSpPr>
          <p:cNvPr id="10" name="TextBox 9"/>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10744200" cy="603504"/>
          </a:xfrm>
          <a:prstGeom prst="rect">
            <a:avLst/>
          </a:prstGeom>
          <a:noFill/>
        </p:spPr>
        <p:txBody>
          <a:bodyPr wrap="square" lIns="18288" rIns="18288" tIns="0" bIns="0">
            <a:spAutoFit/>
          </a:bodyPr>
          <a:lstStyle/>
          <a:p>
            <a:pPr algn="l">
              <a:spcBef>
                <a:spcPts val="0"/>
              </a:spcBef>
              <a:spcAft>
                <a:spcPts val="0"/>
              </a:spcAft>
            </a:pPr>
            <a:r>
              <a:rPr sz="3100" b="1">
                <a:solidFill>
                  <a:srgbClr val="1F3A5F"/>
                </a:solidFill>
                <a:latin typeface="Segoe UI"/>
              </a:rPr>
              <a:t>Simpulan</a:t>
            </a:r>
          </a:p>
        </p:txBody>
      </p:sp>
      <p:sp>
        <p:nvSpPr>
          <p:cNvPr id="4" name="Rectangle 3"/>
          <p:cNvSpPr/>
          <p:nvPr/>
        </p:nvSpPr>
        <p:spPr>
          <a:xfrm>
            <a:off x="731520" y="1298448"/>
            <a:ext cx="658368" cy="1225296"/>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2800" b="1">
                <a:solidFill>
                  <a:srgbClr val="FFFFFF"/>
                </a:solidFill>
                <a:latin typeface="Segoe UI"/>
              </a:rPr>
              <a:t>1</a:t>
            </a:r>
          </a:p>
        </p:txBody>
      </p:sp>
      <p:sp>
        <p:nvSpPr>
          <p:cNvPr id="5" name="TextBox 4"/>
          <p:cNvSpPr txBox="1"/>
          <p:nvPr/>
        </p:nvSpPr>
        <p:spPr>
          <a:xfrm>
            <a:off x="1600200" y="1335024"/>
            <a:ext cx="9692640" cy="384048"/>
          </a:xfrm>
          <a:prstGeom prst="rect">
            <a:avLst/>
          </a:prstGeom>
          <a:noFill/>
        </p:spPr>
        <p:txBody>
          <a:bodyPr wrap="square" lIns="18288" rIns="18288" tIns="0" bIns="0">
            <a:spAutoFit/>
          </a:bodyPr>
          <a:lstStyle/>
          <a:p>
            <a:pPr algn="l">
              <a:spcBef>
                <a:spcPts val="0"/>
              </a:spcBef>
              <a:spcAft>
                <a:spcPts val="0"/>
              </a:spcAft>
            </a:pPr>
            <a:r>
              <a:rPr sz="2000" b="1">
                <a:solidFill>
                  <a:srgbClr val="222B35"/>
                </a:solidFill>
                <a:latin typeface="Segoe UI"/>
              </a:rPr>
              <a:t>Manfaatnya belum terukur.</a:t>
            </a:r>
          </a:p>
        </p:txBody>
      </p:sp>
      <p:sp>
        <p:nvSpPr>
          <p:cNvPr id="6" name="TextBox 5"/>
          <p:cNvSpPr txBox="1"/>
          <p:nvPr/>
        </p:nvSpPr>
        <p:spPr>
          <a:xfrm>
            <a:off x="1600200" y="1773936"/>
            <a:ext cx="9692640" cy="731520"/>
          </a:xfrm>
          <a:prstGeom prst="rect">
            <a:avLst/>
          </a:prstGeom>
          <a:noFill/>
        </p:spPr>
        <p:txBody>
          <a:bodyPr wrap="square" lIns="18288" rIns="18288" tIns="0" bIns="0">
            <a:spAutoFit/>
          </a:bodyPr>
          <a:lstStyle/>
          <a:p>
            <a:pPr algn="l">
              <a:spcBef>
                <a:spcPts val="0"/>
              </a:spcBef>
              <a:spcAft>
                <a:spcPts val="0"/>
              </a:spcAft>
            </a:pPr>
            <a:r>
              <a:rPr sz="1550" b="0">
                <a:solidFill>
                  <a:srgbClr val="5A6672"/>
                </a:solidFill>
                <a:latin typeface="Segoe UI"/>
              </a:rPr>
              <a:t>Ketiga titik penggabungan bergerak lebih kecil daripada ragam pengacakan model itu sendiri. Seluruh 12 selang memuat nol.</a:t>
            </a:r>
          </a:p>
        </p:txBody>
      </p:sp>
      <p:sp>
        <p:nvSpPr>
          <p:cNvPr id="7" name="Rectangle 6"/>
          <p:cNvSpPr/>
          <p:nvPr/>
        </p:nvSpPr>
        <p:spPr>
          <a:xfrm>
            <a:off x="731520" y="2724912"/>
            <a:ext cx="658368" cy="1225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2800" b="1">
                <a:solidFill>
                  <a:srgbClr val="FFFFFF"/>
                </a:solidFill>
                <a:latin typeface="Segoe UI"/>
              </a:rPr>
              <a:t>2</a:t>
            </a:r>
          </a:p>
        </p:txBody>
      </p:sp>
      <p:sp>
        <p:nvSpPr>
          <p:cNvPr id="8" name="TextBox 7"/>
          <p:cNvSpPr txBox="1"/>
          <p:nvPr/>
        </p:nvSpPr>
        <p:spPr>
          <a:xfrm>
            <a:off x="1600200" y="2761488"/>
            <a:ext cx="9692640" cy="384048"/>
          </a:xfrm>
          <a:prstGeom prst="rect">
            <a:avLst/>
          </a:prstGeom>
          <a:noFill/>
        </p:spPr>
        <p:txBody>
          <a:bodyPr wrap="square" lIns="18288" rIns="18288" tIns="0" bIns="0">
            <a:spAutoFit/>
          </a:bodyPr>
          <a:lstStyle/>
          <a:p>
            <a:pPr algn="l">
              <a:spcBef>
                <a:spcPts val="0"/>
              </a:spcBef>
              <a:spcAft>
                <a:spcPts val="0"/>
              </a:spcAft>
            </a:pPr>
            <a:r>
              <a:rPr sz="2000" b="1">
                <a:solidFill>
                  <a:srgbClr val="222B35"/>
                </a:solidFill>
                <a:latin typeface="Segoe UI"/>
              </a:rPr>
              <a:t>Alat ukurnya sudah bersih.</a:t>
            </a:r>
          </a:p>
        </p:txBody>
      </p:sp>
      <p:sp>
        <p:nvSpPr>
          <p:cNvPr id="9" name="TextBox 8"/>
          <p:cNvSpPr txBox="1"/>
          <p:nvPr/>
        </p:nvSpPr>
        <p:spPr>
          <a:xfrm>
            <a:off x="1600200" y="3200400"/>
            <a:ext cx="9692640" cy="731520"/>
          </a:xfrm>
          <a:prstGeom prst="rect">
            <a:avLst/>
          </a:prstGeom>
          <a:noFill/>
        </p:spPr>
        <p:txBody>
          <a:bodyPr wrap="square" lIns="18288" rIns="18288" tIns="0" bIns="0">
            <a:spAutoFit/>
          </a:bodyPr>
          <a:lstStyle/>
          <a:p>
            <a:pPr algn="l">
              <a:spcBef>
                <a:spcPts val="0"/>
              </a:spcBef>
              <a:spcAft>
                <a:spcPts val="0"/>
              </a:spcAft>
            </a:pPr>
            <a:r>
              <a:rPr sz="1550" b="0">
                <a:solidFill>
                  <a:srgbClr val="5A6672"/>
                </a:solidFill>
                <a:latin typeface="Segoe UI"/>
              </a:rPr>
              <a:t>Lima galat diperbaiki lebih dahulu, dan hasil positif yang cacat sudah ditarik. Hasil negatif ini bukan akibat salah hitung.</a:t>
            </a:r>
          </a:p>
        </p:txBody>
      </p:sp>
      <p:sp>
        <p:nvSpPr>
          <p:cNvPr id="10" name="Rectangle 9"/>
          <p:cNvSpPr/>
          <p:nvPr/>
        </p:nvSpPr>
        <p:spPr>
          <a:xfrm>
            <a:off x="731520" y="4151376"/>
            <a:ext cx="658368" cy="1225296"/>
          </a:xfrm>
          <a:prstGeom prst="rect">
            <a:avLst/>
          </a:prstGeom>
          <a:solidFill>
            <a:srgbClr val="D689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2800" b="1">
                <a:solidFill>
                  <a:srgbClr val="FFFFFF"/>
                </a:solidFill>
                <a:latin typeface="Segoe UI"/>
              </a:rPr>
              <a:t>3</a:t>
            </a:r>
          </a:p>
        </p:txBody>
      </p:sp>
      <p:sp>
        <p:nvSpPr>
          <p:cNvPr id="11" name="TextBox 10"/>
          <p:cNvSpPr txBox="1"/>
          <p:nvPr/>
        </p:nvSpPr>
        <p:spPr>
          <a:xfrm>
            <a:off x="1600200" y="4187952"/>
            <a:ext cx="9692640" cy="384048"/>
          </a:xfrm>
          <a:prstGeom prst="rect">
            <a:avLst/>
          </a:prstGeom>
          <a:noFill/>
        </p:spPr>
        <p:txBody>
          <a:bodyPr wrap="square" lIns="18288" rIns="18288" tIns="0" bIns="0">
            <a:spAutoFit/>
          </a:bodyPr>
          <a:lstStyle/>
          <a:p>
            <a:pPr algn="l">
              <a:spcBef>
                <a:spcPts val="0"/>
              </a:spcBef>
              <a:spcAft>
                <a:spcPts val="0"/>
              </a:spcAft>
            </a:pPr>
            <a:r>
              <a:rPr sz="2000" b="1">
                <a:solidFill>
                  <a:srgbClr val="222B35"/>
                </a:solidFill>
                <a:latin typeface="Segoe UI"/>
              </a:rPr>
              <a:t>Gagasannya belum tertutup.</a:t>
            </a:r>
          </a:p>
        </p:txBody>
      </p:sp>
      <p:sp>
        <p:nvSpPr>
          <p:cNvPr id="12" name="TextBox 11"/>
          <p:cNvSpPr txBox="1"/>
          <p:nvPr/>
        </p:nvSpPr>
        <p:spPr>
          <a:xfrm>
            <a:off x="1600200" y="4626864"/>
            <a:ext cx="9692640" cy="731520"/>
          </a:xfrm>
          <a:prstGeom prst="rect">
            <a:avLst/>
          </a:prstGeom>
          <a:noFill/>
        </p:spPr>
        <p:txBody>
          <a:bodyPr wrap="square" lIns="18288" rIns="18288" tIns="0" bIns="0">
            <a:spAutoFit/>
          </a:bodyPr>
          <a:lstStyle/>
          <a:p>
            <a:pPr algn="l">
              <a:spcBef>
                <a:spcPts val="0"/>
              </a:spcBef>
              <a:spcAft>
                <a:spcPts val="0"/>
              </a:spcAft>
            </a:pPr>
            <a:r>
              <a:rPr sz="1550" b="0">
                <a:solidFill>
                  <a:srgbClr val="5A6672"/>
                </a:solidFill>
                <a:latin typeface="Segoe UI"/>
              </a:rPr>
              <a:t>Datanya kecil dan jarang isinya. Yang terbukti satu penerapan depth belum berhasil, bukan bahwa depth tidak berguna.</a:t>
            </a:r>
          </a:p>
        </p:txBody>
      </p:sp>
      <p:sp>
        <p:nvSpPr>
          <p:cNvPr id="13" name="Rounded Rectangle 12"/>
          <p:cNvSpPr/>
          <p:nvPr/>
        </p:nvSpPr>
        <p:spPr>
          <a:xfrm>
            <a:off x="731520" y="5596128"/>
            <a:ext cx="10744200" cy="768096"/>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91440" bIns="91440"/>
          <a:lstStyle/>
          <a:p>
            <a:pPr algn="l">
              <a:spcBef>
                <a:spcPts val="0"/>
              </a:spcBef>
              <a:spcAft>
                <a:spcPts val="300"/>
              </a:spcAft>
            </a:pPr>
            <a:r>
              <a:rPr sz="1650" b="1">
                <a:solidFill>
                  <a:srgbClr val="222B35"/>
                </a:solidFill>
                <a:latin typeface="Segoe UI"/>
              </a:rPr>
              <a:t>Langkah berikutnya menguji pengaruh ukuran model pada lebih dari satu pengacakan awal, lalu mengulang uji depth pada dataset yang kepadatan tandannya setara dataset lama.</a:t>
            </a:r>
          </a:p>
        </p:txBody>
      </p:sp>
      <p:sp>
        <p:nvSpPr>
          <p:cNvPr id="14" name="TextBox 13"/>
          <p:cNvSpPr txBox="1"/>
          <p:nvPr/>
        </p:nvSpPr>
        <p:spPr>
          <a:xfrm>
            <a:off x="11109960" y="6382512"/>
            <a:ext cx="777240" cy="274320"/>
          </a:xfrm>
          <a:prstGeom prst="rect">
            <a:avLst/>
          </a:prstGeom>
          <a:noFill/>
        </p:spPr>
        <p:txBody>
          <a:bodyPr wrap="square" lIns="18288" rIns="18288" tIns="0" bIns="0">
            <a:spAutoFit/>
          </a:bodyPr>
          <a:lstStyle/>
          <a:p>
            <a:pPr algn="r">
              <a:spcBef>
                <a:spcPts val="0"/>
              </a:spcBef>
              <a:spcAft>
                <a:spcPts val="0"/>
              </a:spcAft>
            </a:pPr>
            <a:r>
              <a:rPr sz="1150" b="0">
                <a:solidFill>
                  <a:srgbClr val="5A6672"/>
                </a:solidFill>
                <a:latin typeface="Segoe U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