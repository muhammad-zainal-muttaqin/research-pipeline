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cfd4932da540fc" /><Relationship Type="http://schemas.openxmlformats.org/officeDocument/2006/relationships/extended-properties" Target="/docProps/app.xml" Id="R4ac6e746d31f40bd" /><Relationship Type="http://schemas.openxmlformats.org/officeDocument/2006/relationships/officeDocument" Target="/ppt/presentation.xml" Id="R9e471c730ed741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42d3552ed84fc5"/>
  </p:sldMasterIdLst>
  <p:notesMasterIdLst>
    <p:notesMasterId xmlns:r="http://schemas.openxmlformats.org/officeDocument/2006/relationships" r:id="R5437358075724e8a"/>
  </p:notesMasterIdLst>
  <p:sldIdLst>
    <p:sldId xmlns:r="http://schemas.openxmlformats.org/officeDocument/2006/relationships" id="256" r:id="Rffcebaa924f3474d"/>
    <p:sldId xmlns:r="http://schemas.openxmlformats.org/officeDocument/2006/relationships" id="257" r:id="Rd38bc00bbb034ffe"/>
    <p:sldId xmlns:r="http://schemas.openxmlformats.org/officeDocument/2006/relationships" id="258" r:id="R8507eeb2c33b4fe3"/>
    <p:sldId xmlns:r="http://schemas.openxmlformats.org/officeDocument/2006/relationships" id="259" r:id="R7b104f2fd126488b"/>
    <p:sldId xmlns:r="http://schemas.openxmlformats.org/officeDocument/2006/relationships" id="260" r:id="R2d8490b7ad264d32"/>
    <p:sldId xmlns:r="http://schemas.openxmlformats.org/officeDocument/2006/relationships" id="261" r:id="R97d68ed5727a4bf3"/>
    <p:sldId xmlns:r="http://schemas.openxmlformats.org/officeDocument/2006/relationships" id="262" r:id="R99f07f936d8f448f"/>
    <p:sldId xmlns:r="http://schemas.openxmlformats.org/officeDocument/2006/relationships" id="263" r:id="Rfd713de02c1b4bef"/>
    <p:sldId xmlns:r="http://schemas.openxmlformats.org/officeDocument/2006/relationships" id="264" r:id="R01a1348028c34796"/>
    <p:sldId xmlns:r="http://schemas.openxmlformats.org/officeDocument/2006/relationships" id="265" r:id="Rf5c775b8e67a4f67"/>
    <p:sldId xmlns:r="http://schemas.openxmlformats.org/officeDocument/2006/relationships" id="266" r:id="R3664b245731c4562"/>
    <p:sldId xmlns:r="http://schemas.openxmlformats.org/officeDocument/2006/relationships" id="267" r:id="R6559df645d264071"/>
    <p:sldId xmlns:r="http://schemas.openxmlformats.org/officeDocument/2006/relationships" id="268" r:id="Rf82208d3cbd5420d"/>
    <p:sldId xmlns:r="http://schemas.openxmlformats.org/officeDocument/2006/relationships" id="269" r:id="Rb3cfb194193c412d"/>
    <p:sldId xmlns:r="http://schemas.openxmlformats.org/officeDocument/2006/relationships" id="270" r:id="Rd72623c2573d4a7a"/>
    <p:sldId xmlns:r="http://schemas.openxmlformats.org/officeDocument/2006/relationships" id="271" r:id="R66f93d8a3227402b"/>
    <p:sldId xmlns:r="http://schemas.openxmlformats.org/officeDocument/2006/relationships" id="272" r:id="R8f3cdc2b661b4736"/>
    <p:sldId xmlns:r="http://schemas.openxmlformats.org/officeDocument/2006/relationships" id="273" r:id="R391a8fcf24374ef9"/>
    <p:sldId xmlns:r="http://schemas.openxmlformats.org/officeDocument/2006/relationships" id="274" r:id="R77cc53ff29c64e1a"/>
    <p:sldId xmlns:r="http://schemas.openxmlformats.org/officeDocument/2006/relationships" id="275" r:id="R568084dd8fe843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e5552d40664101" /><Relationship Type="http://schemas.openxmlformats.org/officeDocument/2006/relationships/slideMaster" Target="/ppt/slideMasters/slideMaster1.xml" Id="R6642d3552ed84fc5" /><Relationship Type="http://schemas.openxmlformats.org/officeDocument/2006/relationships/notesMaster" Target="/ppt/notesMasters/notesMaster1.xml" Id="R5437358075724e8a" /><Relationship Type="http://schemas.openxmlformats.org/officeDocument/2006/relationships/presProps" Target="/ppt/presProps.xml" Id="R08481bd7f33e4e9f" /><Relationship Type="http://schemas.openxmlformats.org/officeDocument/2006/relationships/tableStyles" Target="/ppt/tableStyles.xml" Id="R521ef395a2844ec7" /><Relationship Type="http://schemas.openxmlformats.org/officeDocument/2006/relationships/slide" Target="/ppt/slides/slide1.xml" Id="Rffcebaa924f3474d" /><Relationship Type="http://schemas.openxmlformats.org/officeDocument/2006/relationships/slide" Target="/ppt/slides/slide2.xml" Id="Rd38bc00bbb034ffe" /><Relationship Type="http://schemas.openxmlformats.org/officeDocument/2006/relationships/slide" Target="/ppt/slides/slide3.xml" Id="R8507eeb2c33b4fe3" /><Relationship Type="http://schemas.openxmlformats.org/officeDocument/2006/relationships/slide" Target="/ppt/slides/slide4.xml" Id="R7b104f2fd126488b" /><Relationship Type="http://schemas.openxmlformats.org/officeDocument/2006/relationships/slide" Target="/ppt/slides/slide5.xml" Id="R2d8490b7ad264d32" /><Relationship Type="http://schemas.openxmlformats.org/officeDocument/2006/relationships/slide" Target="/ppt/slides/slide6.xml" Id="R97d68ed5727a4bf3" /><Relationship Type="http://schemas.openxmlformats.org/officeDocument/2006/relationships/slide" Target="/ppt/slides/slide7.xml" Id="R99f07f936d8f448f" /><Relationship Type="http://schemas.openxmlformats.org/officeDocument/2006/relationships/slide" Target="/ppt/slides/slide8.xml" Id="Rfd713de02c1b4bef" /><Relationship Type="http://schemas.openxmlformats.org/officeDocument/2006/relationships/slide" Target="/ppt/slides/slide9.xml" Id="R01a1348028c34796" /><Relationship Type="http://schemas.openxmlformats.org/officeDocument/2006/relationships/slide" Target="/ppt/slides/slide10.xml" Id="Rf5c775b8e67a4f67" /><Relationship Type="http://schemas.openxmlformats.org/officeDocument/2006/relationships/slide" Target="/ppt/slides/slide11.xml" Id="R3664b245731c4562" /><Relationship Type="http://schemas.openxmlformats.org/officeDocument/2006/relationships/slide" Target="/ppt/slides/slide12.xml" Id="R6559df645d264071" /><Relationship Type="http://schemas.openxmlformats.org/officeDocument/2006/relationships/slide" Target="/ppt/slides/slide13.xml" Id="Rf82208d3cbd5420d" /><Relationship Type="http://schemas.openxmlformats.org/officeDocument/2006/relationships/slide" Target="/ppt/slides/slide14.xml" Id="Rb3cfb194193c412d" /><Relationship Type="http://schemas.openxmlformats.org/officeDocument/2006/relationships/slide" Target="/ppt/slides/slide15.xml" Id="Rd72623c2573d4a7a" /><Relationship Type="http://schemas.openxmlformats.org/officeDocument/2006/relationships/slide" Target="/ppt/slides/slide16.xml" Id="R66f93d8a3227402b" /><Relationship Type="http://schemas.openxmlformats.org/officeDocument/2006/relationships/slide" Target="/ppt/slides/slide17.xml" Id="R8f3cdc2b661b4736" /><Relationship Type="http://schemas.openxmlformats.org/officeDocument/2006/relationships/slide" Target="/ppt/slides/slide18.xml" Id="R391a8fcf24374ef9" /><Relationship Type="http://schemas.openxmlformats.org/officeDocument/2006/relationships/slide" Target="/ppt/slides/slide19.xml" Id="R77cc53ff29c64e1a" /><Relationship Type="http://schemas.openxmlformats.org/officeDocument/2006/relationships/slide" Target="/ppt/slides/slide20.xml" Id="R568084dd8fe8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1f49fd425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4b400f963c4e7a" /><Relationship Type="http://schemas.openxmlformats.org/officeDocument/2006/relationships/notesMaster" Target="/ppt/notesMasters/notesMaster1.xml" Id="Ra78df3c91bdb4a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1fbc9254b442e7" /><Relationship Type="http://schemas.openxmlformats.org/officeDocument/2006/relationships/notesMaster" Target="/ppt/notesMasters/notesMaster1.xml" Id="Rf5589d9a22cb49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3c55d089e34f41" /><Relationship Type="http://schemas.openxmlformats.org/officeDocument/2006/relationships/notesMaster" Target="/ppt/notesMasters/notesMaster1.xml" Id="R042212a73bbe47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ab0d82e2734a01" /><Relationship Type="http://schemas.openxmlformats.org/officeDocument/2006/relationships/notesMaster" Target="/ppt/notesMasters/notesMaster1.xml" Id="R18c2ac9402004d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0d9aa521384b82" /><Relationship Type="http://schemas.openxmlformats.org/officeDocument/2006/relationships/notesMaster" Target="/ppt/notesMasters/notesMaster1.xml" Id="R4d39f244dc8045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fd769a50514b7e" /><Relationship Type="http://schemas.openxmlformats.org/officeDocument/2006/relationships/notesMaster" Target="/ppt/notesMasters/notesMaster1.xml" Id="R481f0de451d849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58b27d2b624147" /><Relationship Type="http://schemas.openxmlformats.org/officeDocument/2006/relationships/notesMaster" Target="/ppt/notesMasters/notesMaster1.xml" Id="R5eeaedf9f0fa4b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70a96364bc43fa" /><Relationship Type="http://schemas.openxmlformats.org/officeDocument/2006/relationships/notesMaster" Target="/ppt/notesMasters/notesMaster1.xml" Id="Rec561f7c4cd448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7d5877ec0449a8" /><Relationship Type="http://schemas.openxmlformats.org/officeDocument/2006/relationships/notesMaster" Target="/ppt/notesMasters/notesMaster1.xml" Id="Red646844937543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a2958b9de84cee" /><Relationship Type="http://schemas.openxmlformats.org/officeDocument/2006/relationships/notesMaster" Target="/ppt/notesMasters/notesMaster1.xml" Id="R11d32f7a529b42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66a615bb374a2e" /><Relationship Type="http://schemas.openxmlformats.org/officeDocument/2006/relationships/notesMaster" Target="/ppt/notesMasters/notesMaster1.xml" Id="R24b49cd86bf245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340f5394b7464a" /><Relationship Type="http://schemas.openxmlformats.org/officeDocument/2006/relationships/notesMaster" Target="/ppt/notesMasters/notesMaster1.xml" Id="R943489b63ffa4c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7ebfefde294b7c" /><Relationship Type="http://schemas.openxmlformats.org/officeDocument/2006/relationships/notesMaster" Target="/ppt/notesMasters/notesMaster1.xml" Id="R532cefb95ae344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09285d96d5469c" /><Relationship Type="http://schemas.openxmlformats.org/officeDocument/2006/relationships/notesMaster" Target="/ppt/notesMasters/notesMaster1.xml" Id="R7a95f37398b345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1d7fcb216f4390" /><Relationship Type="http://schemas.openxmlformats.org/officeDocument/2006/relationships/notesMaster" Target="/ppt/notesMasters/notesMaster1.xml" Id="R6a54586879e747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13facb2f0f4f1d" /><Relationship Type="http://schemas.openxmlformats.org/officeDocument/2006/relationships/notesMaster" Target="/ppt/notesMasters/notesMaster1.xml" Id="Rd2168961dd984c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eed1ac36f342a5" /><Relationship Type="http://schemas.openxmlformats.org/officeDocument/2006/relationships/notesMaster" Target="/ppt/notesMasters/notesMaster1.xml" Id="R33edcee138404c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663204547a4948" /><Relationship Type="http://schemas.openxmlformats.org/officeDocument/2006/relationships/notesMaster" Target="/ppt/notesMasters/notesMaster1.xml" Id="R5453f86dd7fb48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9e6e4307a54930" /><Relationship Type="http://schemas.openxmlformats.org/officeDocument/2006/relationships/notesMaster" Target="/ppt/notesMasters/notesMaster1.xml" Id="Rf9e1fe305c7a43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fee31adaf304997" /><Relationship Type="http://schemas.openxmlformats.org/officeDocument/2006/relationships/notesMaster" Target="/ppt/notesMasters/notesMaster1.xml" Id="Rb2265ae42d31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1-2: title, authors, abstract, and headline findings.</a:t>
            </a:r>
          </a:p>
          <a:p xmlns:a="http://schemas.openxmlformats.org/drawingml/2006/main">
            <a:r>
              <a:t>- reports.tex, current working-tree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The deck preserves the report's conditional language and does not convert a development result into a deployment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p. 2: abstract conclusions.</a:t>
            </a:r>
          </a:p>
          <a:p xmlns:a="http://schemas.openxmlformats.org/drawingml/2006/main">
            <a:r>
              <a:t>- reports.pdf, pp. 88-93: synthesis, limitations,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RF-DETR-L and the physical-depth branch use different datasets and must not be merged into one absolute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3 and 92-93: operational research question and unvalidated inventory endpoint.</a:t>
            </a:r>
          </a:p>
          <a:p xmlns:a="http://schemas.openxmlformats.org/drawingml/2006/main">
            <a:r>
              <a:t>- docs/manuscript/figures/N17-field-inventory-gpt-image-2.png: explanatory field-inventory figure.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Detection, maturity, identity, and one-count-per-bunch are separate estimands in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2-4: record accounting, evidence boundary, and two research branches.</a:t>
            </a:r>
          </a:p>
          <a:p xmlns:a="http://schemas.openxmlformats.org/drawingml/2006/main">
            <a:r>
              <a:t>- reports.pdf, pp. 106-107: dataset contracts.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The report retains E-008 and E-023 for provenance without inflating the count of independent executed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p. 4: 202 literature records and 182 verified local PDFs.</a:t>
            </a:r>
          </a:p>
          <a:p xmlns:a="http://schemas.openxmlformats.org/drawingml/2006/main">
            <a:r>
              <a:t>- reports.tex, current working-tree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Literature frames the research question; audited experiment records supply the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12-18: causal spine, research design, and full research storyline.</a:t>
            </a:r>
          </a:p>
          <a:p xmlns:a="http://schemas.openxmlformats.org/drawingml/2006/main">
            <a:r>
              <a:t>- docs/manuscript/figures/N03-causal-spine-gpt-image-2.png: causal research-phase figure.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The numbered records are a dependency graph, not a list of interchangeable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19-22: E-001 class-mismatch audit and E-002 provenance audit.</a:t>
            </a:r>
          </a:p>
          <a:p xmlns:a="http://schemas.openxmlformats.org/drawingml/2006/main">
            <a:r>
              <a:t>- reports.pdf, pp. 57-60: record-level interpretation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These records are negative findings about the validity of a measurement path, not detector-training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22-32: E-003 to E-008 relative-geometry and bunch-identity records.</a:t>
            </a:r>
          </a:p>
          <a:p xmlns:a="http://schemas.openxmlformats.org/drawingml/2006/main">
            <a:r>
              <a:t>- docs/manuscript/figures/N02-rgbd-hypothesis-gpt-image-2.png: RGB-D hypothesis translation.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Tree-level ordering is retained as contextual geometry; it does not transfer automatically to individual partially occluded bunches.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33-45: E-009 to E-012 RGB bottleneck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The report separates a remaining limitation, such as B4 appearance difficulty, from an implementation defect that changes an experiment's estimand.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p. 47: E-014 comparison and provisional status.</a:t>
            </a:r>
          </a:p>
          <a:p xmlns:a="http://schemas.openxmlformats.org/drawingml/2006/main">
            <a:r>
              <a:t>- reports.tex, lines 2014-2030: prediction-JSON identity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The gap is a provisional diagnostic, not a causal decomposition.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46-62: E-013 to E-021 RGB contract, interventions, and model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A detector-family comparison changes several architecture factors together, so it supports a shortlist decision rather than a single-component attribution.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61-62, Table 17: E-021 model comparison and paired bootstrap.</a:t>
            </a:r>
          </a:p>
          <a:p xmlns:a="http://schemas.openxmlformats.org/drawingml/2006/main">
            <a:r>
              <a:t>- docs/manuscript/figures/R03-e021-model-comparison.png: deterministic E-021 plot.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RF-DETR-L is RGB-only here and its absolute score is not comparable to the physical-depth branch's absolute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64-68: E-022 physical-depth audit and E-023 execution alias.</a:t>
            </a:r>
          </a:p>
          <a:p xmlns:a="http://schemas.openxmlformats.org/drawingml/2006/main">
            <a:r>
              <a:t>- reports.pdf, p. 90: physical-depth failure attribution and withdrawn seed-42 interval.</a:t>
            </a:r>
          </a:p>
          <a:p xmlns:a="http://schemas.openxmlformats.org/drawingml/2006/main">
            <a:r>
              <a:t>- docs/manuscript/figures/N05-physical-depth-audit-gpt-image-2.png: physical-depth audit figure.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Repairing an implementation defect changes the estimand; the old positive-looking observation remains audit history, not current evidence of sensor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69-74: E-024 cross-side identity graph, E-025 evaluator binding, and E-026 identity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Identity evidence and detection evidence have distinct denominators and cannot be substituted for one another.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75-77, Table 22: E-027 three-seed paired contrasts.</a:t>
            </a:r>
          </a:p>
          <a:p xmlns:a="http://schemas.openxmlformats.org/drawingml/2006/main">
            <a:r>
              <a:t>- docs/manuscript/figures/R04-e027-multiseed-deltas.png: deterministic E-027 plot.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The report's verdict is that the benefit criterion is falsified in this tested regime, while universal harm remains unsupported.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p. 78: E-028 power comparison.</a:t>
            </a:r>
          </a:p>
          <a:p xmlns:a="http://schemas.openxmlformats.org/drawingml/2006/main">
            <a:r>
              <a:t>- reports.tex, lines 3426-3491: 1,404 physical bunches, 511 measured bunches, no physical-depth test.</a:t>
            </a:r>
          </a:p>
          <a:p xmlns:a="http://schemas.openxmlformats.org/drawingml/2006/main">
            <a:r>
              <a:t>- reports.tex, lines 3433-3439: YOLO26n configuration; RF-DETR-L not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[Provenance conflict]</a:t>
            </a:r>
          </a:p>
          <a:p xmlns:a="http://schemas.openxmlformats.org/drawingml/2006/main">
            <a:r>
              <a:t>- The PDF names RF-DETR-L, while reports.tex specifies YOLO26n. The deck records the conflict and makes no model-specific E-028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81-84: E-029 to E-031 and their limits.</a:t>
            </a:r>
          </a:p>
          <a:p xmlns:a="http://schemas.openxmlformats.org/drawingml/2006/main">
            <a:r>
              <a:t>- reports.tex, lines 3533-3680: E-029 and E-030 evidence.</a:t>
            </a:r>
          </a:p>
          <a:p xmlns:a="http://schemas.openxmlformats.org/drawingml/2006/main">
            <a:r>
              <a:t>- reports.tex, lines 4075-4081: G7b remains an open, prespecified capacity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No capacity or split rescue has been established; E-030 remains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86-87: E-032 final fusion matrix.</a:t>
            </a:r>
          </a:p>
          <a:p xmlns:a="http://schemas.openxmlformats.org/drawingml/2006/main">
            <a:r>
              <a:t>- reports.tex, lines 3824-3854: seed deltas, all 12 CIs include zero, and the tested-regime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Middle fusion has the largest observed mean but is an indication only; equivalence was not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87-93: cross-record synthesis, claim-boundary ledger, limitations, and conclusion.</a:t>
            </a:r>
          </a:p>
          <a:p xmlns:a="http://schemas.openxmlformats.org/drawingml/2006/main">
            <a:r>
              <a:t>- docs/manuscript/figures/N29-claim-boundary-gpt-image-2.png: claim-boundary figure.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The report rejects both overclaims: a defective run is not a positive sensor result, and a conditional null is not a universal statement about RGB-D.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reports.pdf, pp. 92-93: deployment consequences and G7b.</a:t>
            </a:r>
          </a:p>
          <a:p xmlns:a="http://schemas.openxmlformats.org/drawingml/2006/main">
            <a:r>
              <a:t>- reports.tex, lines 4119-4127: RGB-first research baseline and reversible depth capture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[Interpretation boundary]</a:t>
            </a:r>
          </a:p>
          <a:p xmlns:a="http://schemas.openxmlformats.org/drawingml/2006/main">
            <a:r>
              <a:t>- The end-to-end one-count-per-bunch inventory remains unvalidated.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972030be84d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4fbdf71c1a4fdc" /><Relationship Type="http://schemas.openxmlformats.org/officeDocument/2006/relationships/slideLayout" Target="/ppt/slideLayouts/slideLayout1.xml" Id="Read724eedd3847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d724eedd3847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a82e7b57240f6" /><Relationship Type="http://schemas.openxmlformats.org/officeDocument/2006/relationships/notesSlide" Target="/ppt/notesSlides/notesSlide1.xml" Id="R2f9cc3dfe02141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09ff0804f4090" /><Relationship Type="http://schemas.openxmlformats.org/officeDocument/2006/relationships/notesSlide" Target="/ppt/notesSlides/notesSlide2.xml" Id="R1bc67103b9f649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f1bed1e264b5e" /><Relationship Type="http://schemas.openxmlformats.org/officeDocument/2006/relationships/image" Target="/ppt/media/image.png" Id="Rbd4f1d96784b42ae" /><Relationship Type="http://schemas.openxmlformats.org/officeDocument/2006/relationships/notesSlide" Target="/ppt/notesSlides/notesSlide3.xml" Id="R0d46c62ce83248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a9612e10c4fdf" /><Relationship Type="http://schemas.openxmlformats.org/officeDocument/2006/relationships/notesSlide" Target="/ppt/notesSlides/notesSlide4.xml" Id="R62db9b1c454447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26b7002d24a56" /><Relationship Type="http://schemas.openxmlformats.org/officeDocument/2006/relationships/image" Target="/ppt/media/image2.png" Id="R08c51947396d419c" /><Relationship Type="http://schemas.openxmlformats.org/officeDocument/2006/relationships/notesSlide" Target="/ppt/notesSlides/notesSlide5.xml" Id="R21823a143a664a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39afb1f4845fc" /><Relationship Type="http://schemas.openxmlformats.org/officeDocument/2006/relationships/image" Target="/ppt/media/image3.png" Id="R7469321a833f4762" /><Relationship Type="http://schemas.openxmlformats.org/officeDocument/2006/relationships/notesSlide" Target="/ppt/notesSlides/notesSlide6.xml" Id="Rb6ef4bbfb83049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fda10d6654d1e" /><Relationship Type="http://schemas.openxmlformats.org/officeDocument/2006/relationships/notesSlide" Target="/ppt/notesSlides/notesSlide7.xml" Id="R3c5ae4dcf0ad40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b38dec3ad449d" /><Relationship Type="http://schemas.openxmlformats.org/officeDocument/2006/relationships/image" Target="/ppt/media/image4.png" Id="R46a1397643014f61" /><Relationship Type="http://schemas.openxmlformats.org/officeDocument/2006/relationships/notesSlide" Target="/ppt/notesSlides/notesSlide8.xml" Id="R274debf84d7649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629721486400a" /><Relationship Type="http://schemas.openxmlformats.org/officeDocument/2006/relationships/notesSlide" Target="/ppt/notesSlides/notesSlide9.xml" Id="R268666e8741d4b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015bdab0f46b0" /><Relationship Type="http://schemas.openxmlformats.org/officeDocument/2006/relationships/image" Target="/ppt/media/image5.png" Id="Rdf4c8616720e448d" /><Relationship Type="http://schemas.openxmlformats.org/officeDocument/2006/relationships/notesSlide" Target="/ppt/notesSlides/notesSlide10.xml" Id="R56752526a1c547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95bcc95c54467" /><Relationship Type="http://schemas.openxmlformats.org/officeDocument/2006/relationships/notesSlide" Target="/ppt/notesSlides/notesSlide11.xml" Id="R40c10a7cfac245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59fb7f5e74a08" /><Relationship Type="http://schemas.openxmlformats.org/officeDocument/2006/relationships/image" Target="/ppt/media/image6.png" Id="R84e2098b4b824d26" /><Relationship Type="http://schemas.openxmlformats.org/officeDocument/2006/relationships/notesSlide" Target="/ppt/notesSlides/notesSlide12.xml" Id="Ra10bf7206e0143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a56f4aa0a4fc0" /><Relationship Type="http://schemas.openxmlformats.org/officeDocument/2006/relationships/image" Target="/ppt/media/image7.png" Id="R32023905b4914129" /><Relationship Type="http://schemas.openxmlformats.org/officeDocument/2006/relationships/notesSlide" Target="/ppt/notesSlides/notesSlide13.xml" Id="R3828b44a04bc46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382e0b67a4e1b" /><Relationship Type="http://schemas.openxmlformats.org/officeDocument/2006/relationships/notesSlide" Target="/ppt/notesSlides/notesSlide14.xml" Id="Rf0c1964673b34f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ea512c3e94a5c" /><Relationship Type="http://schemas.openxmlformats.org/officeDocument/2006/relationships/image" Target="/ppt/media/image8.png" Id="Rd0d7d0ca0a4f4aa1" /><Relationship Type="http://schemas.openxmlformats.org/officeDocument/2006/relationships/notesSlide" Target="/ppt/notesSlides/notesSlide15.xml" Id="R2ddeaec68d0440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eddd9e026424b" /><Relationship Type="http://schemas.openxmlformats.org/officeDocument/2006/relationships/notesSlide" Target="/ppt/notesSlides/notesSlide16.xml" Id="R10afb07904ee45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b0cd77f324298" /><Relationship Type="http://schemas.openxmlformats.org/officeDocument/2006/relationships/image" Target="/ppt/media/image9.png" Id="R51117c939f5145b8" /><Relationship Type="http://schemas.openxmlformats.org/officeDocument/2006/relationships/notesSlide" Target="/ppt/notesSlides/notesSlide17.xml" Id="Rdcda65ec9df846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fed03d04c4ff9" /><Relationship Type="http://schemas.openxmlformats.org/officeDocument/2006/relationships/image" Target="/ppt/media/image10.png" Id="R1c349f1ef1f04b9c" /><Relationship Type="http://schemas.openxmlformats.org/officeDocument/2006/relationships/notesSlide" Target="/ppt/notesSlides/notesSlide18.xml" Id="R76e16b9cc2c348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f12470c2e4109" /><Relationship Type="http://schemas.openxmlformats.org/officeDocument/2006/relationships/image" Target="/ppt/media/image11.png" Id="R90d3bd21f40d4204" /><Relationship Type="http://schemas.openxmlformats.org/officeDocument/2006/relationships/notesSlide" Target="/ppt/notesSlides/notesSlide19.xml" Id="R3a12ad4b7bc642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3ea66d4c6459b" /><Relationship Type="http://schemas.openxmlformats.org/officeDocument/2006/relationships/notesSlide" Target="/ppt/notesSlides/notesSlide20.xml" Id="R65487dd644c040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6A5E09F-E093-4D9B-8F8B-3284094C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EVIDENCE-AUDITED RESEARCH RECORDS</a:t>
            </a:r>
          </a:p>
        </p:txBody>
      </p:sp>
      <p:sp>
        <p:nvSpPr>
          <p:cNvPr id="2" name="cover-date">
            <a:extLst xmlns:a="http://schemas.openxmlformats.org/drawingml/2006/main">
              <a:ext uri="{FF2B5EF4-FFF2-40B4-BE49-F238E27FC236}">
                <a16:creationId xmlns:a16="http://schemas.microsoft.com/office/drawing/2014/main" id="{AE7819D6-4EB7-4FB1-BF24-45B0D4A6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 AUGUST 2026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0633DA94-E10A-4B66-9933-6D16E4B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2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A38D1E3-E7DE-4DBB-A2F3-2B749B8D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Fresh-Fruit-Bunch Detection,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Maturity Classification, and RGB-D Fusion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AC3DE03-B03B-4CE9-BF64-704BDC71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complete evidence-led research story from E-001 to E-032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B3C560C-CA75-4117-8979-1CECEF92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8B43991F-060A-42AB-86A0-AAAF9CB3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Muhammad Zainal Muttaqin and Fatma Indriani</a:t>
            </a:r>
          </a:p>
        </p:txBody>
      </p:sp>
      <p:sp>
        <p:nvSpPr>
          <p:cNvPr id="8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535B97AF-AE69-4679-945C-E6AC38F7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933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Best observed RGB benchmark: RF-DETR-L.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Audited physical depth: no reliable detection benefit in the tested regime.</a:t>
            </a:r>
          </a:p>
        </p:txBody>
      </p:sp>
    </p:spTree>
    <p:extLst>
      <p:ext uri="{BB962C8B-B14F-4D97-AF65-F5344CB8AC3E}">
        <p14:creationId xmlns:p14="http://schemas.microsoft.com/office/powerpoint/2010/main" val="1179239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0E72CBE1-E3F1-434A-87E7-AB140A98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EVIDENCE-AUDITED RESEARCH RECORDS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F4981F-923C-4B96-9B40-3F71791B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RGB benchmark set; depth unconfirmed.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643784F-6B4D-4F6C-9AE7-59B9331B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B81C7C-11C3-4162-8560-EB0E71E4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419739D-4FCC-46B8-B90C-664983E2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E4BC60-50E3-4179-B442-0A2F91B8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gb-panel">
            <a:extLst xmlns:a="http://schemas.openxmlformats.org/drawingml/2006/main">
              <a:ext uri="{FF2B5EF4-FFF2-40B4-BE49-F238E27FC236}">
                <a16:creationId xmlns:a16="http://schemas.microsoft.com/office/drawing/2014/main" id="{B990FD8C-3AF4-4FE8-8EBA-A0FFD5B1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476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gb-accent">
            <a:extLst xmlns:a="http://schemas.openxmlformats.org/drawingml/2006/main">
              <a:ext uri="{FF2B5EF4-FFF2-40B4-BE49-F238E27FC236}">
                <a16:creationId xmlns:a16="http://schemas.microsoft.com/office/drawing/2014/main" id="{C337512F-82F2-4894-BA31-AA2DCED6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gb-label">
            <a:extLst xmlns:a="http://schemas.openxmlformats.org/drawingml/2006/main">
              <a:ext uri="{FF2B5EF4-FFF2-40B4-BE49-F238E27FC236}">
                <a16:creationId xmlns:a16="http://schemas.microsoft.com/office/drawing/2014/main" id="{9130CDF4-CEBD-4C6F-85F3-35C74084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BEST OBSERVED RGB CONTROL</a:t>
            </a:r>
          </a:p>
        </p:txBody>
      </p:sp>
      <p:sp>
        <p:nvSpPr>
          <p:cNvPr id="10" name="rgb-value">
            <a:extLst xmlns:a="http://schemas.openxmlformats.org/drawingml/2006/main">
              <a:ext uri="{FF2B5EF4-FFF2-40B4-BE49-F238E27FC236}">
                <a16:creationId xmlns:a16="http://schemas.microsoft.com/office/drawing/2014/main" id="{253BEA34-AD9E-4C38-921D-7A14B5D3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RF-DETR-L</a:t>
            </a:r>
          </a:p>
        </p:txBody>
      </p:sp>
      <p:sp>
        <p:nvSpPr>
          <p:cNvPr id="11" name="rgb-detail">
            <a:extLst xmlns:a="http://schemas.openxmlformats.org/drawingml/2006/main">
              <a:ext uri="{FF2B5EF4-FFF2-40B4-BE49-F238E27FC236}">
                <a16:creationId xmlns:a16="http://schemas.microsoft.com/office/drawing/2014/main" id="{59886407-CAB5-41D1-AEE6-5AE87DDF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SawitMVC, one pycocotools protocol</a:t>
            </a:r>
          </a:p>
        </p:txBody>
      </p:sp>
      <p:sp>
        <p:nvSpPr>
          <p:cNvPr id="12" name="depth-panel">
            <a:extLst xmlns:a="http://schemas.openxmlformats.org/drawingml/2006/main">
              <a:ext uri="{FF2B5EF4-FFF2-40B4-BE49-F238E27FC236}">
                <a16:creationId xmlns:a16="http://schemas.microsoft.com/office/drawing/2014/main" id="{D9D0D029-69DB-4D2E-A495-F7A98F84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57350"/>
            <a:ext cx="3476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pth-accent">
            <a:extLst xmlns:a="http://schemas.openxmlformats.org/drawingml/2006/main">
              <a:ext uri="{FF2B5EF4-FFF2-40B4-BE49-F238E27FC236}">
                <a16:creationId xmlns:a16="http://schemas.microsoft.com/office/drawing/2014/main" id="{2A3C6A5C-A556-4979-AE2A-82B15129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573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pth-label">
            <a:extLst xmlns:a="http://schemas.openxmlformats.org/drawingml/2006/main">
              <a:ext uri="{FF2B5EF4-FFF2-40B4-BE49-F238E27FC236}">
                <a16:creationId xmlns:a16="http://schemas.microsoft.com/office/drawing/2014/main" id="{C1CC83A3-7ABB-4D6C-AA63-A2FEF2D5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79070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AUDITED PHYSICAL DEPTH</a:t>
            </a:r>
          </a:p>
        </p:txBody>
      </p:sp>
      <p:sp>
        <p:nvSpPr>
          <p:cNvPr id="15" name="depth-value">
            <a:extLst xmlns:a="http://schemas.openxmlformats.org/drawingml/2006/main">
              <a:ext uri="{FF2B5EF4-FFF2-40B4-BE49-F238E27FC236}">
                <a16:creationId xmlns:a16="http://schemas.microsoft.com/office/drawing/2014/main" id="{A062905A-D49B-46EE-BAA6-84C54151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383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No reliable benefit</a:t>
            </a:r>
          </a:p>
        </p:txBody>
      </p:sp>
      <p:sp>
        <p:nvSpPr>
          <p:cNvPr id="16" name="depth-detail">
            <a:extLst xmlns:a="http://schemas.openxmlformats.org/drawingml/2006/main">
              <a:ext uri="{FF2B5EF4-FFF2-40B4-BE49-F238E27FC236}">
                <a16:creationId xmlns:a16="http://schemas.microsoft.com/office/drawing/2014/main" id="{44C3531F-19C8-41DD-A22D-F2AB9600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3375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Corrected controls and multi-seed evidence</a:t>
            </a:r>
          </a:p>
        </p:txBody>
      </p:sp>
      <p:sp>
        <p:nvSpPr>
          <p:cNvPr id="17" name="inventory-panel">
            <a:extLst xmlns:a="http://schemas.openxmlformats.org/drawingml/2006/main">
              <a:ext uri="{FF2B5EF4-FFF2-40B4-BE49-F238E27FC236}">
                <a16:creationId xmlns:a16="http://schemas.microsoft.com/office/drawing/2014/main" id="{D01E117D-0CE1-4CDF-9643-B0CEDB00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3486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nventory-accent">
            <a:extLst xmlns:a="http://schemas.openxmlformats.org/drawingml/2006/main">
              <a:ext uri="{FF2B5EF4-FFF2-40B4-BE49-F238E27FC236}">
                <a16:creationId xmlns:a16="http://schemas.microsoft.com/office/drawing/2014/main" id="{E33B6259-D142-4185-91A1-CEF0D89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ventory-label">
            <a:extLst xmlns:a="http://schemas.openxmlformats.org/drawingml/2006/main">
              <a:ext uri="{FF2B5EF4-FFF2-40B4-BE49-F238E27FC236}">
                <a16:creationId xmlns:a16="http://schemas.microsoft.com/office/drawing/2014/main" id="{FE8221A9-AF96-40E1-A48C-2DFFC3F3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FIELD INVENTORY</a:t>
            </a:r>
          </a:p>
        </p:txBody>
      </p:sp>
      <p:sp>
        <p:nvSpPr>
          <p:cNvPr id="20" name="inventory-value">
            <a:extLst xmlns:a="http://schemas.openxmlformats.org/drawingml/2006/main">
              <a:ext uri="{FF2B5EF4-FFF2-40B4-BE49-F238E27FC236}">
                <a16:creationId xmlns:a16="http://schemas.microsoft.com/office/drawing/2014/main" id="{6249FA5A-ABC1-4500-9039-0440DA1B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383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Still open</a:t>
            </a:r>
          </a:p>
        </p:txBody>
      </p:sp>
      <p:sp>
        <p:nvSpPr>
          <p:cNvPr id="21" name="inventory-detail">
            <a:extLst xmlns:a="http://schemas.openxmlformats.org/drawingml/2006/main">
              <a:ext uri="{FF2B5EF4-FFF2-40B4-BE49-F238E27FC236}">
                <a16:creationId xmlns:a16="http://schemas.microsoft.com/office/drawing/2014/main" id="{A1648FB4-6B27-4AFE-AA51-B6C3DDC7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3380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One-count-per-bunch is not validated</a:t>
            </a:r>
          </a:p>
        </p:txBody>
      </p:sp>
      <p:sp>
        <p:nvSpPr>
          <p:cNvPr id="22" name="readout">
            <a:extLst xmlns:a="http://schemas.openxmlformats.org/drawingml/2006/main">
              <a:ext uri="{FF2B5EF4-FFF2-40B4-BE49-F238E27FC236}">
                <a16:creationId xmlns:a16="http://schemas.microsoft.com/office/drawing/2014/main" id="{192B5271-128B-47E2-9676-ADDFEFE5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This is not a universal claim about depth. It is a tested-regime conclusion with explicit sensor, split, seed, training, and evaluator boundaries.</a:t>
            </a:r>
          </a:p>
        </p:txBody>
      </p:sp>
    </p:spTree>
    <p:extLst>
      <p:ext uri="{BB962C8B-B14F-4D97-AF65-F5344CB8AC3E}">
        <p14:creationId xmlns:p14="http://schemas.microsoft.com/office/powerpoint/2010/main" val="1272046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03E0974E-F827-4AB5-8B8B-01923CCF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EVIDENCE-AUDITED RESEARCH RECORDS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97407C-6B2D-4A3B-904D-C56F0179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field objective is an inventory, not a classifier demo.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E94E60-E98D-4B01-A649-FFF2CC56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CD1294-6326-4C0F-8F53-7097A6DE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C929A80-D853-4A69-BEAE-E78BF354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592FA3F-A639-410D-B3A8-D89274F3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goal1-number">
            <a:extLst xmlns:a="http://schemas.openxmlformats.org/drawingml/2006/main">
              <a:ext uri="{FF2B5EF4-FFF2-40B4-BE49-F238E27FC236}">
                <a16:creationId xmlns:a16="http://schemas.microsoft.com/office/drawing/2014/main" id="{317C7C98-C7FE-47CE-8F67-0322F406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oal1-number-text">
            <a:extLst xmlns:a="http://schemas.openxmlformats.org/drawingml/2006/main">
              <a:ext uri="{FF2B5EF4-FFF2-40B4-BE49-F238E27FC236}">
                <a16:creationId xmlns:a16="http://schemas.microsoft.com/office/drawing/2014/main" id="{11A9232E-BF95-40D8-A2AE-D6762082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goal1-title">
            <a:extLst xmlns:a="http://schemas.openxmlformats.org/drawingml/2006/main">
              <a:ext uri="{FF2B5EF4-FFF2-40B4-BE49-F238E27FC236}">
                <a16:creationId xmlns:a16="http://schemas.microsoft.com/office/drawing/2014/main" id="{3212EEB8-E1E9-4B7C-A73C-02DE1F63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4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Detect each bunch</a:t>
            </a:r>
          </a:p>
        </p:txBody>
      </p:sp>
      <p:sp>
        <p:nvSpPr>
          <p:cNvPr id="10" name="goal1-detail">
            <a:extLst xmlns:a="http://schemas.openxmlformats.org/drawingml/2006/main">
              <a:ext uri="{FF2B5EF4-FFF2-40B4-BE49-F238E27FC236}">
                <a16:creationId xmlns:a16="http://schemas.microsoft.com/office/drawing/2014/main" id="{6C76F69E-3B70-48FB-82D3-1B712DC2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Measure object presence without collapsing maturity into a single score.</a:t>
            </a:r>
          </a:p>
        </p:txBody>
      </p:sp>
      <p:sp>
        <p:nvSpPr>
          <p:cNvPr id="11" name="goal2-number">
            <a:extLst xmlns:a="http://schemas.openxmlformats.org/drawingml/2006/main">
              <a:ext uri="{FF2B5EF4-FFF2-40B4-BE49-F238E27FC236}">
                <a16:creationId xmlns:a16="http://schemas.microsoft.com/office/drawing/2014/main" id="{8932D435-299D-4B8D-8DAE-25CEEC63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oal2-number-text">
            <a:extLst xmlns:a="http://schemas.openxmlformats.org/drawingml/2006/main">
              <a:ext uri="{FF2B5EF4-FFF2-40B4-BE49-F238E27FC236}">
                <a16:creationId xmlns:a16="http://schemas.microsoft.com/office/drawing/2014/main" id="{3C5F4CF9-450F-44AF-B222-53401247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goal2-title">
            <a:extLst xmlns:a="http://schemas.openxmlformats.org/drawingml/2006/main">
              <a:ext uri="{FF2B5EF4-FFF2-40B4-BE49-F238E27FC236}">
                <a16:creationId xmlns:a16="http://schemas.microsoft.com/office/drawing/2014/main" id="{F07184C9-8E36-4100-98BD-C15C26B0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Assign B1-B4 maturity</a:t>
            </a:r>
          </a:p>
        </p:txBody>
      </p:sp>
      <p:sp>
        <p:nvSpPr>
          <p:cNvPr id="14" name="goal2-detail">
            <a:extLst xmlns:a="http://schemas.openxmlformats.org/drawingml/2006/main">
              <a:ext uri="{FF2B5EF4-FFF2-40B4-BE49-F238E27FC236}">
                <a16:creationId xmlns:a16="http://schemas.microsoft.com/office/drawing/2014/main" id="{FD75EC9B-764E-42EB-BB89-0C42F637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Keep ordinal maturity confusion distinct from localization.</a:t>
            </a:r>
          </a:p>
        </p:txBody>
      </p:sp>
      <p:sp>
        <p:nvSpPr>
          <p:cNvPr id="15" name="goal3-number">
            <a:extLst xmlns:a="http://schemas.openxmlformats.org/drawingml/2006/main">
              <a:ext uri="{FF2B5EF4-FFF2-40B4-BE49-F238E27FC236}">
                <a16:creationId xmlns:a16="http://schemas.microsoft.com/office/drawing/2014/main" id="{36B0D24C-4FC1-4040-8CCA-1FEA43D1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oal3-number-text">
            <a:extLst xmlns:a="http://schemas.openxmlformats.org/drawingml/2006/main">
              <a:ext uri="{FF2B5EF4-FFF2-40B4-BE49-F238E27FC236}">
                <a16:creationId xmlns:a16="http://schemas.microsoft.com/office/drawing/2014/main" id="{A73BDE2A-7AB6-4FE2-94C4-04DD95B0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48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goal3-title">
            <a:extLst xmlns:a="http://schemas.openxmlformats.org/drawingml/2006/main">
              <a:ext uri="{FF2B5EF4-FFF2-40B4-BE49-F238E27FC236}">
                <a16:creationId xmlns:a16="http://schemas.microsoft.com/office/drawing/2014/main" id="{28A4F266-39BC-4790-8419-78E4D75F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Associate repeated views</a:t>
            </a:r>
          </a:p>
        </p:txBody>
      </p:sp>
      <p:sp>
        <p:nvSpPr>
          <p:cNvPr id="18" name="goal3-detail">
            <a:extLst xmlns:a="http://schemas.openxmlformats.org/drawingml/2006/main">
              <a:ext uri="{FF2B5EF4-FFF2-40B4-BE49-F238E27FC236}">
                <a16:creationId xmlns:a16="http://schemas.microsoft.com/office/drawing/2014/main" id="{3D1E965B-0F9B-4579-996C-CA050A5A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Use an independent cross-side denominator, not a circular proxy.</a:t>
            </a:r>
          </a:p>
        </p:txBody>
      </p:sp>
      <p:sp>
        <p:nvSpPr>
          <p:cNvPr id="19" name="goal4-number">
            <a:extLst xmlns:a="http://schemas.openxmlformats.org/drawingml/2006/main">
              <a:ext uri="{FF2B5EF4-FFF2-40B4-BE49-F238E27FC236}">
                <a16:creationId xmlns:a16="http://schemas.microsoft.com/office/drawing/2014/main" id="{861B00AE-12BC-474F-BD2E-3A02A5E5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oal4-number-text">
            <a:extLst xmlns:a="http://schemas.openxmlformats.org/drawingml/2006/main">
              <a:ext uri="{FF2B5EF4-FFF2-40B4-BE49-F238E27FC236}">
                <a16:creationId xmlns:a16="http://schemas.microsoft.com/office/drawing/2014/main" id="{74C887AB-81F5-41CA-9474-96A96AEC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goal4-title">
            <a:extLst xmlns:a="http://schemas.openxmlformats.org/drawingml/2006/main">
              <a:ext uri="{FF2B5EF4-FFF2-40B4-BE49-F238E27FC236}">
                <a16:creationId xmlns:a16="http://schemas.microsoft.com/office/drawing/2014/main" id="{49808E1F-5A82-492A-9D38-B5658F25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Count one physical bunch</a:t>
            </a:r>
          </a:p>
        </p:txBody>
      </p:sp>
      <p:sp>
        <p:nvSpPr>
          <p:cNvPr id="22" name="goal4-detail">
            <a:extLst xmlns:a="http://schemas.openxmlformats.org/drawingml/2006/main">
              <a:ext uri="{FF2B5EF4-FFF2-40B4-BE49-F238E27FC236}">
                <a16:creationId xmlns:a16="http://schemas.microsoft.com/office/drawing/2014/main" id="{6F8802E3-D4C5-480A-A34B-652B8FA0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This endpoint remains unvalidated in the completed report.</a:t>
            </a:r>
          </a:p>
        </p:txBody>
      </p:sp>
      <p:sp>
        <p:nvSpPr>
          <p:cNvPr id="23" name="goal5-number">
            <a:extLst xmlns:a="http://schemas.openxmlformats.org/drawingml/2006/main">
              <a:ext uri="{FF2B5EF4-FFF2-40B4-BE49-F238E27FC236}">
                <a16:creationId xmlns:a16="http://schemas.microsoft.com/office/drawing/2014/main" id="{66F37AE3-3A87-4D82-8A1C-BCF01A28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oal5-number-text">
            <a:extLst xmlns:a="http://schemas.openxmlformats.org/drawingml/2006/main">
              <a:ext uri="{FF2B5EF4-FFF2-40B4-BE49-F238E27FC236}">
                <a16:creationId xmlns:a16="http://schemas.microsoft.com/office/drawing/2014/main" id="{CC7227FE-69DB-4EC2-AC89-D0DDB73D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goal5-title">
            <a:extLst xmlns:a="http://schemas.openxmlformats.org/drawingml/2006/main">
              <a:ext uri="{FF2B5EF4-FFF2-40B4-BE49-F238E27FC236}">
                <a16:creationId xmlns:a16="http://schemas.microsoft.com/office/drawing/2014/main" id="{EC78ADF8-9587-46D5-88B9-697D394C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Keep an RGB fallback</a:t>
            </a:r>
          </a:p>
        </p:txBody>
      </p:sp>
      <p:sp>
        <p:nvSpPr>
          <p:cNvPr id="26" name="goal5-detail">
            <a:extLst xmlns:a="http://schemas.openxmlformats.org/drawingml/2006/main">
              <a:ext uri="{FF2B5EF4-FFF2-40B4-BE49-F238E27FC236}">
                <a16:creationId xmlns:a16="http://schemas.microsoft.com/office/drawing/2014/main" id="{8E01AB08-624D-4F8B-8930-A878DEDB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RGB is the fallback path when depth is missing or fails quality control.</a:t>
            </a:r>
          </a:p>
        </p:txBody>
      </p:sp>
      <p:sp>
        <p:nvSpPr>
          <p:cNvPr id="27" name="inventory-image-back">
            <a:extLst xmlns:a="http://schemas.openxmlformats.org/drawingml/2006/main">
              <a:ext uri="{FF2B5EF4-FFF2-40B4-BE49-F238E27FC236}">
                <a16:creationId xmlns:a16="http://schemas.microsoft.com/office/drawing/2014/main" id="{FFC8CC64-36E8-430A-94AD-FF46801E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52550"/>
            <a:ext cx="69342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f1d96784b42ae"/>
          <a:stretch xmlns:a="http://schemas.openxmlformats.org/drawingml/2006/main"/>
        </p:blipFill>
        <p:spPr>
          <a:xfrm xmlns:a="http://schemas.openxmlformats.org/drawingml/2006/main">
            <a:off x="4857750" y="1706319"/>
            <a:ext cx="6934200" cy="39025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29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BDADEC-CD56-491A-B313-894D1B4F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EVIDENCE-AUDITED RESEARCH RECORDS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A13F65-5C17-42A8-9BC5-F4696A96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Two branches define two different evidence boundaries.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9359BD0-669B-4FDB-AEC0-5347CDB6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BD71F7-FE94-4C55-934F-BD63DE36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22EAEB3-9FE2-48B4-93C0-8AD34451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551A449-2186-42A1-A458-C43D554A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00050" y="1657350"/>
          <a:ext xmlns:a="http://schemas.openxmlformats.org/drawingml/2006/main" cx="113919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571750"/>
                <a:gridCol w="3333750"/>
                <a:gridCol w="3724275"/>
              </a:tblGrid>
              <a:tr h="4191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Branch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Dataset and records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can be compared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must stay separate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F172A"/>
                          </a:solidFill>
                        </a:rPr>
                        <a:t>A. RGB pilot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SawitMVC</a:t>
                      </a:r>
                    </a:p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E-001 to E-021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One protocol and split for the RGB benchmark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Not an independent holdout or RGB-D leaderboard</a:t>
                      </a:r>
                    </a:p>
                  </a:txBody>
                  <a:tcPr marL="91440" marR="91440" marT="45720" marB="45720"/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F172A"/>
                          </a:solidFill>
                        </a:rPr>
                        <a:t>B. Physical depth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SawitMVC-Depth</a:t>
                      </a:r>
                    </a:p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E-022 to E-032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Paired RGB vs registered-depth contrasts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Absolute scores cannot be ranked against Branch A</a:t>
                      </a:r>
                    </a:p>
                  </a:txBody>
                  <a:tcPr marL="91440" marR="91440" marT="45720" marB="45720"/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F172A"/>
                          </a:solidFill>
                        </a:rPr>
                        <a:t>Record accounting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32 numbered records</a:t>
                      </a:r>
                    </a:p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30 executed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E-008 is reserved; E-023 is counted under E-032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</a:rPr>
                        <a:t>Provenance does not turn aliases into extra evidence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56AFB548-86E6-47BB-9F8B-060D9971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undary-note-text">
            <a:extLst xmlns:a="http://schemas.openxmlformats.org/drawingml/2006/main">
              <a:ext uri="{FF2B5EF4-FFF2-40B4-BE49-F238E27FC236}">
                <a16:creationId xmlns:a16="http://schemas.microsoft.com/office/drawing/2014/main" id="{782524F0-A579-445C-9309-74452C6E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91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Absolute scores stay within a branch. Cross-branch claims require paired deltas, audit outcomes, or decision gates.</a:t>
            </a:r>
          </a:p>
        </p:txBody>
      </p:sp>
    </p:spTree>
    <p:extLst>
      <p:ext uri="{BB962C8B-B14F-4D97-AF65-F5344CB8AC3E}">
        <p14:creationId xmlns:p14="http://schemas.microsoft.com/office/powerpoint/2010/main" val="1659079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77317725-3D95-4CF6-80A2-7495D57F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EVIDENCE-AUDITED RESEARCH RECORDS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566FC9-FE5D-4C51-A708-8A90BBBA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Literature frames the question, not the answer.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264BAAD-D952-4EA6-B5AA-AE0D2F88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49415-3565-4219-96DE-F773A11F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91AEC3B-D25B-40AB-81AC-BFCD180A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B2886C0-2FF1-4428-836F-294EF7A3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literature-stat">
            <a:extLst xmlns:a="http://schemas.openxmlformats.org/drawingml/2006/main">
              <a:ext uri="{FF2B5EF4-FFF2-40B4-BE49-F238E27FC236}">
                <a16:creationId xmlns:a16="http://schemas.microsoft.com/office/drawing/2014/main" id="{20D1794B-C315-40CF-BFFA-58008085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202</a:t>
            </a:r>
          </a:p>
        </p:txBody>
      </p:sp>
      <p:sp>
        <p:nvSpPr>
          <p:cNvPr id="8" name="literature-stat-label">
            <a:extLst xmlns:a="http://schemas.openxmlformats.org/drawingml/2006/main">
              <a:ext uri="{FF2B5EF4-FFF2-40B4-BE49-F238E27FC236}">
                <a16:creationId xmlns:a16="http://schemas.microsoft.com/office/drawing/2014/main" id="{5A78A5C3-72BF-41FE-A7B7-E9D5BB08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literature records</a:t>
            </a:r>
          </a:p>
        </p:txBody>
      </p:sp>
      <p:sp>
        <p:nvSpPr>
          <p:cNvPr id="9" name="pdf-stat">
            <a:extLst xmlns:a="http://schemas.openxmlformats.org/drawingml/2006/main">
              <a:ext uri="{FF2B5EF4-FFF2-40B4-BE49-F238E27FC236}">
                <a16:creationId xmlns:a16="http://schemas.microsoft.com/office/drawing/2014/main" id="{EC81BCEB-5E6F-42B3-BE2F-7ECAFDC2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182</a:t>
            </a:r>
          </a:p>
        </p:txBody>
      </p:sp>
      <p:sp>
        <p:nvSpPr>
          <p:cNvPr id="10" name="pdf-stat-label">
            <a:extLst xmlns:a="http://schemas.openxmlformats.org/drawingml/2006/main">
              <a:ext uri="{FF2B5EF4-FFF2-40B4-BE49-F238E27FC236}">
                <a16:creationId xmlns:a16="http://schemas.microsoft.com/office/drawing/2014/main" id="{26DDE6FB-A073-4FDD-AD87-262B6916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verified local PDFs</a:t>
            </a:r>
          </a:p>
        </p:txBody>
      </p:sp>
      <p:sp>
        <p:nvSpPr>
          <p:cNvPr id="11" name="literature-claim-rule">
            <a:extLst xmlns:a="http://schemas.openxmlformats.org/drawingml/2006/main">
              <a:ext uri="{FF2B5EF4-FFF2-40B4-BE49-F238E27FC236}">
                <a16:creationId xmlns:a16="http://schemas.microsoft.com/office/drawing/2014/main" id="{88D7703F-6C1E-427F-999F-E2725DBA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iterature-claim-label">
            <a:extLst xmlns:a="http://schemas.openxmlformats.org/drawingml/2006/main">
              <a:ext uri="{FF2B5EF4-FFF2-40B4-BE49-F238E27FC236}">
                <a16:creationId xmlns:a16="http://schemas.microsoft.com/office/drawing/2014/main" id="{712875D4-42F1-4DB1-8019-14ED991C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3" name="literature-claim-body">
            <a:extLst xmlns:a="http://schemas.openxmlformats.org/drawingml/2006/main">
              <a:ext uri="{FF2B5EF4-FFF2-40B4-BE49-F238E27FC236}">
                <a16:creationId xmlns:a16="http://schemas.microsoft.com/office/drawing/2014/main" id="{08B6A99E-3CB0-4F2D-B8BB-3C59710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Detector, geometry, and fusion literature motivates a falsifiable research design.</a:t>
            </a:r>
          </a:p>
        </p:txBody>
      </p:sp>
      <p:sp>
        <p:nvSpPr>
          <p:cNvPr id="14" name="literature-boundary">
            <a:extLst xmlns:a="http://schemas.openxmlformats.org/drawingml/2006/main">
              <a:ext uri="{FF2B5EF4-FFF2-40B4-BE49-F238E27FC236}">
                <a16:creationId xmlns:a16="http://schemas.microsoft.com/office/drawing/2014/main" id="{38CA8E74-C36A-4D12-8A0C-303B94FC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Concept figures and prior studies are context. The results deck takes scores, intervals, and verdicts from the audited records.</a:t>
            </a:r>
          </a:p>
        </p:txBody>
      </p:sp>
      <p:sp>
        <p:nvSpPr>
          <p:cNvPr id="15" name="roadmap-back">
            <a:extLst xmlns:a="http://schemas.openxmlformats.org/drawingml/2006/main">
              <a:ext uri="{FF2B5EF4-FFF2-40B4-BE49-F238E27FC236}">
                <a16:creationId xmlns:a16="http://schemas.microsoft.com/office/drawing/2014/main" id="{70B0F622-F3F4-4551-9F67-2BA8B3C9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70294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51947396d419c"/>
          <a:stretch xmlns:a="http://schemas.openxmlformats.org/drawingml/2006/main"/>
        </p:blipFill>
        <p:spPr>
          <a:xfrm xmlns:a="http://schemas.openxmlformats.org/drawingml/2006/main">
            <a:off x="5010828" y="1790700"/>
            <a:ext cx="6532794" cy="3676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43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CC4E7B7E-99DB-4798-A102-39CD4D84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EVIDENCE-AUDITED RESEARCH RECORDS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B04F1D-9ABD-443D-8D3F-AFCEEDD4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Five phases turn an intuition into a falsifiable programme.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C0BB08C-7F28-49EC-9B97-0462D97A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ADCCED1-FD4B-4F13-A33A-C03BD64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37D06A8-FC69-43BA-8EE4-C2D3CA56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66F152B-F983-47EB-84E9-329E264D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phase-intro">
            <a:extLst xmlns:a="http://schemas.openxmlformats.org/drawingml/2006/main">
              <a:ext uri="{FF2B5EF4-FFF2-40B4-BE49-F238E27FC236}">
                <a16:creationId xmlns:a16="http://schemas.microsoft.com/office/drawing/2014/main" id="{6297080C-46A1-4EEE-A510-C8BB6E0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Each phase removes one confound before the next claim.</a:t>
            </a:r>
          </a:p>
        </p:txBody>
      </p:sp>
      <p:sp>
        <p:nvSpPr>
          <p:cNvPr id="8" name="phase1-number">
            <a:extLst xmlns:a="http://schemas.openxmlformats.org/drawingml/2006/main">
              <a:ext uri="{FF2B5EF4-FFF2-40B4-BE49-F238E27FC236}">
                <a16:creationId xmlns:a16="http://schemas.microsoft.com/office/drawing/2014/main" id="{A637756E-37EA-49B1-B2BB-3CF4D7D6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hase1-number-text">
            <a:extLst xmlns:a="http://schemas.openxmlformats.org/drawingml/2006/main">
              <a:ext uri="{FF2B5EF4-FFF2-40B4-BE49-F238E27FC236}">
                <a16:creationId xmlns:a16="http://schemas.microsoft.com/office/drawing/2014/main" id="{E06E37D6-FA8B-4254-871B-60B89069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phase1-title">
            <a:extLst xmlns:a="http://schemas.openxmlformats.org/drawingml/2006/main">
              <a:ext uri="{FF2B5EF4-FFF2-40B4-BE49-F238E27FC236}">
                <a16:creationId xmlns:a16="http://schemas.microsoft.com/office/drawing/2014/main" id="{97C778B9-21AB-424A-8605-F91101CA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1" name="phase1-detail">
            <a:extLst xmlns:a="http://schemas.openxmlformats.org/drawingml/2006/main">
              <a:ext uri="{FF2B5EF4-FFF2-40B4-BE49-F238E27FC236}">
                <a16:creationId xmlns:a16="http://schemas.microsoft.com/office/drawing/2014/main" id="{0F0A854D-EBC2-4DBA-9408-CC6EC61D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E-001 to E-002: reject circular metrics and unsafe provenance.</a:t>
            </a:r>
          </a:p>
        </p:txBody>
      </p:sp>
      <p:sp>
        <p:nvSpPr>
          <p:cNvPr id="12" name="phase2-number">
            <a:extLst xmlns:a="http://schemas.openxmlformats.org/drawingml/2006/main">
              <a:ext uri="{FF2B5EF4-FFF2-40B4-BE49-F238E27FC236}">
                <a16:creationId xmlns:a16="http://schemas.microsoft.com/office/drawing/2014/main" id="{6F5B9AFA-1AD3-4CEA-B410-ED65571E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hase2-number-text">
            <a:extLst xmlns:a="http://schemas.openxmlformats.org/drawingml/2006/main">
              <a:ext uri="{FF2B5EF4-FFF2-40B4-BE49-F238E27FC236}">
                <a16:creationId xmlns:a16="http://schemas.microsoft.com/office/drawing/2014/main" id="{A5245BA6-3634-4317-815B-A5DF5AF2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phase2-title">
            <a:extLst xmlns:a="http://schemas.openxmlformats.org/drawingml/2006/main">
              <a:ext uri="{FF2B5EF4-FFF2-40B4-BE49-F238E27FC236}">
                <a16:creationId xmlns:a16="http://schemas.microsoft.com/office/drawing/2014/main" id="{12BC9FF2-7D32-41F8-8082-4DF4855D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Relative geometry</a:t>
            </a:r>
          </a:p>
        </p:txBody>
      </p:sp>
      <p:sp>
        <p:nvSpPr>
          <p:cNvPr id="15" name="phase2-detail">
            <a:extLst xmlns:a="http://schemas.openxmlformats.org/drawingml/2006/main">
              <a:ext uri="{FF2B5EF4-FFF2-40B4-BE49-F238E27FC236}">
                <a16:creationId xmlns:a16="http://schemas.microsoft.com/office/drawing/2014/main" id="{4A025AD8-F0BB-4986-A283-6B8DF13C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E-003 to E-008: retain tree-level ordering, leave bunch identity open.</a:t>
            </a:r>
          </a:p>
        </p:txBody>
      </p:sp>
      <p:sp>
        <p:nvSpPr>
          <p:cNvPr id="16" name="phase3-number">
            <a:extLst xmlns:a="http://schemas.openxmlformats.org/drawingml/2006/main">
              <a:ext uri="{FF2B5EF4-FFF2-40B4-BE49-F238E27FC236}">
                <a16:creationId xmlns:a16="http://schemas.microsoft.com/office/drawing/2014/main" id="{18302F41-63AC-43CF-818F-D058EC4C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19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hase3-number-text">
            <a:extLst xmlns:a="http://schemas.openxmlformats.org/drawingml/2006/main">
              <a:ext uri="{FF2B5EF4-FFF2-40B4-BE49-F238E27FC236}">
                <a16:creationId xmlns:a16="http://schemas.microsoft.com/office/drawing/2014/main" id="{22112547-1F6F-4B16-B977-D9B4DCDC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phase3-title">
            <a:extLst xmlns:a="http://schemas.openxmlformats.org/drawingml/2006/main">
              <a:ext uri="{FF2B5EF4-FFF2-40B4-BE49-F238E27FC236}">
                <a16:creationId xmlns:a16="http://schemas.microsoft.com/office/drawing/2014/main" id="{7A0B2F98-3410-4B73-9453-6F977E9D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RGB diagnosis</a:t>
            </a:r>
          </a:p>
        </p:txBody>
      </p:sp>
      <p:sp>
        <p:nvSpPr>
          <p:cNvPr id="19" name="phase3-detail">
            <a:extLst xmlns:a="http://schemas.openxmlformats.org/drawingml/2006/main">
              <a:ext uri="{FF2B5EF4-FFF2-40B4-BE49-F238E27FC236}">
                <a16:creationId xmlns:a16="http://schemas.microsoft.com/office/drawing/2014/main" id="{7C8D6199-93F1-4BBB-9A51-3B9EB89F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48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E-009 to E-012: identify the visible error structure.</a:t>
            </a:r>
          </a:p>
        </p:txBody>
      </p:sp>
      <p:sp>
        <p:nvSpPr>
          <p:cNvPr id="20" name="phase4-number">
            <a:extLst xmlns:a="http://schemas.openxmlformats.org/drawingml/2006/main">
              <a:ext uri="{FF2B5EF4-FFF2-40B4-BE49-F238E27FC236}">
                <a16:creationId xmlns:a16="http://schemas.microsoft.com/office/drawing/2014/main" id="{6ACE47FA-71A1-4DEF-A123-CF9BA8CF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hase4-number-text">
            <a:extLst xmlns:a="http://schemas.openxmlformats.org/drawingml/2006/main">
              <a:ext uri="{FF2B5EF4-FFF2-40B4-BE49-F238E27FC236}">
                <a16:creationId xmlns:a16="http://schemas.microsoft.com/office/drawing/2014/main" id="{25FC0107-1FB3-4470-9115-248E9EA7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phase4-title">
            <a:extLst xmlns:a="http://schemas.openxmlformats.org/drawingml/2006/main">
              <a:ext uri="{FF2B5EF4-FFF2-40B4-BE49-F238E27FC236}">
                <a16:creationId xmlns:a16="http://schemas.microsoft.com/office/drawing/2014/main" id="{E90B96B3-88C2-45BD-9BD1-81005F01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RGB benchmark</a:t>
            </a:r>
          </a:p>
        </p:txBody>
      </p:sp>
      <p:sp>
        <p:nvSpPr>
          <p:cNvPr id="23" name="phase4-detail">
            <a:extLst xmlns:a="http://schemas.openxmlformats.org/drawingml/2006/main">
              <a:ext uri="{FF2B5EF4-FFF2-40B4-BE49-F238E27FC236}">
                <a16:creationId xmlns:a16="http://schemas.microsoft.com/office/drawing/2014/main" id="{391D847C-2DC0-41CC-A1F5-34EF54B9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E-013 to E-021: create a fair RGB control.</a:t>
            </a:r>
          </a:p>
        </p:txBody>
      </p:sp>
      <p:sp>
        <p:nvSpPr>
          <p:cNvPr id="24" name="phase5-number">
            <a:extLst xmlns:a="http://schemas.openxmlformats.org/drawingml/2006/main">
              <a:ext uri="{FF2B5EF4-FFF2-40B4-BE49-F238E27FC236}">
                <a16:creationId xmlns:a16="http://schemas.microsoft.com/office/drawing/2014/main" id="{CABCB2C1-4967-4C85-AAAB-B8BF5291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hase5-number-text">
            <a:extLst xmlns:a="http://schemas.openxmlformats.org/drawingml/2006/main">
              <a:ext uri="{FF2B5EF4-FFF2-40B4-BE49-F238E27FC236}">
                <a16:creationId xmlns:a16="http://schemas.microsoft.com/office/drawing/2014/main" id="{4D6DA2A1-D36F-4776-B57D-3B7DC3BC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6" name="phase5-title">
            <a:extLst xmlns:a="http://schemas.openxmlformats.org/drawingml/2006/main">
              <a:ext uri="{FF2B5EF4-FFF2-40B4-BE49-F238E27FC236}">
                <a16:creationId xmlns:a16="http://schemas.microsoft.com/office/drawing/2014/main" id="{6ABC7D49-9B80-4CD1-B09D-9796243F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Depth audit and replication</a:t>
            </a:r>
          </a:p>
        </p:txBody>
      </p:sp>
      <p:sp>
        <p:nvSpPr>
          <p:cNvPr id="27" name="phase5-detail">
            <a:extLst xmlns:a="http://schemas.openxmlformats.org/drawingml/2006/main">
              <a:ext uri="{FF2B5EF4-FFF2-40B4-BE49-F238E27FC236}">
                <a16:creationId xmlns:a16="http://schemas.microsoft.com/office/drawing/2014/main" id="{2632D01C-55E3-401E-9EF9-2151226C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01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E-022 to E-032: repair, replicate, and bound the conclusion.</a:t>
            </a:r>
          </a:p>
        </p:txBody>
      </p:sp>
      <p:sp>
        <p:nvSpPr>
          <p:cNvPr id="28" name="causal-spine-back">
            <a:extLst xmlns:a="http://schemas.openxmlformats.org/drawingml/2006/main">
              <a:ext uri="{FF2B5EF4-FFF2-40B4-BE49-F238E27FC236}">
                <a16:creationId xmlns:a16="http://schemas.microsoft.com/office/drawing/2014/main" id="{0F185F05-C168-42D0-8B90-C99C40E8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52550"/>
            <a:ext cx="69342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9321a833f4762"/>
          <a:stretch xmlns:a="http://schemas.openxmlformats.org/drawingml/2006/main"/>
        </p:blipFill>
        <p:spPr>
          <a:xfrm xmlns:a="http://schemas.openxmlformats.org/drawingml/2006/main">
            <a:off x="5007680" y="1819275"/>
            <a:ext cx="6634340" cy="373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06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CED6A59-3C6D-472B-8407-2001A1CF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A / MEASUREMENT AND PROVENANCE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0DCBD8-8B0C-4EB8-9FC5-3BF9D0C7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Phase A rejected circular evidence before model selection.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BA2D92-A1F6-4148-9127-52BB9E56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B231D1C-9CE4-4F20-9B53-71981470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C25CA77-4565-4CA2-93E6-3AFE3CCF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F4F1653-5632-4F9C-A38D-4619E0B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e001-panel">
            <a:extLst xmlns:a="http://schemas.openxmlformats.org/drawingml/2006/main">
              <a:ext uri="{FF2B5EF4-FFF2-40B4-BE49-F238E27FC236}">
                <a16:creationId xmlns:a16="http://schemas.microsoft.com/office/drawing/2014/main" id="{4D1F1D55-524E-4307-A27D-6BB6299D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52197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001-accent">
            <a:extLst xmlns:a="http://schemas.openxmlformats.org/drawingml/2006/main">
              <a:ext uri="{FF2B5EF4-FFF2-40B4-BE49-F238E27FC236}">
                <a16:creationId xmlns:a16="http://schemas.microsoft.com/office/drawing/2014/main" id="{5E135956-291A-400B-8118-5D4F1E25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001-label">
            <a:extLst xmlns:a="http://schemas.openxmlformats.org/drawingml/2006/main">
              <a:ext uri="{FF2B5EF4-FFF2-40B4-BE49-F238E27FC236}">
                <a16:creationId xmlns:a16="http://schemas.microsoft.com/office/drawing/2014/main" id="{3AA250D7-4B4F-4715-A78E-0EA2B4C8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483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E-001</a:t>
            </a:r>
          </a:p>
        </p:txBody>
      </p:sp>
      <p:sp>
        <p:nvSpPr>
          <p:cNvPr id="10" name="e001-value">
            <a:extLst xmlns:a="http://schemas.openxmlformats.org/drawingml/2006/main">
              <a:ext uri="{FF2B5EF4-FFF2-40B4-BE49-F238E27FC236}">
                <a16:creationId xmlns:a16="http://schemas.microsoft.com/office/drawing/2014/main" id="{569EA0DA-6044-4DF5-82D1-C2A3BAE4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Class mismatch was circular</a:t>
            </a:r>
          </a:p>
        </p:txBody>
      </p:sp>
      <p:sp>
        <p:nvSpPr>
          <p:cNvPr id="11" name="e001-detail">
            <a:extLst xmlns:a="http://schemas.openxmlformats.org/drawingml/2006/main">
              <a:ext uri="{FF2B5EF4-FFF2-40B4-BE49-F238E27FC236}">
                <a16:creationId xmlns:a16="http://schemas.microsoft.com/office/drawing/2014/main" id="{A2781046-F65E-4D82-B8D9-270E6ECB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4838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proxy and comparison used the same association graph.</a:t>
            </a:r>
          </a:p>
        </p:txBody>
      </p:sp>
      <p:sp>
        <p:nvSpPr>
          <p:cNvPr id="12" name="e002-panel">
            <a:extLst xmlns:a="http://schemas.openxmlformats.org/drawingml/2006/main">
              <a:ext uri="{FF2B5EF4-FFF2-40B4-BE49-F238E27FC236}">
                <a16:creationId xmlns:a16="http://schemas.microsoft.com/office/drawing/2014/main" id="{1629511F-7407-4E32-9766-1CD06996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2197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002-accent">
            <a:extLst xmlns:a="http://schemas.openxmlformats.org/drawingml/2006/main">
              <a:ext uri="{FF2B5EF4-FFF2-40B4-BE49-F238E27FC236}">
                <a16:creationId xmlns:a16="http://schemas.microsoft.com/office/drawing/2014/main" id="{F3C0DA2C-2054-4821-89A4-DA7AB579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002-label">
            <a:extLst xmlns:a="http://schemas.openxmlformats.org/drawingml/2006/main">
              <a:ext uri="{FF2B5EF4-FFF2-40B4-BE49-F238E27FC236}">
                <a16:creationId xmlns:a16="http://schemas.microsoft.com/office/drawing/2014/main" id="{6AD3A48E-0FE3-4789-8E28-0856F1E4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3550"/>
            <a:ext cx="483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E-002</a:t>
            </a:r>
          </a:p>
        </p:txBody>
      </p:sp>
      <p:sp>
        <p:nvSpPr>
          <p:cNvPr id="15" name="e002-value">
            <a:extLst xmlns:a="http://schemas.openxmlformats.org/drawingml/2006/main">
              <a:ext uri="{FF2B5EF4-FFF2-40B4-BE49-F238E27FC236}">
                <a16:creationId xmlns:a16="http://schemas.microsoft.com/office/drawing/2014/main" id="{D659B855-CD31-41CC-AAF5-1F03E2E1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Master-image reuse was unsafe</a:t>
            </a:r>
          </a:p>
        </p:txBody>
      </p:sp>
      <p:sp>
        <p:nvSpPr>
          <p:cNvPr id="16" name="e002-detail">
            <a:extLst xmlns:a="http://schemas.openxmlformats.org/drawingml/2006/main">
              <a:ext uri="{FF2B5EF4-FFF2-40B4-BE49-F238E27FC236}">
                <a16:creationId xmlns:a16="http://schemas.microsoft.com/office/drawing/2014/main" id="{8C524471-BB0B-4665-BF40-00DC2DE3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4838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Freeze source correspondence before using it as evidence.</a:t>
            </a:r>
          </a:p>
        </p:txBody>
      </p:sp>
      <p:sp>
        <p:nvSpPr>
          <p:cNvPr id="17" name="phase-a-note">
            <a:extLst xmlns:a="http://schemas.openxmlformats.org/drawingml/2006/main">
              <a:ext uri="{FF2B5EF4-FFF2-40B4-BE49-F238E27FC236}">
                <a16:creationId xmlns:a16="http://schemas.microsoft.com/office/drawing/2014/main" id="{6EDF1EB0-7317-4372-96A1-3DD8A466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991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hase-a-note-text">
            <a:extLst xmlns:a="http://schemas.openxmlformats.org/drawingml/2006/main">
              <a:ext uri="{FF2B5EF4-FFF2-40B4-BE49-F238E27FC236}">
                <a16:creationId xmlns:a16="http://schemas.microsoft.com/office/drawing/2014/main" id="{D6972E49-FA8D-4974-9335-B50E8413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42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Stable predictions need stable measurements and provenance.</a:t>
            </a:r>
          </a:p>
        </p:txBody>
      </p:sp>
    </p:spTree>
    <p:extLst>
      <p:ext uri="{BB962C8B-B14F-4D97-AF65-F5344CB8AC3E}">
        <p14:creationId xmlns:p14="http://schemas.microsoft.com/office/powerpoint/2010/main" val="894847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C60F2D0-9304-41EC-A5BA-815724A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A / RELATIVE GEOMETRY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797FD0-3A07-46DD-B59F-38C8CAA3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Relative depth orders views, not individual bunches.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A86B112-8B0D-4EEB-941B-80F27421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D6FBB89-206D-40CA-B4AE-17C3AFBF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A4A87B4-3F88-4A29-B22B-CD2F95DA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427BC7-26C0-425F-A942-BD6AA73B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geometry1-rule">
            <a:extLst xmlns:a="http://schemas.openxmlformats.org/drawingml/2006/main">
              <a:ext uri="{FF2B5EF4-FFF2-40B4-BE49-F238E27FC236}">
                <a16:creationId xmlns:a16="http://schemas.microsoft.com/office/drawing/2014/main" id="{4D45E8C4-6BB1-46D0-AA35-2C24711E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eometry1-label">
            <a:extLst xmlns:a="http://schemas.openxmlformats.org/drawingml/2006/main">
              <a:ext uri="{FF2B5EF4-FFF2-40B4-BE49-F238E27FC236}">
                <a16:creationId xmlns:a16="http://schemas.microsoft.com/office/drawing/2014/main" id="{56856B49-82A8-4233-9AF3-773D3C6D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E-003 TO E-005</a:t>
            </a:r>
          </a:p>
        </p:txBody>
      </p:sp>
      <p:sp>
        <p:nvSpPr>
          <p:cNvPr id="9" name="geometry1-body">
            <a:extLst xmlns:a="http://schemas.openxmlformats.org/drawingml/2006/main">
              <a:ext uri="{FF2B5EF4-FFF2-40B4-BE49-F238E27FC236}">
                <a16:creationId xmlns:a16="http://schemas.microsoft.com/office/drawing/2014/main" id="{67423000-8ED3-44A4-832B-DF17A158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Relative depth organized tree-level view order in declared orbit and photograph samples.</a:t>
            </a:r>
          </a:p>
        </p:txBody>
      </p:sp>
      <p:sp>
        <p:nvSpPr>
          <p:cNvPr id="10" name="geometry2-rule">
            <a:extLst xmlns:a="http://schemas.openxmlformats.org/drawingml/2006/main">
              <a:ext uri="{FF2B5EF4-FFF2-40B4-BE49-F238E27FC236}">
                <a16:creationId xmlns:a16="http://schemas.microsoft.com/office/drawing/2014/main" id="{618473E3-57E2-46E6-BEBB-BA990E01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eometry2-label">
            <a:extLst xmlns:a="http://schemas.openxmlformats.org/drawingml/2006/main">
              <a:ext uri="{FF2B5EF4-FFF2-40B4-BE49-F238E27FC236}">
                <a16:creationId xmlns:a16="http://schemas.microsoft.com/office/drawing/2014/main" id="{F0069475-46DD-47FE-A99D-F98E5108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E-006</a:t>
            </a:r>
          </a:p>
        </p:txBody>
      </p:sp>
      <p:sp>
        <p:nvSpPr>
          <p:cNvPr id="12" name="geometry2-body">
            <a:extLst xmlns:a="http://schemas.openxmlformats.org/drawingml/2006/main">
              <a:ext uri="{FF2B5EF4-FFF2-40B4-BE49-F238E27FC236}">
                <a16:creationId xmlns:a16="http://schemas.microsoft.com/office/drawing/2014/main" id="{A1D9AFC7-1755-43F9-BCEA-69204852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Pseudo-depth failed the local bunch-versus-background separation test.</a:t>
            </a:r>
          </a:p>
        </p:txBody>
      </p:sp>
      <p:sp>
        <p:nvSpPr>
          <p:cNvPr id="13" name="geometry3-rule">
            <a:extLst xmlns:a="http://schemas.openxmlformats.org/drawingml/2006/main">
              <a:ext uri="{FF2B5EF4-FFF2-40B4-BE49-F238E27FC236}">
                <a16:creationId xmlns:a16="http://schemas.microsoft.com/office/drawing/2014/main" id="{6465C779-67A2-42AB-AC04-D0ADBC15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eometry3-label">
            <a:extLst xmlns:a="http://schemas.openxmlformats.org/drawingml/2006/main">
              <a:ext uri="{FF2B5EF4-FFF2-40B4-BE49-F238E27FC236}">
                <a16:creationId xmlns:a16="http://schemas.microsoft.com/office/drawing/2014/main" id="{56346A14-C4E0-46F0-880F-F4CB134D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E-007 TO E-008</a:t>
            </a:r>
          </a:p>
        </p:txBody>
      </p:sp>
      <p:sp>
        <p:nvSpPr>
          <p:cNvPr id="15" name="geometry3-body">
            <a:extLst xmlns:a="http://schemas.openxmlformats.org/drawingml/2006/main">
              <a:ext uri="{FF2B5EF4-FFF2-40B4-BE49-F238E27FC236}">
                <a16:creationId xmlns:a16="http://schemas.microsoft.com/office/drawing/2014/main" id="{F114242E-8C2F-418B-B1E0-E284617A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No reliable cross-side bunch link was established; E-008 remains a visible reserved record.</a:t>
            </a:r>
          </a:p>
        </p:txBody>
      </p:sp>
      <p:sp>
        <p:nvSpPr>
          <p:cNvPr id="16" name="geometry-boundary">
            <a:extLst xmlns:a="http://schemas.openxmlformats.org/drawingml/2006/main">
              <a:ext uri="{FF2B5EF4-FFF2-40B4-BE49-F238E27FC236}">
                <a16:creationId xmlns:a16="http://schemas.microsoft.com/office/drawing/2014/main" id="{FCC3F179-9398-4A57-AF23-73B26D27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 visually smooth relative map is not a metric sensor and is not evidence of one-count-per-bunch.</a:t>
            </a:r>
          </a:p>
        </p:txBody>
      </p:sp>
      <p:sp>
        <p:nvSpPr>
          <p:cNvPr id="17" name="hypothesis-back">
            <a:extLst xmlns:a="http://schemas.openxmlformats.org/drawingml/2006/main">
              <a:ext uri="{FF2B5EF4-FFF2-40B4-BE49-F238E27FC236}">
                <a16:creationId xmlns:a16="http://schemas.microsoft.com/office/drawing/2014/main" id="{BC2634E6-32A4-44F7-8CE1-17B2BEB1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70294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1397643014f61"/>
          <a:stretch xmlns:a="http://schemas.openxmlformats.org/drawingml/2006/main"/>
        </p:blipFill>
        <p:spPr>
          <a:xfrm xmlns:a="http://schemas.openxmlformats.org/drawingml/2006/main">
            <a:off x="5519738" y="1790700"/>
            <a:ext cx="5514975" cy="3676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929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C3281DC3-1084-4B43-8B10-04605D41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B / RGB ERROR DIAGNOSIS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038A20-7D0B-4889-AC9E-78A857AD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Phase B shows that RGB errors are heterogeneous.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4AF7325-C427-4351-A6AA-0DDEFB7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269E0C-AC64-40C9-8DEE-506ADA70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B814EED-0D85-4464-9A76-11E42353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83C355A-A861-475C-91FE-85182FAA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b4-panel">
            <a:extLst xmlns:a="http://schemas.openxmlformats.org/drawingml/2006/main">
              <a:ext uri="{FF2B5EF4-FFF2-40B4-BE49-F238E27FC236}">
                <a16:creationId xmlns:a16="http://schemas.microsoft.com/office/drawing/2014/main" id="{950154DA-AACA-4CBA-9233-CF951F8D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429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4-accent">
            <a:extLst xmlns:a="http://schemas.openxmlformats.org/drawingml/2006/main">
              <a:ext uri="{FF2B5EF4-FFF2-40B4-BE49-F238E27FC236}">
                <a16:creationId xmlns:a16="http://schemas.microsoft.com/office/drawing/2014/main" id="{5A3151A4-EEC6-4545-9BA5-DC2B7925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6667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4-label">
            <a:extLst xmlns:a="http://schemas.openxmlformats.org/drawingml/2006/main">
              <a:ext uri="{FF2B5EF4-FFF2-40B4-BE49-F238E27FC236}">
                <a16:creationId xmlns:a16="http://schemas.microsoft.com/office/drawing/2014/main" id="{667D55EE-2CBC-4093-A8C8-0408D7D2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E-009 TO E-011</a:t>
            </a:r>
          </a:p>
        </p:txBody>
      </p:sp>
      <p:sp>
        <p:nvSpPr>
          <p:cNvPr id="10" name="b4-value">
            <a:extLst xmlns:a="http://schemas.openxmlformats.org/drawingml/2006/main">
              <a:ext uri="{FF2B5EF4-FFF2-40B4-BE49-F238E27FC236}">
                <a16:creationId xmlns:a16="http://schemas.microsoft.com/office/drawing/2014/main" id="{D6DB4D5D-FF66-46BF-9CA1-4B555A0A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B4 is not mainly crowding</a:t>
            </a:r>
          </a:p>
        </p:txBody>
      </p:sp>
      <p:sp>
        <p:nvSpPr>
          <p:cNvPr id="11" name="b4-detail">
            <a:extLst xmlns:a="http://schemas.openxmlformats.org/drawingml/2006/main">
              <a:ext uri="{FF2B5EF4-FFF2-40B4-BE49-F238E27FC236}">
                <a16:creationId xmlns:a16="http://schemas.microsoft.com/office/drawing/2014/main" id="{8B36E020-2F55-4680-844E-41112DEA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B4 is low-contrast and texture-rich, not merely crowded.</a:t>
            </a:r>
          </a:p>
        </p:txBody>
      </p:sp>
      <p:sp>
        <p:nvSpPr>
          <p:cNvPr id="12" name="b23-panel">
            <a:extLst xmlns:a="http://schemas.openxmlformats.org/drawingml/2006/main">
              <a:ext uri="{FF2B5EF4-FFF2-40B4-BE49-F238E27FC236}">
                <a16:creationId xmlns:a16="http://schemas.microsoft.com/office/drawing/2014/main" id="{F63C7662-D58C-467B-9A2C-BEBDDCD3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3429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23-accent">
            <a:extLst xmlns:a="http://schemas.openxmlformats.org/drawingml/2006/main">
              <a:ext uri="{FF2B5EF4-FFF2-40B4-BE49-F238E27FC236}">
                <a16:creationId xmlns:a16="http://schemas.microsoft.com/office/drawing/2014/main" id="{B5CD6E1B-4D25-4FBB-8A53-6CB7F56A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6667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23-label">
            <a:extLst xmlns:a="http://schemas.openxmlformats.org/drawingml/2006/main">
              <a:ext uri="{FF2B5EF4-FFF2-40B4-BE49-F238E27FC236}">
                <a16:creationId xmlns:a16="http://schemas.microsoft.com/office/drawing/2014/main" id="{30DCF8D9-BA5D-4EB7-92F4-6E88ABC7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E-012</a:t>
            </a:r>
          </a:p>
        </p:txBody>
      </p:sp>
      <p:sp>
        <p:nvSpPr>
          <p:cNvPr id="15" name="b23-value">
            <a:extLst xmlns:a="http://schemas.openxmlformats.org/drawingml/2006/main">
              <a:ext uri="{FF2B5EF4-FFF2-40B4-BE49-F238E27FC236}">
                <a16:creationId xmlns:a16="http://schemas.microsoft.com/office/drawing/2014/main" id="{BE47BB26-78A0-4E2E-B7C6-2F5348FF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812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B2-B3 is an ordinal boundary</a:t>
            </a:r>
          </a:p>
        </p:txBody>
      </p:sp>
      <p:sp>
        <p:nvSpPr>
          <p:cNvPr id="16" name="b23-detail">
            <a:extLst xmlns:a="http://schemas.openxmlformats.org/drawingml/2006/main">
              <a:ext uri="{FF2B5EF4-FFF2-40B4-BE49-F238E27FC236}">
                <a16:creationId xmlns:a16="http://schemas.microsoft.com/office/drawing/2014/main" id="{51A87374-10B3-4559-B7EE-E09B7175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147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Errors cluster at adjacent maturity stages.</a:t>
            </a:r>
          </a:p>
        </p:txBody>
      </p:sp>
      <p:sp>
        <p:nvSpPr>
          <p:cNvPr id="17" name="response-panel">
            <a:extLst xmlns:a="http://schemas.openxmlformats.org/drawingml/2006/main">
              <a:ext uri="{FF2B5EF4-FFF2-40B4-BE49-F238E27FC236}">
                <a16:creationId xmlns:a16="http://schemas.microsoft.com/office/drawing/2014/main" id="{B4603696-EAEB-4508-B30E-CE8D78FF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3429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ponse-accent">
            <a:extLst xmlns:a="http://schemas.openxmlformats.org/drawingml/2006/main">
              <a:ext uri="{FF2B5EF4-FFF2-40B4-BE49-F238E27FC236}">
                <a16:creationId xmlns:a16="http://schemas.microsoft.com/office/drawing/2014/main" id="{907B944B-C4AF-449E-A4CF-10A8606D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6667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sponse-label">
            <a:extLst xmlns:a="http://schemas.openxmlformats.org/drawingml/2006/main">
              <a:ext uri="{FF2B5EF4-FFF2-40B4-BE49-F238E27FC236}">
                <a16:creationId xmlns:a16="http://schemas.microsoft.com/office/drawing/2014/main" id="{A29CBD9F-AA26-42F3-B8D9-A8AD61C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IMPLICATION</a:t>
            </a:r>
          </a:p>
        </p:txBody>
      </p:sp>
      <p:sp>
        <p:nvSpPr>
          <p:cNvPr id="20" name="response-value">
            <a:extLst xmlns:a="http://schemas.openxmlformats.org/drawingml/2006/main">
              <a:ext uri="{FF2B5EF4-FFF2-40B4-BE49-F238E27FC236}">
                <a16:creationId xmlns:a16="http://schemas.microsoft.com/office/drawing/2014/main" id="{F7C13905-C9AD-4628-A18D-4C8F9AF3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One global fix is unlikely</a:t>
            </a:r>
          </a:p>
        </p:txBody>
      </p:sp>
      <p:sp>
        <p:nvSpPr>
          <p:cNvPr id="21" name="response-detail">
            <a:extLst xmlns:a="http://schemas.openxmlformats.org/drawingml/2006/main">
              <a:ext uri="{FF2B5EF4-FFF2-40B4-BE49-F238E27FC236}">
                <a16:creationId xmlns:a16="http://schemas.microsoft.com/office/drawing/2014/main" id="{EDE52C28-61D6-4770-93E3-1663C9D2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Use texture-aware, ordinal modelling.</a:t>
            </a:r>
          </a:p>
        </p:txBody>
      </p:sp>
      <p:sp>
        <p:nvSpPr>
          <p:cNvPr id="22" name="diagnosis-note">
            <a:extLst xmlns:a="http://schemas.openxmlformats.org/drawingml/2006/main">
              <a:ext uri="{FF2B5EF4-FFF2-40B4-BE49-F238E27FC236}">
                <a16:creationId xmlns:a16="http://schemas.microsoft.com/office/drawing/2014/main" id="{95DA92F2-ACD7-4390-AF4E-5E0520F2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iagnosis-note-text">
            <a:extLst xmlns:a="http://schemas.openxmlformats.org/drawingml/2006/main">
              <a:ext uri="{FF2B5EF4-FFF2-40B4-BE49-F238E27FC236}">
                <a16:creationId xmlns:a16="http://schemas.microsoft.com/office/drawing/2014/main" id="{7E703260-3A04-4E8F-8CED-6B44CF68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Sensor results do not answer maturity, identity, or inventory questions.</a:t>
            </a:r>
          </a:p>
        </p:txBody>
      </p:sp>
    </p:spTree>
    <p:extLst>
      <p:ext uri="{BB962C8B-B14F-4D97-AF65-F5344CB8AC3E}">
        <p14:creationId xmlns:p14="http://schemas.microsoft.com/office/powerpoint/2010/main" val="16948933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496BE0EB-1133-4457-98B6-1F54A7A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C / RGB CONTRACT AND DIAGNOSIS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B0C36B-2527-43CA-913E-3AACE782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Maturity assignment may cost more than localization.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478AA5-D551-4FCF-974C-4E6885F9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F1C5036-3616-47B6-B7F2-956AB8D4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C6BB2F8-15FA-4954-A114-EB77EB4E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1E2A49B-BFC3-40ED-BBC0-30863416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bottleneck-chart-back">
            <a:extLst xmlns:a="http://schemas.openxmlformats.org/drawingml/2006/main">
              <a:ext uri="{FF2B5EF4-FFF2-40B4-BE49-F238E27FC236}">
                <a16:creationId xmlns:a16="http://schemas.microsoft.com/office/drawing/2014/main" id="{807EC52D-57DA-44AF-9616-0E276A3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69151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c8616720e448d"/>
          <a:stretch xmlns:a="http://schemas.openxmlformats.org/drawingml/2006/main"/>
        </p:blipFill>
        <p:spPr>
          <a:xfrm xmlns:a="http://schemas.openxmlformats.org/drawingml/2006/main">
            <a:off x="-857250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fourclass-panel">
            <a:extLst xmlns:a="http://schemas.openxmlformats.org/drawingml/2006/main">
              <a:ext uri="{FF2B5EF4-FFF2-40B4-BE49-F238E27FC236}">
                <a16:creationId xmlns:a16="http://schemas.microsoft.com/office/drawing/2014/main" id="{8F6B42D9-F7E8-49AB-BE0D-0479F08C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81150"/>
            <a:ext cx="39243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urclass-accent">
            <a:extLst xmlns:a="http://schemas.openxmlformats.org/drawingml/2006/main">
              <a:ext uri="{FF2B5EF4-FFF2-40B4-BE49-F238E27FC236}">
                <a16:creationId xmlns:a16="http://schemas.microsoft.com/office/drawing/2014/main" id="{BDCFB503-73F9-4CF3-8249-B6CD4E72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811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urclass-label">
            <a:extLst xmlns:a="http://schemas.openxmlformats.org/drawingml/2006/main">
              <a:ext uri="{FF2B5EF4-FFF2-40B4-BE49-F238E27FC236}">
                <a16:creationId xmlns:a16="http://schemas.microsoft.com/office/drawing/2014/main" id="{17F0ECA8-FBE8-4F23-AB32-416C285E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FOUR-CLASS mAP50</a:t>
            </a:r>
          </a:p>
        </p:txBody>
      </p:sp>
      <p:sp>
        <p:nvSpPr>
          <p:cNvPr id="12" name="fourclass-value">
            <a:extLst xmlns:a="http://schemas.openxmlformats.org/drawingml/2006/main">
              <a:ext uri="{FF2B5EF4-FFF2-40B4-BE49-F238E27FC236}">
                <a16:creationId xmlns:a16="http://schemas.microsoft.com/office/drawing/2014/main" id="{4E166E68-7ADA-488B-BA85-63A20BA8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0.5218</a:t>
            </a:r>
          </a:p>
        </p:txBody>
      </p:sp>
      <p:sp>
        <p:nvSpPr>
          <p:cNvPr id="13" name="fourclass-detail">
            <a:extLst xmlns:a="http://schemas.openxmlformats.org/drawingml/2006/main">
              <a:ext uri="{FF2B5EF4-FFF2-40B4-BE49-F238E27FC236}">
                <a16:creationId xmlns:a16="http://schemas.microsoft.com/office/drawing/2014/main" id="{373AE3BB-DB38-48C5-9051-22FEAA61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Localization and maturity required</a:t>
            </a:r>
          </a:p>
        </p:txBody>
      </p:sp>
      <p:sp>
        <p:nvSpPr>
          <p:cNvPr id="14" name="agnostic-panel">
            <a:extLst xmlns:a="http://schemas.openxmlformats.org/drawingml/2006/main">
              <a:ext uri="{FF2B5EF4-FFF2-40B4-BE49-F238E27FC236}">
                <a16:creationId xmlns:a16="http://schemas.microsoft.com/office/drawing/2014/main" id="{D5A2FDE9-1A91-4393-B58D-253F8AA9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39243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nostic-accent">
            <a:extLst xmlns:a="http://schemas.openxmlformats.org/drawingml/2006/main">
              <a:ext uri="{FF2B5EF4-FFF2-40B4-BE49-F238E27FC236}">
                <a16:creationId xmlns:a16="http://schemas.microsoft.com/office/drawing/2014/main" id="{E356EC31-00D6-49F2-8C5A-45EA7A2E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gnostic-label">
            <a:extLst xmlns:a="http://schemas.openxmlformats.org/drawingml/2006/main">
              <a:ext uri="{FF2B5EF4-FFF2-40B4-BE49-F238E27FC236}">
                <a16:creationId xmlns:a16="http://schemas.microsoft.com/office/drawing/2014/main" id="{82B52E68-4218-41AF-8A3C-3E6D9C6E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CLASS-AGNOSTIC mAP50</a:t>
            </a:r>
          </a:p>
        </p:txBody>
      </p:sp>
      <p:sp>
        <p:nvSpPr>
          <p:cNvPr id="17" name="agnostic-value">
            <a:extLst xmlns:a="http://schemas.openxmlformats.org/drawingml/2006/main">
              <a:ext uri="{FF2B5EF4-FFF2-40B4-BE49-F238E27FC236}">
                <a16:creationId xmlns:a16="http://schemas.microsoft.com/office/drawing/2014/main" id="{A99F0493-02F8-4E33-95DC-F2852BF8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0.7191</a:t>
            </a:r>
          </a:p>
        </p:txBody>
      </p:sp>
      <p:sp>
        <p:nvSpPr>
          <p:cNvPr id="18" name="agnostic-detail">
            <a:extLst xmlns:a="http://schemas.openxmlformats.org/drawingml/2006/main">
              <a:ext uri="{FF2B5EF4-FFF2-40B4-BE49-F238E27FC236}">
                <a16:creationId xmlns:a16="http://schemas.microsoft.com/office/drawing/2014/main" id="{CAF0A89E-9B44-45B5-8A72-D97D1E2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Localization-only diagnostic</a:t>
            </a:r>
          </a:p>
        </p:txBody>
      </p:sp>
      <p:sp>
        <p:nvSpPr>
          <p:cNvPr id="19" name="json-boundary">
            <a:extLst xmlns:a="http://schemas.openxmlformats.org/drawingml/2006/main">
              <a:ext uri="{FF2B5EF4-FFF2-40B4-BE49-F238E27FC236}">
                <a16:creationId xmlns:a16="http://schemas.microsoft.com/office/drawing/2014/main" id="{5A6C6CDB-DAEF-40A6-9D4C-3A22E98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24400"/>
            <a:ext cx="3752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Provisional: prediction JSON identity has not been independently demonstrated.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BACF6-5530-4BF4-A1A1-2315560F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69151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8F9E6-2AC0-4748-BED1-7E76335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E-014: provisional maturity-assignment diagnostic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685800" y="2133600"/>
          <a:ext xmlns:a="http://schemas.openxmlformats.org/drawingml/2006/main" cx="6343650" cy="2171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71700"/>
                <a:gridCol w="1143000"/>
                <a:gridCol w="30289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mAP50</a:t>
                      </a:r>
                    </a:p>
                  </a:txBody>
                  <a:tcPr marL="91440" marR="91440" marT="45720" marB="4572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5608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Four-class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0.5218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Localization and maturity required</a:t>
                      </a:r>
                    </a:p>
                  </a:txBody>
                  <a:tcPr marL="91440" marR="91440" marT="45720" marB="45720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Class-agnostic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0.7191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Localization-only diagnostic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38CA3-E4AA-4987-94AB-E926BFCA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615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The gap is consistent with a maturity-assignment cost, but it is not a proven decomposition.</a:t>
            </a:r>
          </a:p>
        </p:txBody>
      </p:sp>
    </p:spTree>
    <p:extLst>
      <p:ext uri="{BB962C8B-B14F-4D97-AF65-F5344CB8AC3E}">
        <p14:creationId xmlns:p14="http://schemas.microsoft.com/office/powerpoint/2010/main" val="17063807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411EE075-F6CD-4D15-BB04-1E837F47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C / RGB INTERVENTIONS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B1E1D1-C16B-4755-805E-1E06D4F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Phase C tested RGB interventions before selecting a control.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85B7092-995C-432B-A090-A0CC8B8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B2EA6-CDEC-4C38-B9FD-0B593392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61C5D72-01FD-45AA-B6A1-9A456724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F543AFE-B43E-4F5A-9B6D-52C23816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c1-number">
            <a:extLst xmlns:a="http://schemas.openxmlformats.org/drawingml/2006/main">
              <a:ext uri="{FF2B5EF4-FFF2-40B4-BE49-F238E27FC236}">
                <a16:creationId xmlns:a16="http://schemas.microsoft.com/office/drawing/2014/main" id="{C2DB412B-BF78-4AB9-A852-D460992B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1-number-text">
            <a:extLst xmlns:a="http://schemas.openxmlformats.org/drawingml/2006/main">
              <a:ext uri="{FF2B5EF4-FFF2-40B4-BE49-F238E27FC236}">
                <a16:creationId xmlns:a16="http://schemas.microsoft.com/office/drawing/2014/main" id="{87C11391-51E0-4709-BCE7-EF5E93E9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c1-title">
            <a:extLst xmlns:a="http://schemas.openxmlformats.org/drawingml/2006/main">
              <a:ext uri="{FF2B5EF4-FFF2-40B4-BE49-F238E27FC236}">
                <a16:creationId xmlns:a16="http://schemas.microsoft.com/office/drawing/2014/main" id="{E2118E50-680D-4CDE-A816-9A899F1B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E-013: freeze the depth contract</a:t>
            </a:r>
          </a:p>
        </p:txBody>
      </p:sp>
      <p:sp>
        <p:nvSpPr>
          <p:cNvPr id="10" name="c1-detail">
            <a:extLst xmlns:a="http://schemas.openxmlformats.org/drawingml/2006/main">
              <a:ext uri="{FF2B5EF4-FFF2-40B4-BE49-F238E27FC236}">
                <a16:creationId xmlns:a16="http://schemas.microsoft.com/office/drawing/2014/main" id="{964154D2-0CBB-460C-835F-4906438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Channel order, invalid depth, fallback, calibration, and evaluator are explicit before benefit is claimed.</a:t>
            </a:r>
          </a:p>
        </p:txBody>
      </p:sp>
      <p:sp>
        <p:nvSpPr>
          <p:cNvPr id="11" name="c2-number">
            <a:extLst xmlns:a="http://schemas.openxmlformats.org/drawingml/2006/main">
              <a:ext uri="{FF2B5EF4-FFF2-40B4-BE49-F238E27FC236}">
                <a16:creationId xmlns:a16="http://schemas.microsoft.com/office/drawing/2014/main" id="{2C5D07A6-B4B4-4C8E-AEC2-C6AC358D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2-number-text">
            <a:extLst xmlns:a="http://schemas.openxmlformats.org/drawingml/2006/main">
              <a:ext uri="{FF2B5EF4-FFF2-40B4-BE49-F238E27FC236}">
                <a16:creationId xmlns:a16="http://schemas.microsoft.com/office/drawing/2014/main" id="{6C4B3155-C89B-4808-9798-44377DC3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c2-title">
            <a:extLst xmlns:a="http://schemas.openxmlformats.org/drawingml/2006/main">
              <a:ext uri="{FF2B5EF4-FFF2-40B4-BE49-F238E27FC236}">
                <a16:creationId xmlns:a16="http://schemas.microsoft.com/office/drawing/2014/main" id="{727BCC70-88B9-4CE8-A04A-7DB73DD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E-015 to E-019: test fixes</a:t>
            </a:r>
          </a:p>
        </p:txBody>
      </p:sp>
      <p:sp>
        <p:nvSpPr>
          <p:cNvPr id="14" name="c2-detail">
            <a:extLst xmlns:a="http://schemas.openxmlformats.org/drawingml/2006/main">
              <a:ext uri="{FF2B5EF4-FFF2-40B4-BE49-F238E27FC236}">
                <a16:creationId xmlns:a16="http://schemas.microsoft.com/office/drawing/2014/main" id="{AB143A57-83FF-46E1-AF4D-0783B0AE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Mapping, a withdrawn ceiling, two-stage separation, localization envelope, and more pixels do not close the target.</a:t>
            </a:r>
          </a:p>
        </p:txBody>
      </p:sp>
      <p:sp>
        <p:nvSpPr>
          <p:cNvPr id="15" name="c3-number">
            <a:extLst xmlns:a="http://schemas.openxmlformats.org/drawingml/2006/main">
              <a:ext uri="{FF2B5EF4-FFF2-40B4-BE49-F238E27FC236}">
                <a16:creationId xmlns:a16="http://schemas.microsoft.com/office/drawing/2014/main" id="{4752D1A0-9530-4855-AA87-B3A217CD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3-number-text">
            <a:extLst xmlns:a="http://schemas.openxmlformats.org/drawingml/2006/main">
              <a:ext uri="{FF2B5EF4-FFF2-40B4-BE49-F238E27FC236}">
                <a16:creationId xmlns:a16="http://schemas.microsoft.com/office/drawing/2014/main" id="{E5E9DC45-60EC-4A27-8F35-703C7029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c3-title">
            <a:extLst xmlns:a="http://schemas.openxmlformats.org/drawingml/2006/main">
              <a:ext uri="{FF2B5EF4-FFF2-40B4-BE49-F238E27FC236}">
                <a16:creationId xmlns:a16="http://schemas.microsoft.com/office/drawing/2014/main" id="{BF67F867-AD64-4A7D-89C9-650EBF53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E-020: shortlist a transformer</a:t>
            </a:r>
          </a:p>
        </p:txBody>
      </p:sp>
      <p:sp>
        <p:nvSpPr>
          <p:cNvPr id="18" name="c3-detail">
            <a:extLst xmlns:a="http://schemas.openxmlformats.org/drawingml/2006/main">
              <a:ext uri="{FF2B5EF4-FFF2-40B4-BE49-F238E27FC236}">
                <a16:creationId xmlns:a16="http://schemas.microsoft.com/office/drawing/2014/main" id="{9FADF71C-17F1-4AC2-896B-CDCB3631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RT-DETR-L is an engineering direction, not a component-level causal result.</a:t>
            </a:r>
          </a:p>
        </p:txBody>
      </p:sp>
      <p:sp>
        <p:nvSpPr>
          <p:cNvPr id="19" name="c4-number">
            <a:extLst xmlns:a="http://schemas.openxmlformats.org/drawingml/2006/main">
              <a:ext uri="{FF2B5EF4-FFF2-40B4-BE49-F238E27FC236}">
                <a16:creationId xmlns:a16="http://schemas.microsoft.com/office/drawing/2014/main" id="{C36E21B1-BD34-4FE8-928E-B5A72D47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4-number-text">
            <a:extLst xmlns:a="http://schemas.openxmlformats.org/drawingml/2006/main">
              <a:ext uri="{FF2B5EF4-FFF2-40B4-BE49-F238E27FC236}">
                <a16:creationId xmlns:a16="http://schemas.microsoft.com/office/drawing/2014/main" id="{1E0C9C97-DB86-4BFF-8BDD-501ED337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c4-title">
            <a:extLst xmlns:a="http://schemas.openxmlformats.org/drawingml/2006/main">
              <a:ext uri="{FF2B5EF4-FFF2-40B4-BE49-F238E27FC236}">
                <a16:creationId xmlns:a16="http://schemas.microsoft.com/office/drawing/2014/main" id="{13F57F93-61B0-40CF-A5BE-3255116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E-021: compare models fairly</a:t>
            </a:r>
          </a:p>
        </p:txBody>
      </p:sp>
      <p:sp>
        <p:nvSpPr>
          <p:cNvPr id="22" name="c4-detail">
            <a:extLst xmlns:a="http://schemas.openxmlformats.org/drawingml/2006/main">
              <a:ext uri="{FF2B5EF4-FFF2-40B4-BE49-F238E27FC236}">
                <a16:creationId xmlns:a16="http://schemas.microsoft.com/office/drawing/2014/main" id="{6F7A99BE-869E-4CAC-B3A9-584FF92C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15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YOLO26, RT-DETR-L, and RF-DETR-L share one split and one evaluator.</a:t>
            </a:r>
          </a:p>
        </p:txBody>
      </p:sp>
      <p:sp>
        <p:nvSpPr>
          <p:cNvPr id="23" name="intervention-summary">
            <a:extLst xmlns:a="http://schemas.openxmlformats.org/drawingml/2006/main">
              <a:ext uri="{FF2B5EF4-FFF2-40B4-BE49-F238E27FC236}">
                <a16:creationId xmlns:a16="http://schemas.microsoft.com/office/drawing/2014/main" id="{0A19A903-BD87-42BD-9599-5183952E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tervention-summary-text">
            <a:extLst xmlns:a="http://schemas.openxmlformats.org/drawingml/2006/main">
              <a:ext uri="{FF2B5EF4-FFF2-40B4-BE49-F238E27FC236}">
                <a16:creationId xmlns:a16="http://schemas.microsoft.com/office/drawing/2014/main" id="{226DAC99-9C95-41A2-800D-E21DAA4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1093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Only a strong, bounded RGB control makes a later physical-depth comparison meaningful.</a:t>
            </a:r>
          </a:p>
        </p:txBody>
      </p:sp>
    </p:spTree>
    <p:extLst>
      <p:ext uri="{BB962C8B-B14F-4D97-AF65-F5344CB8AC3E}">
        <p14:creationId xmlns:p14="http://schemas.microsoft.com/office/powerpoint/2010/main" val="125885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A4DA4FC4-2113-4F49-99D1-F7958165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C / E-021 RGB BENCHMARK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D73A6B-F680-44D7-90FA-53EBCD3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RF-DETR-L is the best observed RGB control.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A0C6B0-2BB6-4297-8B73-B5B76898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C5DCC7-7732-430C-A795-A12DBCB1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648BE65-D6F4-49FD-8BA4-597991BB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59481D1-203F-4AAB-8293-698560C3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e021-chart-back">
            <a:extLst xmlns:a="http://schemas.openxmlformats.org/drawingml/2006/main">
              <a:ext uri="{FF2B5EF4-FFF2-40B4-BE49-F238E27FC236}">
                <a16:creationId xmlns:a16="http://schemas.microsoft.com/office/drawing/2014/main" id="{8AAD906E-332C-4514-8709-6FDB07C1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64389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2098b4b824d26"/>
          <a:stretch xmlns:a="http://schemas.openxmlformats.org/drawingml/2006/main"/>
        </p:blipFill>
        <p:spPr>
          <a:xfrm xmlns:a="http://schemas.openxmlformats.org/drawingml/2006/main">
            <a:off x="400050" y="1872155"/>
            <a:ext cx="6438900" cy="3513741"/>
          </a:xfrm>
          <a:prstGeom xmlns:a="http://schemas.openxmlformats.org/drawingml/2006/main" prst="rect">
            <a:avLst/>
          </a:prstGeom>
        </p:spPr>
      </p:pic>
      <p:sp>
        <p:nvSpPr>
          <p:cNvPr id="9" name="map50-panel">
            <a:extLst xmlns:a="http://schemas.openxmlformats.org/drawingml/2006/main">
              <a:ext uri="{FF2B5EF4-FFF2-40B4-BE49-F238E27FC236}">
                <a16:creationId xmlns:a16="http://schemas.microsoft.com/office/drawing/2014/main" id="{A3D55BD9-4BF5-4229-98FE-984A3905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552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p50-accent">
            <a:extLst xmlns:a="http://schemas.openxmlformats.org/drawingml/2006/main">
              <a:ext uri="{FF2B5EF4-FFF2-40B4-BE49-F238E27FC236}">
                <a16:creationId xmlns:a16="http://schemas.microsoft.com/office/drawing/2014/main" id="{5954FE7D-C74E-440E-9D5B-F14C995A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p50-label">
            <a:extLst xmlns:a="http://schemas.openxmlformats.org/drawingml/2006/main">
              <a:ext uri="{FF2B5EF4-FFF2-40B4-BE49-F238E27FC236}">
                <a16:creationId xmlns:a16="http://schemas.microsoft.com/office/drawing/2014/main" id="{567A4331-8218-4CF9-B348-3D3CDD15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6210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TEST mAP50</a:t>
            </a:r>
          </a:p>
        </p:txBody>
      </p:sp>
      <p:sp>
        <p:nvSpPr>
          <p:cNvPr id="12" name="map50-value">
            <a:extLst xmlns:a="http://schemas.openxmlformats.org/drawingml/2006/main">
              <a:ext uri="{FF2B5EF4-FFF2-40B4-BE49-F238E27FC236}">
                <a16:creationId xmlns:a16="http://schemas.microsoft.com/office/drawing/2014/main" id="{4EC565EF-0BC4-41E6-B6B5-259AA4C9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097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0.6038</a:t>
            </a:r>
          </a:p>
        </p:txBody>
      </p:sp>
      <p:sp>
        <p:nvSpPr>
          <p:cNvPr id="13" name="map50-detail">
            <a:extLst xmlns:a="http://schemas.openxmlformats.org/drawingml/2006/main">
              <a:ext uri="{FF2B5EF4-FFF2-40B4-BE49-F238E27FC236}">
                <a16:creationId xmlns:a16="http://schemas.microsoft.com/office/drawing/2014/main" id="{76A80572-9629-4693-828A-0776CAE4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RF-DETR-L on SawitMVC</a:t>
            </a:r>
          </a:p>
        </p:txBody>
      </p:sp>
      <p:sp>
        <p:nvSpPr>
          <p:cNvPr id="14" name="map-panel">
            <a:extLst xmlns:a="http://schemas.openxmlformats.org/drawingml/2006/main">
              <a:ext uri="{FF2B5EF4-FFF2-40B4-BE49-F238E27FC236}">
                <a16:creationId xmlns:a16="http://schemas.microsoft.com/office/drawing/2014/main" id="{F9E73E9A-357D-4FCE-ADCE-BB05D763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86075"/>
            <a:ext cx="4552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p-accent">
            <a:extLst xmlns:a="http://schemas.openxmlformats.org/drawingml/2006/main">
              <a:ext uri="{FF2B5EF4-FFF2-40B4-BE49-F238E27FC236}">
                <a16:creationId xmlns:a16="http://schemas.microsoft.com/office/drawing/2014/main" id="{ECE67EC3-FDF3-45D4-8F7A-3917B4D0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86075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p-label">
            <a:extLst xmlns:a="http://schemas.openxmlformats.org/drawingml/2006/main">
              <a:ext uri="{FF2B5EF4-FFF2-40B4-BE49-F238E27FC236}">
                <a16:creationId xmlns:a16="http://schemas.microsoft.com/office/drawing/2014/main" id="{803A0DA8-62CC-492F-B39D-4CB30CA0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19425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TEST mAP50-95</a:t>
            </a:r>
          </a:p>
        </p:txBody>
      </p:sp>
      <p:sp>
        <p:nvSpPr>
          <p:cNvPr id="17" name="map-value">
            <a:extLst xmlns:a="http://schemas.openxmlformats.org/drawingml/2006/main">
              <a:ext uri="{FF2B5EF4-FFF2-40B4-BE49-F238E27FC236}">
                <a16:creationId xmlns:a16="http://schemas.microsoft.com/office/drawing/2014/main" id="{67607500-5826-410C-9534-7B14C7A1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67075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0.2770</a:t>
            </a:r>
          </a:p>
        </p:txBody>
      </p:sp>
      <p:sp>
        <p:nvSpPr>
          <p:cNvPr id="18" name="map-detail">
            <a:extLst xmlns:a="http://schemas.openxmlformats.org/drawingml/2006/main">
              <a:ext uri="{FF2B5EF4-FFF2-40B4-BE49-F238E27FC236}">
                <a16:creationId xmlns:a16="http://schemas.microsoft.com/office/drawing/2014/main" id="{EE3DB985-99D4-4786-A63C-BE7AFF04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38575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RF-DETR-L on SawitMVC</a:t>
            </a:r>
          </a:p>
        </p:txBody>
      </p:sp>
      <p:sp>
        <p:nvSpPr>
          <p:cNvPr id="19" name="paired-panel">
            <a:extLst xmlns:a="http://schemas.openxmlformats.org/drawingml/2006/main">
              <a:ext uri="{FF2B5EF4-FFF2-40B4-BE49-F238E27FC236}">
                <a16:creationId xmlns:a16="http://schemas.microsoft.com/office/drawing/2014/main" id="{BEAE5DC4-4F2A-49CC-BD88-0DF8EC43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4552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ired-accent">
            <a:extLst xmlns:a="http://schemas.openxmlformats.org/drawingml/2006/main">
              <a:ext uri="{FF2B5EF4-FFF2-40B4-BE49-F238E27FC236}">
                <a16:creationId xmlns:a16="http://schemas.microsoft.com/office/drawing/2014/main" id="{FFB7B115-01B7-4C66-B9A7-7CD87059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ired-label">
            <a:extLst xmlns:a="http://schemas.openxmlformats.org/drawingml/2006/main">
              <a:ext uri="{FF2B5EF4-FFF2-40B4-BE49-F238E27FC236}">
                <a16:creationId xmlns:a16="http://schemas.microsoft.com/office/drawing/2014/main" id="{78477F5E-69D0-40B7-AA47-6798159B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7675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PAIRED VS RT-DETR-L</a:t>
            </a:r>
          </a:p>
        </p:txBody>
      </p:sp>
      <p:sp>
        <p:nvSpPr>
          <p:cNvPr id="22" name="paired-value">
            <a:extLst xmlns:a="http://schemas.openxmlformats.org/drawingml/2006/main">
              <a:ext uri="{FF2B5EF4-FFF2-40B4-BE49-F238E27FC236}">
                <a16:creationId xmlns:a16="http://schemas.microsoft.com/office/drawing/2014/main" id="{6DA6A2F1-F1B1-4193-A051-0575440F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244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+0.0255</a:t>
            </a:r>
          </a:p>
        </p:txBody>
      </p:sp>
      <p:sp>
        <p:nvSpPr>
          <p:cNvPr id="23" name="paired-detail">
            <a:extLst xmlns:a="http://schemas.openxmlformats.org/drawingml/2006/main">
              <a:ext uri="{FF2B5EF4-FFF2-40B4-BE49-F238E27FC236}">
                <a16:creationId xmlns:a16="http://schemas.microsoft.com/office/drawing/2014/main" id="{96E323F6-62E5-4CA6-89FB-73BDBC9B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9590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95% CI [0.0104, 0.0408]</a:t>
            </a:r>
          </a:p>
        </p:txBody>
      </p:sp>
      <p:sp>
        <p:nvSpPr>
          <p:cNvPr id="24" name="e021-boundary">
            <a:extLst xmlns:a="http://schemas.openxmlformats.org/drawingml/2006/main">
              <a:ext uri="{FF2B5EF4-FFF2-40B4-BE49-F238E27FC236}">
                <a16:creationId xmlns:a16="http://schemas.microsoft.com/office/drawing/2014/main" id="{A502E31B-D225-4921-9CF4-890263A4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Repeated test-set exposure and image-level bootstrap make this a bounded development benchmark, not an independent holdout estimate.</a:t>
            </a:r>
          </a:p>
        </p:txBody>
      </p:sp>
    </p:spTree>
    <p:extLst>
      <p:ext uri="{BB962C8B-B14F-4D97-AF65-F5344CB8AC3E}">
        <p14:creationId xmlns:p14="http://schemas.microsoft.com/office/powerpoint/2010/main" val="10199338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A6CB6EC-FBAE-4CF6-9EB9-5D09029B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D / PHYSICAL-DEPTH AUDIT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21C34-EB04-4AC4-8FCB-B5538311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Phase D starts by withdrawing the historical sensor win.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0994867-7118-4A34-88E4-44DBD64F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3830E73-4828-44E3-8131-5C43792B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6DBDBF4-975D-44BC-8874-1B7B2C8C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5810E16-3A72-4FCD-BB93-2EFBEF3A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audit1-rule">
            <a:extLst xmlns:a="http://schemas.openxmlformats.org/drawingml/2006/main">
              <a:ext uri="{FF2B5EF4-FFF2-40B4-BE49-F238E27FC236}">
                <a16:creationId xmlns:a16="http://schemas.microsoft.com/office/drawing/2014/main" id="{6BA6DAC8-E5FE-4A50-BFC7-F0C21F11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dit1-label">
            <a:extLst xmlns:a="http://schemas.openxmlformats.org/drawingml/2006/main">
              <a:ext uri="{FF2B5EF4-FFF2-40B4-BE49-F238E27FC236}">
                <a16:creationId xmlns:a16="http://schemas.microsoft.com/office/drawing/2014/main" id="{A919F850-5CF6-4907-97A2-4FD81DBC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E-022</a:t>
            </a:r>
          </a:p>
        </p:txBody>
      </p:sp>
      <p:sp>
        <p:nvSpPr>
          <p:cNvPr id="9" name="audit1-body">
            <a:extLst xmlns:a="http://schemas.openxmlformats.org/drawingml/2006/main">
              <a:ext uri="{FF2B5EF4-FFF2-40B4-BE49-F238E27FC236}">
                <a16:creationId xmlns:a16="http://schemas.microsoft.com/office/drawing/2014/main" id="{01A0A268-297C-4925-8804-9DC1A74C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audit checks calibration, reprojection, invalid values, paired files, range, donor selection, and evaluator binding.</a:t>
            </a:r>
          </a:p>
        </p:txBody>
      </p:sp>
      <p:sp>
        <p:nvSpPr>
          <p:cNvPr id="10" name="audit2-rule">
            <a:extLst xmlns:a="http://schemas.openxmlformats.org/drawingml/2006/main">
              <a:ext uri="{FF2B5EF4-FFF2-40B4-BE49-F238E27FC236}">
                <a16:creationId xmlns:a16="http://schemas.microsoft.com/office/drawing/2014/main" id="{5B33F3A6-17EF-4511-96B5-E884B4A9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udit2-label">
            <a:extLst xmlns:a="http://schemas.openxmlformats.org/drawingml/2006/main">
              <a:ext uri="{FF2B5EF4-FFF2-40B4-BE49-F238E27FC236}">
                <a16:creationId xmlns:a16="http://schemas.microsoft.com/office/drawing/2014/main" id="{E8C014D9-CB32-4FF5-8FE0-55CEB4FC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WITHDRAWAL</a:t>
            </a:r>
          </a:p>
        </p:txBody>
      </p:sp>
      <p:sp>
        <p:nvSpPr>
          <p:cNvPr id="12" name="audit2-body">
            <a:extLst xmlns:a="http://schemas.openxmlformats.org/drawingml/2006/main">
              <a:ext uri="{FF2B5EF4-FFF2-40B4-BE49-F238E27FC236}">
                <a16:creationId xmlns:a16="http://schemas.microsoft.com/office/drawing/2014/main" id="{9AF2652F-BD22-416A-A541-944BDB66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original positive-looking seed-42 delta is not retained as a current sensor result.</a:t>
            </a:r>
          </a:p>
        </p:txBody>
      </p:sp>
      <p:sp>
        <p:nvSpPr>
          <p:cNvPr id="13" name="audit3-rule">
            <a:extLst xmlns:a="http://schemas.openxmlformats.org/drawingml/2006/main">
              <a:ext uri="{FF2B5EF4-FFF2-40B4-BE49-F238E27FC236}">
                <a16:creationId xmlns:a16="http://schemas.microsoft.com/office/drawing/2014/main" id="{C12D27CA-33B2-4845-B11D-1F19D419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udit3-label">
            <a:extLst xmlns:a="http://schemas.openxmlformats.org/drawingml/2006/main">
              <a:ext uri="{FF2B5EF4-FFF2-40B4-BE49-F238E27FC236}">
                <a16:creationId xmlns:a16="http://schemas.microsoft.com/office/drawing/2014/main" id="{E2539F3F-4D08-4565-9D89-F72DE859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15" name="audit3-body">
            <a:extLst xmlns:a="http://schemas.openxmlformats.org/drawingml/2006/main">
              <a:ext uri="{FF2B5EF4-FFF2-40B4-BE49-F238E27FC236}">
                <a16:creationId xmlns:a16="http://schemas.microsoft.com/office/drawing/2014/main" id="{E9606FA8-D53C-4538-B62B-F29627E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Registration, donor, range, and RNG defects changed the quantity that the original run measured.</a:t>
            </a:r>
          </a:p>
        </p:txBody>
      </p:sp>
      <p:sp>
        <p:nvSpPr>
          <p:cNvPr id="16" name="audit4">
            <a:extLst xmlns:a="http://schemas.openxmlformats.org/drawingml/2006/main">
              <a:ext uri="{FF2B5EF4-FFF2-40B4-BE49-F238E27FC236}">
                <a16:creationId xmlns:a16="http://schemas.microsoft.com/office/drawing/2014/main" id="{6046228F-5DCB-4DD9-AA56-32F1D22B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E-023 is a redesigned execution alias counted once under E-032, not a second independent result.</a:t>
            </a:r>
          </a:p>
        </p:txBody>
      </p:sp>
      <p:sp>
        <p:nvSpPr>
          <p:cNvPr id="17" name="physical-audit-back">
            <a:extLst xmlns:a="http://schemas.openxmlformats.org/drawingml/2006/main">
              <a:ext uri="{FF2B5EF4-FFF2-40B4-BE49-F238E27FC236}">
                <a16:creationId xmlns:a16="http://schemas.microsoft.com/office/drawing/2014/main" id="{2C710038-91E2-44A3-B9B5-A37637E9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70294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23905b4914129"/>
          <a:stretch xmlns:a="http://schemas.openxmlformats.org/drawingml/2006/main"/>
        </p:blipFill>
        <p:spPr>
          <a:xfrm xmlns:a="http://schemas.openxmlformats.org/drawingml/2006/main">
            <a:off x="5010828" y="1790700"/>
            <a:ext cx="6532794" cy="3676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935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5BEE1F73-7A1E-41FF-B289-5779D045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D / IDENTITY AND EVALUATION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CA0BE0-A42C-4740-90A6-587E0AA6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Identity and evaluation close more shortcuts.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50EF75C-09C5-48CC-8705-DBE156EE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400434-029A-424B-B410-17D88982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EB4699B-BFD6-4DE5-9CD6-71A061BA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6138579-72BD-4D53-ADBB-2B6EAFFF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identity-panel">
            <a:extLst xmlns:a="http://schemas.openxmlformats.org/drawingml/2006/main">
              <a:ext uri="{FF2B5EF4-FFF2-40B4-BE49-F238E27FC236}">
                <a16:creationId xmlns:a16="http://schemas.microsoft.com/office/drawing/2014/main" id="{E601D857-0999-4E93-8021-B5D256F4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810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ntity-accent">
            <a:extLst xmlns:a="http://schemas.openxmlformats.org/drawingml/2006/main">
              <a:ext uri="{FF2B5EF4-FFF2-40B4-BE49-F238E27FC236}">
                <a16:creationId xmlns:a16="http://schemas.microsoft.com/office/drawing/2014/main" id="{B550AE6F-E510-44AB-8446-2E1D18A1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dentity-label">
            <a:extLst xmlns:a="http://schemas.openxmlformats.org/drawingml/2006/main">
              <a:ext uri="{FF2B5EF4-FFF2-40B4-BE49-F238E27FC236}">
                <a16:creationId xmlns:a16="http://schemas.microsoft.com/office/drawing/2014/main" id="{9DB560AE-E947-40C0-8F73-AABEFC8A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E-024</a:t>
            </a:r>
          </a:p>
        </p:txBody>
      </p:sp>
      <p:sp>
        <p:nvSpPr>
          <p:cNvPr id="10" name="identity-value">
            <a:extLst xmlns:a="http://schemas.openxmlformats.org/drawingml/2006/main">
              <a:ext uri="{FF2B5EF4-FFF2-40B4-BE49-F238E27FC236}">
                <a16:creationId xmlns:a16="http://schemas.microsoft.com/office/drawing/2014/main" id="{3B372B55-D6BC-4256-B95E-05FD32AD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Independent identity graph</a:t>
            </a:r>
          </a:p>
        </p:txBody>
      </p:sp>
      <p:sp>
        <p:nvSpPr>
          <p:cNvPr id="11" name="identity-detail">
            <a:extLst xmlns:a="http://schemas.openxmlformats.org/drawingml/2006/main">
              <a:ext uri="{FF2B5EF4-FFF2-40B4-BE49-F238E27FC236}">
                <a16:creationId xmlns:a16="http://schemas.microsoft.com/office/drawing/2014/main" id="{EEBD7D1D-72A0-488A-8CAD-16C63B9E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Use annotation-derived pairs and an explicit visible-pair denominator.</a:t>
            </a:r>
          </a:p>
        </p:txBody>
      </p:sp>
      <p:sp>
        <p:nvSpPr>
          <p:cNvPr id="12" name="evaluator-panel">
            <a:extLst xmlns:a="http://schemas.openxmlformats.org/drawingml/2006/main">
              <a:ext uri="{FF2B5EF4-FFF2-40B4-BE49-F238E27FC236}">
                <a16:creationId xmlns:a16="http://schemas.microsoft.com/office/drawing/2014/main" id="{BC096F4F-09BB-4E17-A09C-26722313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3810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aluator-accent">
            <a:extLst xmlns:a="http://schemas.openxmlformats.org/drawingml/2006/main">
              <a:ext uri="{FF2B5EF4-FFF2-40B4-BE49-F238E27FC236}">
                <a16:creationId xmlns:a16="http://schemas.microsoft.com/office/drawing/2014/main" id="{F1BA41A8-48F2-4CFE-9309-492615C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valuator-label">
            <a:extLst xmlns:a="http://schemas.openxmlformats.org/drawingml/2006/main">
              <a:ext uri="{FF2B5EF4-FFF2-40B4-BE49-F238E27FC236}">
                <a16:creationId xmlns:a16="http://schemas.microsoft.com/office/drawing/2014/main" id="{02D1C96C-A913-406E-A80F-5EEB300E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95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E-025</a:t>
            </a:r>
          </a:p>
        </p:txBody>
      </p:sp>
      <p:sp>
        <p:nvSpPr>
          <p:cNvPr id="15" name="evaluator-value">
            <a:extLst xmlns:a="http://schemas.openxmlformats.org/drawingml/2006/main">
              <a:ext uri="{FF2B5EF4-FFF2-40B4-BE49-F238E27FC236}">
                <a16:creationId xmlns:a16="http://schemas.microsoft.com/office/drawing/2014/main" id="{1841E9FE-62AB-40B9-9D7E-DD2D6A63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431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One comparison contract</a:t>
            </a:r>
          </a:p>
        </p:txBody>
      </p:sp>
      <p:sp>
        <p:nvSpPr>
          <p:cNvPr id="16" name="evaluator-detail">
            <a:extLst xmlns:a="http://schemas.openxmlformats.org/drawingml/2006/main">
              <a:ext uri="{FF2B5EF4-FFF2-40B4-BE49-F238E27FC236}">
                <a16:creationId xmlns:a16="http://schemas.microsoft.com/office/drawing/2014/main" id="{F98AEACD-74A7-4396-AEBE-5250243D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194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Fix evaluator, matching, maximum detections, and paired bootstrap before interpreting deltas.</a:t>
            </a:r>
          </a:p>
        </p:txBody>
      </p:sp>
      <p:sp>
        <p:nvSpPr>
          <p:cNvPr id="17" name="stability-panel">
            <a:extLst xmlns:a="http://schemas.openxmlformats.org/drawingml/2006/main">
              <a:ext uri="{FF2B5EF4-FFF2-40B4-BE49-F238E27FC236}">
                <a16:creationId xmlns:a16="http://schemas.microsoft.com/office/drawing/2014/main" id="{8A77B699-4348-43CB-87DF-C0CE78DE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6210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bility-accent">
            <a:extLst xmlns:a="http://schemas.openxmlformats.org/drawingml/2006/main">
              <a:ext uri="{FF2B5EF4-FFF2-40B4-BE49-F238E27FC236}">
                <a16:creationId xmlns:a16="http://schemas.microsoft.com/office/drawing/2014/main" id="{17970D81-0BA1-4EDE-B94F-13329DF6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6210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bility-label">
            <a:extLst xmlns:a="http://schemas.openxmlformats.org/drawingml/2006/main">
              <a:ext uri="{FF2B5EF4-FFF2-40B4-BE49-F238E27FC236}">
                <a16:creationId xmlns:a16="http://schemas.microsoft.com/office/drawing/2014/main" id="{E767BA60-8F6A-4E97-B870-AC45E647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E-026</a:t>
            </a:r>
          </a:p>
        </p:txBody>
      </p:sp>
      <p:sp>
        <p:nvSpPr>
          <p:cNvPr id="20" name="stability-value">
            <a:extLst xmlns:a="http://schemas.openxmlformats.org/drawingml/2006/main">
              <a:ext uri="{FF2B5EF4-FFF2-40B4-BE49-F238E27FC236}">
                <a16:creationId xmlns:a16="http://schemas.microsoft.com/office/drawing/2014/main" id="{952603B7-1FE4-4C4E-931D-166EE68D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Identity stabilization is inconclusive</a:t>
            </a:r>
          </a:p>
        </p:txBody>
      </p:sp>
      <p:sp>
        <p:nvSpPr>
          <p:cNvPr id="21" name="stability-detail">
            <a:extLst xmlns:a="http://schemas.openxmlformats.org/drawingml/2006/main">
              <a:ext uri="{FF2B5EF4-FFF2-40B4-BE49-F238E27FC236}">
                <a16:creationId xmlns:a16="http://schemas.microsoft.com/office/drawing/2014/main" id="{A0F81192-4305-4269-95A2-E7AFF473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Denominators differ; the interval includes zero.</a:t>
            </a:r>
          </a:p>
        </p:txBody>
      </p:sp>
      <p:sp>
        <p:nvSpPr>
          <p:cNvPr id="22" name="identity-note">
            <a:extLst xmlns:a="http://schemas.openxmlformats.org/drawingml/2006/main">
              <a:ext uri="{FF2B5EF4-FFF2-40B4-BE49-F238E27FC236}">
                <a16:creationId xmlns:a16="http://schemas.microsoft.com/office/drawing/2014/main" id="{980F3E2C-4F25-4A58-A476-B1D17D93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More identity pairs add power context, not detection benefit or inventory validation.</a:t>
            </a:r>
          </a:p>
        </p:txBody>
      </p:sp>
    </p:spTree>
    <p:extLst>
      <p:ext uri="{BB962C8B-B14F-4D97-AF65-F5344CB8AC3E}">
        <p14:creationId xmlns:p14="http://schemas.microsoft.com/office/powerpoint/2010/main" val="15320206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F2E68B7B-7A8D-4386-B539-7EB2D201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E / E-027 REPLICATION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3FEA0D-13C7-4EFB-88F7-157FF2C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Three seeds overturn the early-fusion rescue story.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A805B4-B0F3-4C33-9403-67D08AD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7F4C093-E495-4EF4-89BD-89496195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213110D-A130-48CE-81B3-9D9F0313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9B99F3B-C128-4285-AB44-B83CD03E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e027-chart-back">
            <a:extLst xmlns:a="http://schemas.openxmlformats.org/drawingml/2006/main">
              <a:ext uri="{FF2B5EF4-FFF2-40B4-BE49-F238E27FC236}">
                <a16:creationId xmlns:a16="http://schemas.microsoft.com/office/drawing/2014/main" id="{74350624-78BB-4799-B4A9-5F0F5D1E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68199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7d0ca0a4f4aa1"/>
          <a:stretch xmlns:a="http://schemas.openxmlformats.org/drawingml/2006/main"/>
        </p:blipFill>
        <p:spPr>
          <a:xfrm xmlns:a="http://schemas.openxmlformats.org/drawingml/2006/main">
            <a:off x="400050" y="1665484"/>
            <a:ext cx="6819900" cy="3908033"/>
          </a:xfrm>
          <a:prstGeom xmlns:a="http://schemas.openxmlformats.org/drawingml/2006/main" prst="rect">
            <a:avLst/>
          </a:prstGeom>
        </p:spPr>
      </p:pic>
      <p:sp>
        <p:nvSpPr>
          <p:cNvPr id="9" name="seed42-panel">
            <a:extLst xmlns:a="http://schemas.openxmlformats.org/drawingml/2006/main">
              <a:ext uri="{FF2B5EF4-FFF2-40B4-BE49-F238E27FC236}">
                <a16:creationId xmlns:a16="http://schemas.microsoft.com/office/drawing/2014/main" id="{6442DFC4-6069-42DD-B497-31041742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85900"/>
            <a:ext cx="407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ed42-accent">
            <a:extLst xmlns:a="http://schemas.openxmlformats.org/drawingml/2006/main">
              <a:ext uri="{FF2B5EF4-FFF2-40B4-BE49-F238E27FC236}">
                <a16:creationId xmlns:a16="http://schemas.microsoft.com/office/drawing/2014/main" id="{E51D4747-EA00-49AC-BE53-456172C6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859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ed42-label">
            <a:extLst xmlns:a="http://schemas.openxmlformats.org/drawingml/2006/main">
              <a:ext uri="{FF2B5EF4-FFF2-40B4-BE49-F238E27FC236}">
                <a16:creationId xmlns:a16="http://schemas.microsoft.com/office/drawing/2014/main" id="{88E7218F-92B5-4301-BF94-7F104198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192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SEED 42</a:t>
            </a:r>
          </a:p>
        </p:txBody>
      </p:sp>
      <p:sp>
        <p:nvSpPr>
          <p:cNvPr id="12" name="seed42-value">
            <a:extLst xmlns:a="http://schemas.openxmlformats.org/drawingml/2006/main">
              <a:ext uri="{FF2B5EF4-FFF2-40B4-BE49-F238E27FC236}">
                <a16:creationId xmlns:a16="http://schemas.microsoft.com/office/drawing/2014/main" id="{EA3263D4-46C9-4212-A3A9-59B486EB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669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+0.0104</a:t>
            </a:r>
          </a:p>
        </p:txBody>
      </p:sp>
      <p:sp>
        <p:nvSpPr>
          <p:cNvPr id="13" name="seed42-detail">
            <a:extLst xmlns:a="http://schemas.openxmlformats.org/drawingml/2006/main">
              <a:ext uri="{FF2B5EF4-FFF2-40B4-BE49-F238E27FC236}">
                <a16:creationId xmlns:a16="http://schemas.microsoft.com/office/drawing/2014/main" id="{0EEFC49D-26E1-4688-B908-22B644E6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Depth minus RGB mAP50</a:t>
            </a:r>
          </a:p>
        </p:txBody>
      </p:sp>
      <p:sp>
        <p:nvSpPr>
          <p:cNvPr id="14" name="otherseeds-panel">
            <a:extLst xmlns:a="http://schemas.openxmlformats.org/drawingml/2006/main">
              <a:ext uri="{FF2B5EF4-FFF2-40B4-BE49-F238E27FC236}">
                <a16:creationId xmlns:a16="http://schemas.microsoft.com/office/drawing/2014/main" id="{D4D912F4-4182-4949-B42D-C2C8D539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407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therseeds-accent">
            <a:extLst xmlns:a="http://schemas.openxmlformats.org/drawingml/2006/main">
              <a:ext uri="{FF2B5EF4-FFF2-40B4-BE49-F238E27FC236}">
                <a16:creationId xmlns:a16="http://schemas.microsoft.com/office/drawing/2014/main" id="{B46A9CCD-B20B-43D7-A458-5164ED63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therseeds-label">
            <a:extLst xmlns:a="http://schemas.openxmlformats.org/drawingml/2006/main">
              <a:ext uri="{FF2B5EF4-FFF2-40B4-BE49-F238E27FC236}">
                <a16:creationId xmlns:a16="http://schemas.microsoft.com/office/drawing/2014/main" id="{FE920100-F208-4827-BFDE-12BEFF8F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99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SEEDS 1337 AND 2024</a:t>
            </a:r>
          </a:p>
        </p:txBody>
      </p:sp>
      <p:sp>
        <p:nvSpPr>
          <p:cNvPr id="17" name="otherseeds-value">
            <a:extLst xmlns:a="http://schemas.openxmlformats.org/drawingml/2006/main">
              <a:ext uri="{FF2B5EF4-FFF2-40B4-BE49-F238E27FC236}">
                <a16:creationId xmlns:a16="http://schemas.microsoft.com/office/drawing/2014/main" id="{23CEFC4D-4601-4464-BC34-05438CB8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-0.0414 / -0.0379</a:t>
            </a:r>
          </a:p>
        </p:txBody>
      </p:sp>
      <p:sp>
        <p:nvSpPr>
          <p:cNvPr id="18" name="otherseeds-detail">
            <a:extLst xmlns:a="http://schemas.openxmlformats.org/drawingml/2006/main">
              <a:ext uri="{FF2B5EF4-FFF2-40B4-BE49-F238E27FC236}">
                <a16:creationId xmlns:a16="http://schemas.microsoft.com/office/drawing/2014/main" id="{778F1169-2D82-48A4-BC4C-6BB80684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719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Harmful direction in two tested seeds</a:t>
            </a:r>
          </a:p>
        </p:txBody>
      </p:sp>
      <p:sp>
        <p:nvSpPr>
          <p:cNvPr id="19" name="mean-panel">
            <a:extLst xmlns:a="http://schemas.openxmlformats.org/drawingml/2006/main">
              <a:ext uri="{FF2B5EF4-FFF2-40B4-BE49-F238E27FC236}">
                <a16:creationId xmlns:a16="http://schemas.microsoft.com/office/drawing/2014/main" id="{1EB3E882-BBDF-4A5F-A773-38C986E7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407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an-accent">
            <a:extLst xmlns:a="http://schemas.openxmlformats.org/drawingml/2006/main">
              <a:ext uri="{FF2B5EF4-FFF2-40B4-BE49-F238E27FC236}">
                <a16:creationId xmlns:a16="http://schemas.microsoft.com/office/drawing/2014/main" id="{C0B70D9E-C8FC-4DF1-8EE0-F7D5A290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ean-label">
            <a:extLst xmlns:a="http://schemas.openxmlformats.org/drawingml/2006/main">
              <a:ext uri="{FF2B5EF4-FFF2-40B4-BE49-F238E27FC236}">
                <a16:creationId xmlns:a16="http://schemas.microsoft.com/office/drawing/2014/main" id="{6B9D788A-AE4D-4886-A510-7FAD096B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005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MEAN DEPTH MINUS RGB</a:t>
            </a:r>
          </a:p>
        </p:txBody>
      </p:sp>
      <p:sp>
        <p:nvSpPr>
          <p:cNvPr id="22" name="mean-value">
            <a:extLst xmlns:a="http://schemas.openxmlformats.org/drawingml/2006/main">
              <a:ext uri="{FF2B5EF4-FFF2-40B4-BE49-F238E27FC236}">
                <a16:creationId xmlns:a16="http://schemas.microsoft.com/office/drawing/2014/main" id="{84D1339F-FEFA-43E6-9659-205D7CB4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-0.0230</a:t>
            </a:r>
          </a:p>
        </p:txBody>
      </p:sp>
      <p:sp>
        <p:nvSpPr>
          <p:cNvPr id="23" name="mean-detail">
            <a:extLst xmlns:a="http://schemas.openxmlformats.org/drawingml/2006/main">
              <a:ext uri="{FF2B5EF4-FFF2-40B4-BE49-F238E27FC236}">
                <a16:creationId xmlns:a16="http://schemas.microsoft.com/office/drawing/2014/main" id="{19BF5252-6479-4C28-BB68-DB4402B1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625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Benefit criterion falsified</a:t>
            </a:r>
          </a:p>
        </p:txBody>
      </p:sp>
      <p:sp>
        <p:nvSpPr>
          <p:cNvPr id="24" name="e027-boundary">
            <a:extLst xmlns:a="http://schemas.openxmlformats.org/drawingml/2006/main">
              <a:ext uri="{FF2B5EF4-FFF2-40B4-BE49-F238E27FC236}">
                <a16:creationId xmlns:a16="http://schemas.microsoft.com/office/drawing/2014/main" id="{459D196D-8C44-493D-A9E8-0004A48C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RGB, registered depth, random noise, and swapped-tree controls are paired within the audited protocol. This is not a universal harm claim.</a:t>
            </a:r>
          </a:p>
        </p:txBody>
      </p:sp>
    </p:spTree>
    <p:extLst>
      <p:ext uri="{BB962C8B-B14F-4D97-AF65-F5344CB8AC3E}">
        <p14:creationId xmlns:p14="http://schemas.microsoft.com/office/powerpoint/2010/main" val="3462857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CED6A59-3C6D-472B-8407-2001A1CF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E / E-028 IDENTITY POWER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0DCBD8-8B0C-4EB8-9FC5-3BF9D0C7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E-028 builds identity power, not depth evidence.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BA2D92-A1F6-4148-9127-52BB9E56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B231D1C-9CE4-4F20-9B53-71981470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C25CA77-4565-4CA2-93E6-3AFE3CCF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F4F1653-5632-4F9C-A38D-4619E0B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e001-panel">
            <a:extLst xmlns:a="http://schemas.openxmlformats.org/drawingml/2006/main">
              <a:ext uri="{FF2B5EF4-FFF2-40B4-BE49-F238E27FC236}">
                <a16:creationId xmlns:a16="http://schemas.microsoft.com/office/drawing/2014/main" id="{4D1F1D55-524E-4307-A27D-6BB6299D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52197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001-accent">
            <a:extLst xmlns:a="http://schemas.openxmlformats.org/drawingml/2006/main">
              <a:ext uri="{FF2B5EF4-FFF2-40B4-BE49-F238E27FC236}">
                <a16:creationId xmlns:a16="http://schemas.microsoft.com/office/drawing/2014/main" id="{5E135956-291A-400B-8118-5D4F1E25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001-label">
            <a:extLst xmlns:a="http://schemas.openxmlformats.org/drawingml/2006/main">
              <a:ext uri="{FF2B5EF4-FFF2-40B4-BE49-F238E27FC236}">
                <a16:creationId xmlns:a16="http://schemas.microsoft.com/office/drawing/2014/main" id="{3AA250D7-4B4F-4715-A78E-0EA2B4C8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483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E-028</a:t>
            </a:r>
          </a:p>
        </p:txBody>
      </p:sp>
      <p:sp>
        <p:nvSpPr>
          <p:cNvPr id="10" name="e001-value">
            <a:extLst xmlns:a="http://schemas.openxmlformats.org/drawingml/2006/main">
              <a:ext uri="{FF2B5EF4-FFF2-40B4-BE49-F238E27FC236}">
                <a16:creationId xmlns:a16="http://schemas.microsoft.com/office/drawing/2014/main" id="{569EA0DA-6044-4DF5-82D1-C2A3BAE4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1,404 physical bunches</a:t>
            </a:r>
          </a:p>
        </p:txBody>
      </p:sp>
      <p:sp>
        <p:nvSpPr>
          <p:cNvPr id="11" name="e001-detail">
            <a:extLst xmlns:a="http://schemas.openxmlformats.org/drawingml/2006/main">
              <a:ext uri="{FF2B5EF4-FFF2-40B4-BE49-F238E27FC236}">
                <a16:creationId xmlns:a16="http://schemas.microsoft.com/office/drawing/2014/main" id="{A2781046-F65E-4D82-B8D9-270E6ECB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483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511 measured across sides, up from 82 in SawitMVC-Depth.</a:t>
            </a:r>
          </a:p>
        </p:txBody>
      </p:sp>
      <p:sp>
        <p:nvSpPr>
          <p:cNvPr id="12" name="e002-panel">
            <a:extLst xmlns:a="http://schemas.openxmlformats.org/drawingml/2006/main">
              <a:ext uri="{FF2B5EF4-FFF2-40B4-BE49-F238E27FC236}">
                <a16:creationId xmlns:a16="http://schemas.microsoft.com/office/drawing/2014/main" id="{1629511F-7407-4E32-9766-1CD06996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2197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002-accent">
            <a:extLst xmlns:a="http://schemas.openxmlformats.org/drawingml/2006/main">
              <a:ext uri="{FF2B5EF4-FFF2-40B4-BE49-F238E27FC236}">
                <a16:creationId xmlns:a16="http://schemas.microsoft.com/office/drawing/2014/main" id="{F3C0DA2C-2054-4821-89A4-DA7AB579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002-label">
            <a:extLst xmlns:a="http://schemas.openxmlformats.org/drawingml/2006/main">
              <a:ext uri="{FF2B5EF4-FFF2-40B4-BE49-F238E27FC236}">
                <a16:creationId xmlns:a16="http://schemas.microsoft.com/office/drawing/2014/main" id="{6AD3A48E-0FE3-4789-8E28-0856F1E4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3550"/>
            <a:ext cx="483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POWER GAIN</a:t>
            </a:r>
          </a:p>
        </p:txBody>
      </p:sp>
      <p:sp>
        <p:nvSpPr>
          <p:cNvPr id="15" name="e002-value">
            <a:extLst xmlns:a="http://schemas.openxmlformats.org/drawingml/2006/main">
              <a:ext uri="{FF2B5EF4-FFF2-40B4-BE49-F238E27FC236}">
                <a16:creationId xmlns:a16="http://schemas.microsoft.com/office/drawing/2014/main" id="{D659B855-CD31-41CC-AAF5-1F03E2E1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6.2x more measured bunches</a:t>
            </a:r>
          </a:p>
        </p:txBody>
      </p:sp>
      <p:sp>
        <p:nvSpPr>
          <p:cNvPr id="16" name="e002-detail">
            <a:extLst xmlns:a="http://schemas.openxmlformats.org/drawingml/2006/main">
              <a:ext uri="{FF2B5EF4-FFF2-40B4-BE49-F238E27FC236}">
                <a16:creationId xmlns:a16="http://schemas.microsoft.com/office/drawing/2014/main" id="{8C524471-BB0B-4665-BF40-00DC2DE3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483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rate difference is indistinguishable; the gain is measurement power.</a:t>
            </a:r>
          </a:p>
        </p:txBody>
      </p:sp>
      <p:sp>
        <p:nvSpPr>
          <p:cNvPr id="17" name="phase-a-note">
            <a:extLst xmlns:a="http://schemas.openxmlformats.org/drawingml/2006/main">
              <a:ext uri="{FF2B5EF4-FFF2-40B4-BE49-F238E27FC236}">
                <a16:creationId xmlns:a16="http://schemas.microsoft.com/office/drawing/2014/main" id="{6EDF1EB0-7317-4372-96A1-3DD8A466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991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hase-a-note-text">
            <a:extLst xmlns:a="http://schemas.openxmlformats.org/drawingml/2006/main">
              <a:ext uri="{FF2B5EF4-FFF2-40B4-BE49-F238E27FC236}">
                <a16:creationId xmlns:a16="http://schemas.microsoft.com/office/drawing/2014/main" id="{D6972E49-FA8D-4974-9335-B50E8413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42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No physical depth. Detector record conflicts: PDF names RF-DETR-L; reports.tex specifies YOLO26n. Reconcile before model-specific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8948476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C19466E-DAA3-4D8A-8962-4A2774BC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E / CAPACITY AND SPLIT CONTROLS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A94F52-6E70-4765-8657-38E46731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No capacity or split rescue has been established.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FC2856B-4509-406A-96E3-E686AFDC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132531C-7C1D-4C98-BA67-159F7FDC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F752F7C-7A38-4B3C-B9B7-981FBD80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25C7E02-7E2E-434E-BF87-582DE0AC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capacity1-rule">
            <a:extLst xmlns:a="http://schemas.openxmlformats.org/drawingml/2006/main">
              <a:ext uri="{FF2B5EF4-FFF2-40B4-BE49-F238E27FC236}">
                <a16:creationId xmlns:a16="http://schemas.microsoft.com/office/drawing/2014/main" id="{76CE59F9-78A7-4CEE-B9D8-3773DB72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pacity1-label">
            <a:extLst xmlns:a="http://schemas.openxmlformats.org/drawingml/2006/main">
              <a:ext uri="{FF2B5EF4-FFF2-40B4-BE49-F238E27FC236}">
                <a16:creationId xmlns:a16="http://schemas.microsoft.com/office/drawing/2014/main" id="{0E1015E9-E1C9-43A3-9D01-8409C9AB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E-029</a:t>
            </a:r>
          </a:p>
        </p:txBody>
      </p:sp>
      <p:sp>
        <p:nvSpPr>
          <p:cNvPr id="9" name="capacity1-body">
            <a:extLst xmlns:a="http://schemas.openxmlformats.org/drawingml/2006/main">
              <a:ext uri="{FF2B5EF4-FFF2-40B4-BE49-F238E27FC236}">
                <a16:creationId xmlns:a16="http://schemas.microsoft.com/office/drawing/2014/main" id="{4FCFF709-12D5-4076-9DBC-8EC35C86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Three seeds retract the high-capacity rescue.</a:t>
            </a:r>
          </a:p>
        </p:txBody>
      </p:sp>
      <p:sp>
        <p:nvSpPr>
          <p:cNvPr id="10" name="capacity2-rule">
            <a:extLst xmlns:a="http://schemas.openxmlformats.org/drawingml/2006/main">
              <a:ext uri="{FF2B5EF4-FFF2-40B4-BE49-F238E27FC236}">
                <a16:creationId xmlns:a16="http://schemas.microsoft.com/office/drawing/2014/main" id="{E698C3A6-7976-4C22-B976-C31E9FB7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acity2-label">
            <a:extLst xmlns:a="http://schemas.openxmlformats.org/drawingml/2006/main">
              <a:ext uri="{FF2B5EF4-FFF2-40B4-BE49-F238E27FC236}">
                <a16:creationId xmlns:a16="http://schemas.microsoft.com/office/drawing/2014/main" id="{B2E1796A-BF82-442B-B836-D4F5714E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E-030</a:t>
            </a:r>
          </a:p>
        </p:txBody>
      </p:sp>
      <p:sp>
        <p:nvSpPr>
          <p:cNvPr id="12" name="capacity2-body">
            <a:extLst xmlns:a="http://schemas.openxmlformats.org/drawingml/2006/main">
              <a:ext uri="{FF2B5EF4-FFF2-40B4-BE49-F238E27FC236}">
                <a16:creationId xmlns:a16="http://schemas.microsoft.com/office/drawing/2014/main" id="{E8C0D107-2ADE-47A8-B77D-1C55B344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One-seed sign change is only a hypothesis.</a:t>
            </a:r>
          </a:p>
        </p:txBody>
      </p:sp>
      <p:sp>
        <p:nvSpPr>
          <p:cNvPr id="13" name="capacity3-rule">
            <a:extLst xmlns:a="http://schemas.openxmlformats.org/drawingml/2006/main">
              <a:ext uri="{FF2B5EF4-FFF2-40B4-BE49-F238E27FC236}">
                <a16:creationId xmlns:a16="http://schemas.microsoft.com/office/drawing/2014/main" id="{F4249FA8-B74E-4128-A58D-98A5C520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pacity3-label">
            <a:extLst xmlns:a="http://schemas.openxmlformats.org/drawingml/2006/main">
              <a:ext uri="{FF2B5EF4-FFF2-40B4-BE49-F238E27FC236}">
                <a16:creationId xmlns:a16="http://schemas.microsoft.com/office/drawing/2014/main" id="{0F7CB018-D106-47B3-A427-9DFB64BE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E-031</a:t>
            </a:r>
          </a:p>
        </p:txBody>
      </p:sp>
      <p:sp>
        <p:nvSpPr>
          <p:cNvPr id="15" name="capacity3-body">
            <a:extLst xmlns:a="http://schemas.openxmlformats.org/drawingml/2006/main">
              <a:ext uri="{FF2B5EF4-FFF2-40B4-BE49-F238E27FC236}">
                <a16:creationId xmlns:a16="http://schemas.microsoft.com/office/drawing/2014/main" id="{1BF88016-1BAC-4A87-9BB4-D621424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Split movement can exceed selected seed movement.</a:t>
            </a:r>
          </a:p>
        </p:txBody>
      </p:sp>
      <p:sp>
        <p:nvSpPr>
          <p:cNvPr id="16" name="capacity-note">
            <a:extLst xmlns:a="http://schemas.openxmlformats.org/drawingml/2006/main">
              <a:ext uri="{FF2B5EF4-FFF2-40B4-BE49-F238E27FC236}">
                <a16:creationId xmlns:a16="http://schemas.microsoft.com/office/drawing/2014/main" id="{9CF220B4-FEFB-4B3A-B7FA-31AD0E15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G7b remains open; more parameters do not prove useful geometry.</a:t>
            </a:r>
          </a:p>
        </p:txBody>
      </p:sp>
      <p:sp>
        <p:nvSpPr>
          <p:cNvPr id="17" name="split-image-back">
            <a:extLst xmlns:a="http://schemas.openxmlformats.org/drawingml/2006/main">
              <a:ext uri="{FF2B5EF4-FFF2-40B4-BE49-F238E27FC236}">
                <a16:creationId xmlns:a16="http://schemas.microsoft.com/office/drawing/2014/main" id="{DF90C6F4-0CC2-478F-9E09-F3740618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70294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17c939f5145b8"/>
          <a:stretch xmlns:a="http://schemas.openxmlformats.org/drawingml/2006/main"/>
        </p:blipFill>
        <p:spPr>
          <a:xfrm xmlns:a="http://schemas.openxmlformats.org/drawingml/2006/main">
            <a:off x="5519738" y="1790700"/>
            <a:ext cx="5514975" cy="3676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301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34973638-6E44-4D5A-BAAB-D123FCF2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PHASE E / E-032 FUSION PLACEMENT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9178F6-77B0-445C-858C-3F0C368A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Fusion placement remains inconclusive in the final matrix.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200CB3-0944-4344-81B5-286721BD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7366D7B-F118-4707-999E-A4581FA4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FB696A0-B3BC-441C-8695-A09FB499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E9A5530-B90A-47A2-B441-A1F18A59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e032-chart-back">
            <a:extLst xmlns:a="http://schemas.openxmlformats.org/drawingml/2006/main">
              <a:ext uri="{FF2B5EF4-FFF2-40B4-BE49-F238E27FC236}">
                <a16:creationId xmlns:a16="http://schemas.microsoft.com/office/drawing/2014/main" id="{2152A0BB-96AC-4530-9232-27A62B7A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68199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49f1ef1f04b9c"/>
          <a:stretch xmlns:a="http://schemas.openxmlformats.org/drawingml/2006/main"/>
        </p:blipFill>
        <p:spPr>
          <a:xfrm xmlns:a="http://schemas.openxmlformats.org/drawingml/2006/main">
            <a:off x="-857250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runs-panel">
            <a:extLst xmlns:a="http://schemas.openxmlformats.org/drawingml/2006/main">
              <a:ext uri="{FF2B5EF4-FFF2-40B4-BE49-F238E27FC236}">
                <a16:creationId xmlns:a16="http://schemas.microsoft.com/office/drawing/2014/main" id="{0527A9AB-4DEA-4BF1-B0DC-FC699304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85900"/>
            <a:ext cx="407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ns-accent">
            <a:extLst xmlns:a="http://schemas.openxmlformats.org/drawingml/2006/main">
              <a:ext uri="{FF2B5EF4-FFF2-40B4-BE49-F238E27FC236}">
                <a16:creationId xmlns:a16="http://schemas.microsoft.com/office/drawing/2014/main" id="{EFF4FFD8-BCD0-4BA6-B6B5-3CE1B8D0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859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ns-label">
            <a:extLst xmlns:a="http://schemas.openxmlformats.org/drawingml/2006/main">
              <a:ext uri="{FF2B5EF4-FFF2-40B4-BE49-F238E27FC236}">
                <a16:creationId xmlns:a16="http://schemas.microsoft.com/office/drawing/2014/main" id="{87682AF3-BDD3-406B-B7B9-B07B2378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192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2" name="runs-value">
            <a:extLst xmlns:a="http://schemas.openxmlformats.org/drawingml/2006/main">
              <a:ext uri="{FF2B5EF4-FFF2-40B4-BE49-F238E27FC236}">
                <a16:creationId xmlns:a16="http://schemas.microsoft.com/office/drawing/2014/main" id="{967ACB40-A616-4EB9-9818-17D0645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669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15 runs</a:t>
            </a:r>
          </a:p>
        </p:txBody>
      </p:sp>
      <p:sp>
        <p:nvSpPr>
          <p:cNvPr id="13" name="runs-detail">
            <a:extLst xmlns:a="http://schemas.openxmlformats.org/drawingml/2006/main">
              <a:ext uri="{FF2B5EF4-FFF2-40B4-BE49-F238E27FC236}">
                <a16:creationId xmlns:a16="http://schemas.microsoft.com/office/drawing/2014/main" id="{D6CA3E08-5D44-4ACC-8DCA-B9FFA726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Five placements across three seeds.</a:t>
            </a:r>
          </a:p>
        </p:txBody>
      </p:sp>
      <p:sp>
        <p:nvSpPr>
          <p:cNvPr id="14" name="middle-panel">
            <a:extLst xmlns:a="http://schemas.openxmlformats.org/drawingml/2006/main">
              <a:ext uri="{FF2B5EF4-FFF2-40B4-BE49-F238E27FC236}">
                <a16:creationId xmlns:a16="http://schemas.microsoft.com/office/drawing/2014/main" id="{80D6AEC0-1B9C-42D5-BAE1-EB4FD559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407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iddle-accent">
            <a:extLst xmlns:a="http://schemas.openxmlformats.org/drawingml/2006/main">
              <a:ext uri="{FF2B5EF4-FFF2-40B4-BE49-F238E27FC236}">
                <a16:creationId xmlns:a16="http://schemas.microsoft.com/office/drawing/2014/main" id="{BBF1E8B3-FA63-470C-83DC-40C724AF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iddle-label">
            <a:extLst xmlns:a="http://schemas.openxmlformats.org/drawingml/2006/main">
              <a:ext uri="{FF2B5EF4-FFF2-40B4-BE49-F238E27FC236}">
                <a16:creationId xmlns:a16="http://schemas.microsoft.com/office/drawing/2014/main" id="{C9B0EBE5-9E30-48A5-B65F-EC1F07A7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99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LARGEST OBSERVED MEAN</a:t>
            </a:r>
          </a:p>
        </p:txBody>
      </p:sp>
      <p:sp>
        <p:nvSpPr>
          <p:cNvPr id="17" name="middle-value">
            <a:extLst xmlns:a="http://schemas.openxmlformats.org/drawingml/2006/main">
              <a:ext uri="{FF2B5EF4-FFF2-40B4-BE49-F238E27FC236}">
                <a16:creationId xmlns:a16="http://schemas.microsoft.com/office/drawing/2014/main" id="{773660F3-4A98-4BAA-BF44-F03ED516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+0.0139</a:t>
            </a:r>
          </a:p>
        </p:txBody>
      </p:sp>
      <p:sp>
        <p:nvSpPr>
          <p:cNvPr id="18" name="middle-detail">
            <a:extLst xmlns:a="http://schemas.openxmlformats.org/drawingml/2006/main">
              <a:ext uri="{FF2B5EF4-FFF2-40B4-BE49-F238E27FC236}">
                <a16:creationId xmlns:a16="http://schemas.microsoft.com/office/drawing/2014/main" id="{59C7B6E9-C4B7-4A39-AEC8-A415B02B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719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Largest mean, indication only.</a:t>
            </a:r>
          </a:p>
        </p:txBody>
      </p:sp>
      <p:sp>
        <p:nvSpPr>
          <p:cNvPr id="19" name="intervals-panel">
            <a:extLst xmlns:a="http://schemas.openxmlformats.org/drawingml/2006/main">
              <a:ext uri="{FF2B5EF4-FFF2-40B4-BE49-F238E27FC236}">
                <a16:creationId xmlns:a16="http://schemas.microsoft.com/office/drawing/2014/main" id="{055D3578-5C86-4CA2-B8F3-12B46C03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407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ntervals-accent">
            <a:extLst xmlns:a="http://schemas.openxmlformats.org/drawingml/2006/main">
              <a:ext uri="{FF2B5EF4-FFF2-40B4-BE49-F238E27FC236}">
                <a16:creationId xmlns:a16="http://schemas.microsoft.com/office/drawing/2014/main" id="{B14B4FB1-5A6E-41CA-A444-0C2485C0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ntervals-label">
            <a:extLst xmlns:a="http://schemas.openxmlformats.org/drawingml/2006/main">
              <a:ext uri="{FF2B5EF4-FFF2-40B4-BE49-F238E27FC236}">
                <a16:creationId xmlns:a16="http://schemas.microsoft.com/office/drawing/2014/main" id="{8846D676-CC4F-45EE-A229-F6DB7FB2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005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PAIRED INTERVALS</a:t>
            </a:r>
          </a:p>
        </p:txBody>
      </p:sp>
      <p:sp>
        <p:nvSpPr>
          <p:cNvPr id="22" name="intervals-value">
            <a:extLst xmlns:a="http://schemas.openxmlformats.org/drawingml/2006/main">
              <a:ext uri="{FF2B5EF4-FFF2-40B4-BE49-F238E27FC236}">
                <a16:creationId xmlns:a16="http://schemas.microsoft.com/office/drawing/2014/main" id="{3BEE5E22-0187-41A1-9B8C-C6FA1A46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12 / 12 include zero</a:t>
            </a:r>
          </a:p>
        </p:txBody>
      </p:sp>
      <p:sp>
        <p:nvSpPr>
          <p:cNvPr id="23" name="intervals-detail">
            <a:extLst xmlns:a="http://schemas.openxmlformats.org/drawingml/2006/main">
              <a:ext uri="{FF2B5EF4-FFF2-40B4-BE49-F238E27FC236}">
                <a16:creationId xmlns:a16="http://schemas.microsoft.com/office/drawing/2014/main" id="{A92AB430-7EB7-4095-89B6-FDC726D8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625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Equivalence was not tested.</a:t>
            </a:r>
          </a:p>
        </p:txBody>
      </p:sp>
      <p:sp>
        <p:nvSpPr>
          <p:cNvPr id="24" name="e032-boundary">
            <a:extLst xmlns:a="http://schemas.openxmlformats.org/drawingml/2006/main">
              <a:ext uri="{FF2B5EF4-FFF2-40B4-BE49-F238E27FC236}">
                <a16:creationId xmlns:a16="http://schemas.microsoft.com/office/drawing/2014/main" id="{68817F1C-5396-462F-9C33-FF45290D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YOLO26n, one split, 640 px, 150 epochs, from-scratch topologies, and the fixed E-025 evaluator define the tested regime.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6935EF-B4E6-4B53-8464-97A78F76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68199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35E344-3D2C-4AE3-8DC0-BEDB62D8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Paired mAP50 delta vs same-seed RGB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A88E9-897D-4C8C-A05A-68157EDE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2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All twelve paired confidence intervals include zero.</a:t>
            </a:r>
          </a:p>
        </p:txBody>
      </p:sp>
      <p:graphicFrame>
        <p:nvGraphicFramePr>
          <p:cNvPr id="59" name=""/>
          <p:cNvGraphicFramePr/>
          <p:nvPr/>
        </p:nvGraphicFramePr>
        <p:xfrm>
          <a:off xmlns:a="http://schemas.openxmlformats.org/drawingml/2006/main" x="628650" y="2247900"/>
          <a:ext xmlns:a="http://schemas.openxmlformats.org/drawingml/2006/main" cx="6324600" cy="2724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876300"/>
                <a:gridCol w="3238500"/>
                <a:gridCol w="971550"/>
                <a:gridCol w="1238250"/>
              </a:tblGrid>
              <a:tr h="54483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Arm</a:t>
                      </a:r>
                    </a:p>
                  </a:txBody>
                  <a:tcPr marL="91440" marR="91440" marT="45720" marB="4572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Seeds 42 / 1337 / 2024</a:t>
                      </a:r>
                    </a:p>
                  </a:txBody>
                  <a:tcPr marL="91440" marR="91440" marT="45720" marB="4572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156082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Early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-0.0120 / +0.0234 / -0.0017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+0.0032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Includes 0</a:t>
                      </a:r>
                    </a:p>
                  </a:txBody>
                  <a:tcPr marL="91440" marR="91440" marT="45720" marB="45720"/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Middle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+0.0096 / +0.0212 / +0.0110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+0.0139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Includes 0</a:t>
                      </a:r>
                    </a:p>
                  </a:txBody>
                  <a:tcPr marL="91440" marR="91440" marT="45720" marB="45720"/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Late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-0.0056 / +0.0070 / +0.0102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+0.0039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Includes 0</a:t>
                      </a:r>
                    </a:p>
                  </a:txBody>
                  <a:tcPr marL="91440" marR="91440" marT="45720" marB="45720"/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Noise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-0.0130 / +0.0025 / -0.0081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-0.0062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</a:rPr>
                        <a:t>Includes 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0019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3F153267-BDAF-4D05-B669-31596592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SYNTHESIS / CLAIM LEDGER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27CD77-4E33-43BE-9801-8E644CD3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full record supports a conditional conclusion.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B5A3AEC-425A-4908-ACFA-343A60E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772D102-8A8B-4EC1-B2A4-40BB288E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E5D3F6D-CC0D-4C05-98BA-1F0EFC03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 / E-001-E-032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A0E42AA-B738-4929-A519-3F382775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57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56DF8483-4904-49C9-99E7-DA972AAA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8" name="supported">
            <a:extLst xmlns:a="http://schemas.openxmlformats.org/drawingml/2006/main">
              <a:ext uri="{FF2B5EF4-FFF2-40B4-BE49-F238E27FC236}">
                <a16:creationId xmlns:a16="http://schemas.microsoft.com/office/drawing/2014/main" id="{DAB812E8-0C74-404C-A5C0-9AA6BC57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1719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- RF-DETR-L is the best observed RGB control.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- B4 is low-contrast and texture-rich; B2-B3 confusion is ordinal.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- Pseudo-depth does not separate bunches in E-006.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- Physical depth has no reliable replicated detection benefit in the tested regime.</a:t>
            </a:r>
          </a:p>
        </p:txBody>
      </p:sp>
      <p:sp>
        <p:nvSpPr>
          <p:cNvPr id="9" name="open-label">
            <a:extLst xmlns:a="http://schemas.openxmlformats.org/drawingml/2006/main">
              <a:ext uri="{FF2B5EF4-FFF2-40B4-BE49-F238E27FC236}">
                <a16:creationId xmlns:a16="http://schemas.microsoft.com/office/drawing/2014/main" id="{DBDE570C-B289-4A92-8D45-E4BE93A1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24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24141"/>
                </a:solidFill>
                <a:latin typeface="Arial"/>
                <a:ea typeface="Arial"/>
                <a:cs typeface="Arial"/>
              </a:rPr>
              <a:t>NOT SUPPORTED</a:t>
            </a:r>
          </a:p>
        </p:txBody>
      </p:sp>
      <p:sp>
        <p:nvSpPr>
          <p:cNvPr id="10" name="open">
            <a:extLst xmlns:a="http://schemas.openxmlformats.org/drawingml/2006/main">
              <a:ext uri="{FF2B5EF4-FFF2-40B4-BE49-F238E27FC236}">
                <a16:creationId xmlns:a16="http://schemas.microsoft.com/office/drawing/2014/main" id="{9CF93BC7-E64C-4F1E-BF9A-E13FDE8F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171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- Depth never helps.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- A universal RGB-D null or equivalence claim.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- End-to-end one-count-per-bunch inventory.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- A capacity law from one seed.</a:t>
            </a:r>
          </a:p>
        </p:txBody>
      </p:sp>
      <p:sp>
        <p:nvSpPr>
          <p:cNvPr id="11" name="claim-image-back">
            <a:extLst xmlns:a="http://schemas.openxmlformats.org/drawingml/2006/main">
              <a:ext uri="{FF2B5EF4-FFF2-40B4-BE49-F238E27FC236}">
                <a16:creationId xmlns:a16="http://schemas.microsoft.com/office/drawing/2014/main" id="{0BEE63D7-F878-4946-9AEF-A6947598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52550"/>
            <a:ext cx="68199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3bd21f40d4204"/>
          <a:stretch xmlns:a="http://schemas.openxmlformats.org/drawingml/2006/main"/>
        </p:blipFill>
        <p:spPr>
          <a:xfrm xmlns:a="http://schemas.openxmlformats.org/drawingml/2006/main">
            <a:off x="5031856" y="1800225"/>
            <a:ext cx="6700289" cy="3676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387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DA5E8602-C6F8-48AC-B5C7-96EC0BBB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NEXT / DEPLOYMENT AND G7b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ED3E119-66B5-405A-B85E-D640D008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8953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Use an RGB-first research baseline.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Keep inventory validation open.</a:t>
            </a:r>
          </a:p>
        </p:txBody>
      </p:sp>
      <p:sp>
        <p:nvSpPr>
          <p:cNvPr id="3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210EB3A4-C283-4B41-8989-DEB454B8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ploy1-number">
            <a:extLst xmlns:a="http://schemas.openxmlformats.org/drawingml/2006/main">
              <a:ext uri="{FF2B5EF4-FFF2-40B4-BE49-F238E27FC236}">
                <a16:creationId xmlns:a16="http://schemas.microsoft.com/office/drawing/2014/main" id="{1FD17447-13C4-4D0E-968E-DBABC0ED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ploy1-number-text">
            <a:extLst xmlns:a="http://schemas.openxmlformats.org/drawingml/2006/main">
              <a:ext uri="{FF2B5EF4-FFF2-40B4-BE49-F238E27FC236}">
                <a16:creationId xmlns:a16="http://schemas.microsoft.com/office/drawing/2014/main" id="{388A047A-D670-4A62-9A3F-FD44A006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deploy1-title">
            <a:extLst xmlns:a="http://schemas.openxmlformats.org/drawingml/2006/main">
              <a:ext uri="{FF2B5EF4-FFF2-40B4-BE49-F238E27FC236}">
                <a16:creationId xmlns:a16="http://schemas.microsoft.com/office/drawing/2014/main" id="{38151B66-9CC2-4622-B109-B9DAD042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Deployment boundary</a:t>
            </a:r>
          </a:p>
        </p:txBody>
      </p:sp>
      <p:sp>
        <p:nvSpPr>
          <p:cNvPr id="7" name="deploy1-detail">
            <a:extLst xmlns:a="http://schemas.openxmlformats.org/drawingml/2006/main">
              <a:ext uri="{FF2B5EF4-FFF2-40B4-BE49-F238E27FC236}">
                <a16:creationId xmlns:a16="http://schemas.microsoft.com/office/drawing/2014/main" id="{6A774028-FC5E-497E-9A54-5EB493AD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RF-DETR-L is a research baseline only if 8.5 FPS on L4 is acceptable. Preserve RGB fallback.</a:t>
            </a:r>
          </a:p>
        </p:txBody>
      </p:sp>
      <p:sp>
        <p:nvSpPr>
          <p:cNvPr id="8" name="deploy2-number">
            <a:extLst xmlns:a="http://schemas.openxmlformats.org/drawingml/2006/main">
              <a:ext uri="{FF2B5EF4-FFF2-40B4-BE49-F238E27FC236}">
                <a16:creationId xmlns:a16="http://schemas.microsoft.com/office/drawing/2014/main" id="{FA6C0627-1152-46D4-BBA3-279F9743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ploy2-number-text">
            <a:extLst xmlns:a="http://schemas.openxmlformats.org/drawingml/2006/main">
              <a:ext uri="{FF2B5EF4-FFF2-40B4-BE49-F238E27FC236}">
                <a16:creationId xmlns:a16="http://schemas.microsoft.com/office/drawing/2014/main" id="{18082405-6E6C-460D-9D43-DB14054A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86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deploy2-title">
            <a:extLst xmlns:a="http://schemas.openxmlformats.org/drawingml/2006/main">
              <a:ext uri="{FF2B5EF4-FFF2-40B4-BE49-F238E27FC236}">
                <a16:creationId xmlns:a16="http://schemas.microsoft.com/office/drawing/2014/main" id="{15FA0A7E-CBCB-45CB-8557-8A69B8D9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Priorities beyond depth</a:t>
            </a:r>
          </a:p>
        </p:txBody>
      </p:sp>
      <p:sp>
        <p:nvSpPr>
          <p:cNvPr id="11" name="deploy2-detail">
            <a:extLst xmlns:a="http://schemas.openxmlformats.org/drawingml/2006/main">
              <a:ext uri="{FF2B5EF4-FFF2-40B4-BE49-F238E27FC236}">
                <a16:creationId xmlns:a16="http://schemas.microsoft.com/office/drawing/2014/main" id="{2EB03721-0060-4778-9288-F856F274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Prioritize ordinal maturity, external RGB holdouts, and sensor-aware capture.</a:t>
            </a:r>
          </a:p>
        </p:txBody>
      </p:sp>
      <p:sp>
        <p:nvSpPr>
          <p:cNvPr id="12" name="g7b-panel">
            <a:extLst xmlns:a="http://schemas.openxmlformats.org/drawingml/2006/main">
              <a:ext uri="{FF2B5EF4-FFF2-40B4-BE49-F238E27FC236}">
                <a16:creationId xmlns:a16="http://schemas.microsoft.com/office/drawing/2014/main" id="{122CF92C-F882-405A-AF3C-5B0EFAC9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4552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7b-label">
            <a:extLst xmlns:a="http://schemas.openxmlformats.org/drawingml/2006/main">
              <a:ext uri="{FF2B5EF4-FFF2-40B4-BE49-F238E27FC236}">
                <a16:creationId xmlns:a16="http://schemas.microsoft.com/office/drawing/2014/main" id="{B630DE1F-A372-472A-B1A7-975623B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G7b MUST FREEZE</a:t>
            </a:r>
          </a:p>
        </p:txBody>
      </p:sp>
      <p:sp>
        <p:nvSpPr>
          <p:cNvPr id="14" name="g7b-list">
            <a:extLst xmlns:a="http://schemas.openxmlformats.org/drawingml/2006/main">
              <a:ext uri="{FF2B5EF4-FFF2-40B4-BE49-F238E27FC236}">
                <a16:creationId xmlns:a16="http://schemas.microsoft.com/office/drawing/2014/main" id="{298BECD3-6BFC-4461-8765-AA39273A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38862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YOLO26n/m/l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RGB + registered depth + noise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At least 3 named seeds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Fixed split, evaluator, and tree bootstrap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Per-file depth contract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Predefined monotonicity rule</a:t>
            </a:r>
          </a:p>
        </p:txBody>
      </p:sp>
      <p:sp>
        <p:nvSpPr>
          <p:cNvPr id="15" name="g7b-separate">
            <a:extLst xmlns:a="http://schemas.openxmlformats.org/drawingml/2006/main">
              <a:ext uri="{FF2B5EF4-FFF2-40B4-BE49-F238E27FC236}">
                <a16:creationId xmlns:a16="http://schemas.microsoft.com/office/drawing/2014/main" id="{C26A3C87-9A86-4D74-B7C4-39D97E5E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81700"/>
            <a:ext cx="455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G7b cannot validate one-count-per-bunch by itself.</a:t>
            </a:r>
          </a:p>
        </p:txBody>
      </p:sp>
    </p:spTree>
    <p:extLst>
      <p:ext uri="{BB962C8B-B14F-4D97-AF65-F5344CB8AC3E}">
        <p14:creationId xmlns:p14="http://schemas.microsoft.com/office/powerpoint/2010/main" val="756392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2026-08-03T06:06:44.9620000Z</dcterms:created>
  <dcterms:modified xsi:type="dcterms:W3CDTF">2026-08-03T06:06:44.9620000Z</dcterms:modified>
</coreProperties>
</file>